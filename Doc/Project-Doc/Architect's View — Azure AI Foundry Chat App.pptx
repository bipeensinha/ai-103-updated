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looks at the AI chat assistant through an architect's eyes: three questions that shape every enterprise design, what they mean inside Azure AI Foundry, and how the chat app actually calls GPT-5 and gpt-image-2.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three apart. Adding capacity does not tell you where data may live; a residency rule does not make the system faster; a global standard does not mean one global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we take into the architecture workshop. The AI-specific ones are new for most teams: model availability differs by region and deployment type, so it must be checked before the design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traffic is text. Image requests are a small share but expensive per call, so they get their own deployment, quota and cost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toll plaza: one booth handles 100 vehicles an hour, five handle about 500, but if the highway is blocked, more booths do not help. For an AI app the blocked highway is usually the model quota,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the model by tokens, not users. A long RAG prompt with ten retrieved chunks can be several thousand tokens. Design for 429s from day one: retries with backoff, and a second deployment behind API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card is the one teams forget. A global AI endpoint may process a German customer's complaint outside Germany even if the database is in Frankfurt. That is decided by the deployment type,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top to bottom as a trade: moving down gives tighter control over where inference runs, but usually less quota and later access to new models. Microsoft can add regions to a data zone without notice, which matters for strict country-level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comes up in almost every architecture review. Make the distinction explicit in the design document so a security reviewer does not read "Global Standard" as a compliance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global standard is not one global deployment. India and Europe can each run their own stack from the same modules, policies and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the only component that talks to models. It decides per request: GPT-5 alone, GPT-5 with retrieval, GPT-5 with a tool, or GPT-5 handing off to gpt-image-2. Each model is its own deployment, with its own quota and deployment type, so text and image traffic can be sized and placed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where each of the three concerns appears. Step 4 is where the deployment type matters: a Global Standard deployment may process this prompt outside the user's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"What is SAP?", then "What are the common SAP errors?", then "How do I troubleshoot the second error?". The third question only makes sense with the earlier turns. With Chat Completions our app resends that history every time. With the Responses API we pass previous_response_id and the service links the turns. Two cautions: instructions do not carry forward automatically, so send them on each call; and Responses is not automatically cheaper, because the model still processes prior context. Recommendation: evaluate the Responses API first for the new assistant, since we need multi-turn conversations and tool calling, and settle the six production decisions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pilot the image model is optional. Treat it as its own workload: own deployment, own quota, own cost line, and its own residency check, because new models often arrive as Global deployments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from the inside out. The model is the core: we choose GPT-5 and gpt-image-2 deliberately and evaluate them for each use case. Around it, the safety system (Azure AI Content Safety) applies the guardrails on the right: on the way in it blocks jailbreaks and indirect attacks hidden in retrieved documents, and on the way out it filters harmful content, protected material, ungrounded answers and personal data. The system message and grounding keep the assistant inside its scope and tied to approved sources. The user experience makes the AI visible and lets users report wrong answers. All four layers are designed through the map, measure, mitigate and manage cycle. Based on Microsoft's responsible generative AI guidance, aka.ms/mslearn-responsible-ai.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regions shown for simplicity; production adds the UK and Saudi Arabia, redundancy and DR. Each region chooses the model deployment type its data rules allow. Only approved, non-sensitive metadata flows to the global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residency question first: it decides which family of deployment types is even allowed. Only then use the load profile to choose between Standard, Provisioned and Batch inside that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trade-off. Routing EU overflow to an Indian deployment, or to a Global Standard deployment, would add capacity but could break residency. The answer is to scale inside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concerns, one design. The middle column is what is different about an AI workload: the model deployment carries its own throughput and residency decisions on top of the usual application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section with these three lines. They are the questions to ask of any AI design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The one action out of this session is the data-classification decision per country, because it fixes which deployment types are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33040"/>
          </a:xfrm>
          <a:prstGeom prst="rect">
            <a:avLst/>
          </a:prstGeom>
          <a:noFill/>
          <a:ln/>
        </p:spPr>
        <p:txBody>
          <a:bodyPr wrap="square" lIns="0" tIns="0" rIns="0" bIns="0" rtlCol="0" anchor="t"/>
          <a:lstStyle>
            <a:lvl1pPr algn="l" indent="0" marL="0">
              <a:lnSpc>
                <a:spcPct val="115000"/>
              </a:lnSpc>
              <a:buNone/>
              <a:defRPr lang="en-US" sz="3100" dirty="0">
                <a:solidFill>
                  <a:srgbClr val="1418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865561"/>
            <a:ext cx="10566400" cy="417963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33040"/>
          </a:xfrm>
          <a:prstGeom prst="rect">
            <a:avLst/>
          </a:prstGeom>
          <a:noFill/>
          <a:ln/>
        </p:spPr>
        <p:txBody>
          <a:bodyPr wrap="square" lIns="0" tIns="0" rIns="0" bIns="0" rtlCol="0" anchor="t"/>
          <a:lstStyle>
            <a:lvl1pPr algn="l" indent="0" marL="0">
              <a:lnSpc>
                <a:spcPct val="115000"/>
              </a:lnSpc>
              <a:buNone/>
              <a:defRPr lang="en-US" sz="3100" dirty="0">
                <a:solidFill>
                  <a:srgbClr val="1418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865561"/>
            <a:ext cx="10566400" cy="417963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60000"/>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070"/>
                </a:solidFill>
                <a:latin typeface="JetBrains Mono" pitchFamily="49" charset="0"/>
                <a:ea typeface="JetBrains Mono" pitchFamily="49" charset="-122"/>
                <a:cs typeface="JetBrains Mono" pitchFamily="49" charset="-120"/>
              </a:rPr>
              <a:t>ARCHITECTURE REVIEW · AZURE AI FOUNDRY</a:t>
            </a:r>
            <a:endParaRPr lang="en-US" sz="1400" dirty="0"/>
          </a:p>
        </p:txBody>
      </p:sp>
      <p:sp>
        <p:nvSpPr>
          <p:cNvPr id="4" name="Text 2"/>
          <p:cNvSpPr/>
          <p:nvPr>
            <p:ph type="title"/>
          </p:nvPr>
        </p:nvSpPr>
        <p:spPr>
          <a:xfrm>
            <a:off x="812800" y="1315641"/>
            <a:ext cx="10203180" cy="200034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4F2EE"/>
                </a:solidFill>
                <a:latin typeface="IBM Plex Sans" pitchFamily="34" charset="0"/>
                <a:ea typeface="IBM Plex Sans" pitchFamily="34" charset="-122"/>
                <a:cs typeface="IBM Plex Sans" pitchFamily="34" charset="-120"/>
              </a:rPr>
              <a:t>Throughput, data residency and global standards for an enterprise AI chat app</a:t>
            </a:r>
            <a:endParaRPr lang="en-US" sz="4800" dirty="0"/>
          </a:p>
        </p:txBody>
      </p:sp>
      <p:sp>
        <p:nvSpPr>
          <p:cNvPr id="5" name="Text 3"/>
          <p:cNvSpPr/>
          <p:nvPr/>
        </p:nvSpPr>
        <p:spPr>
          <a:xfrm>
            <a:off x="812800" y="3544590"/>
            <a:ext cx="91567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8C0CA"/>
                </a:solidFill>
                <a:latin typeface="IBM Plex Sans" pitchFamily="34" charset="0"/>
                <a:ea typeface="IBM Plex Sans" pitchFamily="34" charset="-122"/>
                <a:cs typeface="IBM Plex Sans" pitchFamily="34" charset="-120"/>
              </a:rPr>
              <a:t>How the Vodafone–VOIS assistant uses GPT-5 and gpt-image-2, and how an architect decides where each model runs</a:t>
            </a:r>
            <a:endParaRPr lang="en-US" sz="1800" dirty="0"/>
          </a:p>
        </p:txBody>
      </p:sp>
      <p:sp>
        <p:nvSpPr>
          <p:cNvPr id="6" name="Shape 4"/>
          <p:cNvSpPr/>
          <p:nvPr/>
        </p:nvSpPr>
        <p:spPr>
          <a:xfrm>
            <a:off x="812800" y="5518150"/>
            <a:ext cx="10566400" cy="0"/>
          </a:xfrm>
          <a:prstGeom prst="line">
            <a:avLst/>
          </a:prstGeom>
          <a:noFill/>
          <a:ln w="12700">
            <a:solidFill>
              <a:srgbClr val="3A414B"/>
            </a:solidFill>
            <a:prstDash val="solid"/>
          </a:ln>
        </p:spPr>
      </p:sp>
      <p:sp>
        <p:nvSpPr>
          <p:cNvPr id="7" name="Text 5"/>
          <p:cNvSpPr/>
          <p:nvPr/>
        </p:nvSpPr>
        <p:spPr>
          <a:xfrm>
            <a:off x="812800" y="5778500"/>
            <a:ext cx="28817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2EE"/>
                </a:solidFill>
                <a:latin typeface="IBM Plex Sans" pitchFamily="34" charset="0"/>
                <a:ea typeface="IBM Plex Sans" pitchFamily="34" charset="-122"/>
                <a:cs typeface="IBM Plex Sans" pitchFamily="34" charset="-120"/>
              </a:rPr>
              <a:t>Bipeen Sinha · Shruti Sinha</a:t>
            </a:r>
            <a:endParaRPr lang="en-US" sz="1500" dirty="0"/>
          </a:p>
        </p:txBody>
      </p:sp>
      <p:sp>
        <p:nvSpPr>
          <p:cNvPr id="8" name="Text 6"/>
          <p:cNvSpPr/>
          <p:nvPr/>
        </p:nvSpPr>
        <p:spPr>
          <a:xfrm>
            <a:off x="7099618" y="5796359"/>
            <a:ext cx="4279583"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8C0CA"/>
                </a:solidFill>
                <a:latin typeface="IBM Plex Sans" pitchFamily="34" charset="0"/>
                <a:ea typeface="IBM Plex Sans" pitchFamily="34" charset="-122"/>
                <a:cs typeface="IBM Plex Sans" pitchFamily="34" charset="-120"/>
              </a:rPr>
              <a:t>Solution architecture session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01 · THE ARCHITECT'S THREE QUESTIONS</a:t>
            </a:r>
            <a:endParaRPr lang="en-US" sz="1200" dirty="0"/>
          </a:p>
        </p:txBody>
      </p:sp>
      <p:sp>
        <p:nvSpPr>
          <p:cNvPr id="3" name="Text 1"/>
          <p:cNvSpPr/>
          <p:nvPr>
            <p:ph type="title"/>
          </p:nvPr>
        </p:nvSpPr>
        <p:spPr>
          <a:xfrm>
            <a:off x="812800" y="1127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Three separate concerns, and solving one does not solve the others</a:t>
            </a:r>
            <a:endParaRPr lang="en-US" sz="3200" dirty="0"/>
          </a:p>
        </p:txBody>
      </p:sp>
      <p:sp>
        <p:nvSpPr>
          <p:cNvPr id="4" name="Shape 2"/>
          <p:cNvSpPr/>
          <p:nvPr/>
        </p:nvSpPr>
        <p:spPr>
          <a:xfrm>
            <a:off x="815975" y="2380456"/>
            <a:ext cx="3380284" cy="3458369"/>
          </a:xfrm>
          <a:prstGeom prst="roundRect">
            <a:avLst>
              <a:gd name="adj" fmla="val 2912"/>
            </a:avLst>
          </a:prstGeom>
          <a:solidFill>
            <a:srgbClr val="FBFAF7"/>
          </a:solidFill>
          <a:ln w="6350">
            <a:solidFill>
              <a:srgbClr val="DCD8D0"/>
            </a:solidFill>
            <a:prstDash val="solid"/>
          </a:ln>
        </p:spPr>
      </p:sp>
      <p:pic>
        <p:nvPicPr>
          <p:cNvPr id="5" name="Image 0" descr="Lightning">    </p:cNvPr>
          <p:cNvPicPr>
            <a:picLocks noChangeAspect="1"/>
          </p:cNvPicPr>
          <p:nvPr/>
        </p:nvPicPr>
        <p:blipFill>
          <a:blip r:embed="rId1"/>
          <a:srcRect l="0" r="0" t="0" b="0"/>
          <a:stretch/>
        </p:blipFill>
        <p:spPr>
          <a:xfrm>
            <a:off x="1098550" y="2663031"/>
            <a:ext cx="406400" cy="406400"/>
          </a:xfrm>
          <a:prstGeom prst="rect">
            <a:avLst/>
          </a:prstGeom>
        </p:spPr>
      </p:pic>
      <p:sp>
        <p:nvSpPr>
          <p:cNvPr id="6" name="Text 3"/>
          <p:cNvSpPr/>
          <p:nvPr/>
        </p:nvSpPr>
        <p:spPr>
          <a:xfrm>
            <a:off x="1098550" y="3196431"/>
            <a:ext cx="289958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IBM Plex Sans" pitchFamily="34" charset="0"/>
                <a:ea typeface="IBM Plex Sans" pitchFamily="34" charset="-122"/>
                <a:cs typeface="IBM Plex Sans" pitchFamily="34" charset="-120"/>
              </a:rPr>
              <a:t>Throughput</a:t>
            </a:r>
            <a:endParaRPr lang="en-US" sz="2200" dirty="0"/>
          </a:p>
        </p:txBody>
      </p:sp>
      <p:sp>
        <p:nvSpPr>
          <p:cNvPr id="7" name="Text 4"/>
          <p:cNvSpPr/>
          <p:nvPr/>
        </p:nvSpPr>
        <p:spPr>
          <a:xfrm>
            <a:off x="1098550" y="3658691"/>
            <a:ext cx="28995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00000"/>
                </a:solidFill>
                <a:latin typeface="JetBrains Mono" pitchFamily="49" charset="0"/>
                <a:ea typeface="JetBrains Mono" pitchFamily="49" charset="-122"/>
                <a:cs typeface="JetBrains Mono" pitchFamily="49" charset="-120"/>
              </a:rPr>
              <a:t>= capacity</a:t>
            </a:r>
            <a:endParaRPr lang="en-US" sz="1300" dirty="0"/>
          </a:p>
        </p:txBody>
      </p:sp>
      <p:sp>
        <p:nvSpPr>
          <p:cNvPr id="8" name="Text 5"/>
          <p:cNvSpPr/>
          <p:nvPr/>
        </p:nvSpPr>
        <p:spPr>
          <a:xfrm>
            <a:off x="1098550" y="4016772"/>
            <a:ext cx="289958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24C"/>
                </a:solidFill>
                <a:latin typeface="IBM Plex Sans" pitchFamily="34" charset="0"/>
                <a:ea typeface="IBM Plex Sans" pitchFamily="34" charset="-122"/>
                <a:cs typeface="IBM Plex Sans" pitchFamily="34" charset="-120"/>
              </a:rPr>
              <a:t>How much work can the system process? Requests per second, tokens per minute.</a:t>
            </a:r>
            <a:endParaRPr lang="en-US" sz="1500" dirty="0"/>
          </a:p>
        </p:txBody>
      </p:sp>
      <p:sp>
        <p:nvSpPr>
          <p:cNvPr id="9" name="Shape 6"/>
          <p:cNvSpPr/>
          <p:nvPr/>
        </p:nvSpPr>
        <p:spPr>
          <a:xfrm>
            <a:off x="4405809" y="2380456"/>
            <a:ext cx="3380383" cy="3458369"/>
          </a:xfrm>
          <a:prstGeom prst="roundRect">
            <a:avLst>
              <a:gd name="adj" fmla="val 2912"/>
            </a:avLst>
          </a:prstGeom>
          <a:solidFill>
            <a:srgbClr val="FBFAF7"/>
          </a:solidFill>
          <a:ln w="6350">
            <a:solidFill>
              <a:srgbClr val="DCD8D0"/>
            </a:solidFill>
            <a:prstDash val="solid"/>
          </a:ln>
        </p:spPr>
      </p:sp>
      <p:pic>
        <p:nvPicPr>
          <p:cNvPr id="10" name="Image 1" descr="Lock">    </p:cNvPr>
          <p:cNvPicPr>
            <a:picLocks noChangeAspect="1"/>
          </p:cNvPicPr>
          <p:nvPr/>
        </p:nvPicPr>
        <p:blipFill>
          <a:blip r:embed="rId2"/>
          <a:srcRect l="0" r="0" t="0" b="0"/>
          <a:stretch/>
        </p:blipFill>
        <p:spPr>
          <a:xfrm>
            <a:off x="4688384" y="2663031"/>
            <a:ext cx="406400" cy="406400"/>
          </a:xfrm>
          <a:prstGeom prst="rect">
            <a:avLst/>
          </a:prstGeom>
        </p:spPr>
      </p:pic>
      <p:sp>
        <p:nvSpPr>
          <p:cNvPr id="11" name="Text 7"/>
          <p:cNvSpPr/>
          <p:nvPr/>
        </p:nvSpPr>
        <p:spPr>
          <a:xfrm>
            <a:off x="4688384" y="3196431"/>
            <a:ext cx="289969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IBM Plex Sans" pitchFamily="34" charset="0"/>
                <a:ea typeface="IBM Plex Sans" pitchFamily="34" charset="-122"/>
                <a:cs typeface="IBM Plex Sans" pitchFamily="34" charset="-120"/>
              </a:rPr>
              <a:t>Data residency</a:t>
            </a:r>
            <a:endParaRPr lang="en-US" sz="2200" dirty="0"/>
          </a:p>
        </p:txBody>
      </p:sp>
      <p:sp>
        <p:nvSpPr>
          <p:cNvPr id="12" name="Text 8"/>
          <p:cNvSpPr/>
          <p:nvPr/>
        </p:nvSpPr>
        <p:spPr>
          <a:xfrm>
            <a:off x="4688384" y="3658691"/>
            <a:ext cx="289969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697B"/>
                </a:solidFill>
                <a:latin typeface="JetBrains Mono" pitchFamily="49" charset="0"/>
                <a:ea typeface="JetBrains Mono" pitchFamily="49" charset="-122"/>
                <a:cs typeface="JetBrains Mono" pitchFamily="49" charset="-120"/>
              </a:rPr>
              <a:t>= location</a:t>
            </a:r>
            <a:endParaRPr lang="en-US" sz="1300" dirty="0"/>
          </a:p>
        </p:txBody>
      </p:sp>
      <p:sp>
        <p:nvSpPr>
          <p:cNvPr id="13" name="Text 9"/>
          <p:cNvSpPr/>
          <p:nvPr/>
        </p:nvSpPr>
        <p:spPr>
          <a:xfrm>
            <a:off x="4688384" y="4016772"/>
            <a:ext cx="289969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24C"/>
                </a:solidFill>
                <a:latin typeface="IBM Plex Sans" pitchFamily="34" charset="0"/>
                <a:ea typeface="IBM Plex Sans" pitchFamily="34" charset="-122"/>
                <a:cs typeface="IBM Plex Sans" pitchFamily="34" charset="-120"/>
              </a:rPr>
              <a:t>Where may data be stored, processed, backed up and transferred?</a:t>
            </a:r>
            <a:endParaRPr lang="en-US" sz="1500" dirty="0"/>
          </a:p>
        </p:txBody>
      </p:sp>
      <p:sp>
        <p:nvSpPr>
          <p:cNvPr id="14" name="Shape 10"/>
          <p:cNvSpPr/>
          <p:nvPr/>
        </p:nvSpPr>
        <p:spPr>
          <a:xfrm>
            <a:off x="7995741" y="2380456"/>
            <a:ext cx="3380284" cy="3458369"/>
          </a:xfrm>
          <a:prstGeom prst="roundRect">
            <a:avLst>
              <a:gd name="adj" fmla="val 2912"/>
            </a:avLst>
          </a:prstGeom>
          <a:solidFill>
            <a:srgbClr val="FBFAF7"/>
          </a:solidFill>
          <a:ln w="6350">
            <a:solidFill>
              <a:srgbClr val="DCD8D0"/>
            </a:solidFill>
            <a:prstDash val="solid"/>
          </a:ln>
        </p:spPr>
      </p:sp>
      <p:pic>
        <p:nvPicPr>
          <p:cNvPr id="15" name="Image 2" descr="Globe">    </p:cNvPr>
          <p:cNvPicPr>
            <a:picLocks noChangeAspect="1"/>
          </p:cNvPicPr>
          <p:nvPr/>
        </p:nvPicPr>
        <p:blipFill>
          <a:blip r:embed="rId3"/>
          <a:srcRect l="0" r="0" t="0" b="0"/>
          <a:stretch/>
        </p:blipFill>
        <p:spPr>
          <a:xfrm>
            <a:off x="8278316" y="2663031"/>
            <a:ext cx="406400" cy="406400"/>
          </a:xfrm>
          <a:prstGeom prst="rect">
            <a:avLst/>
          </a:prstGeom>
        </p:spPr>
      </p:pic>
      <p:sp>
        <p:nvSpPr>
          <p:cNvPr id="16" name="Text 11"/>
          <p:cNvSpPr/>
          <p:nvPr/>
        </p:nvSpPr>
        <p:spPr>
          <a:xfrm>
            <a:off x="8278316" y="3196431"/>
            <a:ext cx="289958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IBM Plex Sans" pitchFamily="34" charset="0"/>
                <a:ea typeface="IBM Plex Sans" pitchFamily="34" charset="-122"/>
                <a:cs typeface="IBM Plex Sans" pitchFamily="34" charset="-120"/>
              </a:rPr>
              <a:t>Global standard</a:t>
            </a:r>
            <a:endParaRPr lang="en-US" sz="2200" dirty="0"/>
          </a:p>
        </p:txBody>
      </p:sp>
      <p:sp>
        <p:nvSpPr>
          <p:cNvPr id="17" name="Text 12"/>
          <p:cNvSpPr/>
          <p:nvPr/>
        </p:nvSpPr>
        <p:spPr>
          <a:xfrm>
            <a:off x="8278316" y="3658691"/>
            <a:ext cx="28995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JetBrains Mono" pitchFamily="49" charset="0"/>
                <a:ea typeface="JetBrains Mono" pitchFamily="49" charset="-122"/>
                <a:cs typeface="JetBrains Mono" pitchFamily="49" charset="-120"/>
              </a:rPr>
              <a:t>= consistency</a:t>
            </a:r>
            <a:endParaRPr lang="en-US" sz="1300" dirty="0"/>
          </a:p>
        </p:txBody>
      </p:sp>
      <p:sp>
        <p:nvSpPr>
          <p:cNvPr id="18" name="Text 13"/>
          <p:cNvSpPr/>
          <p:nvPr/>
        </p:nvSpPr>
        <p:spPr>
          <a:xfrm>
            <a:off x="8278316" y="4016772"/>
            <a:ext cx="289958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24C"/>
                </a:solidFill>
                <a:latin typeface="IBM Plex Sans" pitchFamily="34" charset="0"/>
                <a:ea typeface="IBM Plex Sans" pitchFamily="34" charset="-122"/>
                <a:cs typeface="IBM Plex Sans" pitchFamily="34" charset="-120"/>
              </a:rPr>
              <a:t>Which common architecture, security and operations rules must every region follow?</a:t>
            </a:r>
            <a:endParaRPr lang="en-US" sz="1500" dirty="0"/>
          </a:p>
        </p:txBody>
      </p:sp>
      <p:sp>
        <p:nvSpPr>
          <p:cNvPr id="19"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Scenario: one AI assistant serving Vodafone users in India, the UK, Germany and Saudi Arabia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01 · THE ARCHITECT'S THREE QUESTIONS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Questions to ask before you deploy a model</a:t>
            </a:r>
            <a:endParaRPr lang="en-US" sz="3200" dirty="0"/>
          </a:p>
        </p:txBody>
      </p:sp>
      <p:sp>
        <p:nvSpPr>
          <p:cNvPr id="4" name="Shape 2"/>
          <p:cNvSpPr/>
          <p:nvPr/>
        </p:nvSpPr>
        <p:spPr>
          <a:xfrm>
            <a:off x="812800" y="1828701"/>
            <a:ext cx="5207000" cy="1564580"/>
          </a:xfrm>
          <a:prstGeom prst="roundRect">
            <a:avLst>
              <a:gd name="adj" fmla="val 4870"/>
            </a:avLst>
          </a:prstGeom>
          <a:solidFill>
            <a:srgbClr val="FBFAF7"/>
          </a:solidFill>
          <a:ln/>
        </p:spPr>
      </p:sp>
      <p:sp>
        <p:nvSpPr>
          <p:cNvPr id="5" name="Shape 3"/>
          <p:cNvSpPr/>
          <p:nvPr/>
        </p:nvSpPr>
        <p:spPr>
          <a:xfrm>
            <a:off x="812800" y="1828701"/>
            <a:ext cx="5207000" cy="1564580"/>
          </a:xfrm>
          <a:custGeom>
            <a:avLst/>
            <a:gdLst/>
            <a:ahLst/>
            <a:cxnLst/>
            <a:rect l="l" t="t" r="r" b="b"/>
            <a:pathLst>
              <a:path w="5207000" h="1564580">
                <a:moveTo>
                  <a:pt x="76200" y="1564580"/>
                </a:moveTo>
                <a:lnTo>
                  <a:pt x="76200" y="1564580"/>
                </a:lnTo>
                <a:arcTo hR="76200" wR="76200" stAng="5400000" swAng="5400000"/>
                <a:lnTo>
                  <a:pt x="0" y="76200"/>
                </a:lnTo>
                <a:arcTo hR="76200" wR="76200" stAng="10800000" swAng="5400000"/>
                <a:lnTo>
                  <a:pt x="76200" y="0"/>
                </a:lnTo>
                <a:arcTo hR="76200" wR="25400" stAng="16200000" swAng="-5400000"/>
                <a:lnTo>
                  <a:pt x="50800" y="1488380"/>
                </a:lnTo>
                <a:arcTo hR="76200" wR="25400" stAng="10800000" swAng="-5400000"/>
                <a:close/>
              </a:path>
            </a:pathLst>
          </a:custGeom>
          <a:solidFill>
            <a:srgbClr val="E60000"/>
          </a:solidFill>
          <a:ln/>
        </p:spPr>
      </p:sp>
      <p:sp>
        <p:nvSpPr>
          <p:cNvPr id="6" name="Text 4"/>
          <p:cNvSpPr/>
          <p:nvPr/>
        </p:nvSpPr>
        <p:spPr>
          <a:xfrm>
            <a:off x="1066800" y="2006501"/>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Throughput</a:t>
            </a:r>
            <a:endParaRPr lang="en-US" sz="1600" dirty="0"/>
          </a:p>
        </p:txBody>
      </p:sp>
      <p:sp>
        <p:nvSpPr>
          <p:cNvPr id="7" name="Text 5"/>
          <p:cNvSpPr/>
          <p:nvPr/>
        </p:nvSpPr>
        <p:spPr>
          <a:xfrm>
            <a:off x="1158875" y="2326481"/>
            <a:ext cx="4792599" cy="914400"/>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Peak concurrent users and requests per second?</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Tokens per request, and tokens per minute at peak?</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Latency target per answer (P95)?</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Steady load (reserve capacity) or bursty (pay per token)?</a:t>
            </a:r>
            <a:endParaRPr lang="en-US" sz="1250" dirty="0"/>
          </a:p>
        </p:txBody>
      </p:sp>
      <p:sp>
        <p:nvSpPr>
          <p:cNvPr id="8" name="Shape 6"/>
          <p:cNvSpPr/>
          <p:nvPr/>
        </p:nvSpPr>
        <p:spPr>
          <a:xfrm>
            <a:off x="6172200" y="1828701"/>
            <a:ext cx="5207000" cy="1564580"/>
          </a:xfrm>
          <a:prstGeom prst="roundRect">
            <a:avLst>
              <a:gd name="adj" fmla="val 4870"/>
            </a:avLst>
          </a:prstGeom>
          <a:solidFill>
            <a:srgbClr val="FBFAF7"/>
          </a:solidFill>
          <a:ln/>
        </p:spPr>
      </p:sp>
      <p:sp>
        <p:nvSpPr>
          <p:cNvPr id="9" name="Shape 7"/>
          <p:cNvSpPr/>
          <p:nvPr/>
        </p:nvSpPr>
        <p:spPr>
          <a:xfrm>
            <a:off x="6172200" y="1828701"/>
            <a:ext cx="5207000" cy="1564580"/>
          </a:xfrm>
          <a:custGeom>
            <a:avLst/>
            <a:gdLst/>
            <a:ahLst/>
            <a:cxnLst/>
            <a:rect l="l" t="t" r="r" b="b"/>
            <a:pathLst>
              <a:path w="5207000" h="1564580">
                <a:moveTo>
                  <a:pt x="76200" y="1564580"/>
                </a:moveTo>
                <a:lnTo>
                  <a:pt x="76200" y="1564580"/>
                </a:lnTo>
                <a:arcTo hR="76200" wR="76200" stAng="5400000" swAng="5400000"/>
                <a:lnTo>
                  <a:pt x="0" y="76200"/>
                </a:lnTo>
                <a:arcTo hR="76200" wR="76200" stAng="10800000" swAng="5400000"/>
                <a:lnTo>
                  <a:pt x="76200" y="0"/>
                </a:lnTo>
                <a:arcTo hR="76200" wR="25400" stAng="16200000" swAng="-5400000"/>
                <a:lnTo>
                  <a:pt x="50800" y="1488380"/>
                </a:lnTo>
                <a:arcTo hR="76200" wR="25400" stAng="10800000" swAng="-5400000"/>
                <a:close/>
              </a:path>
            </a:pathLst>
          </a:custGeom>
          <a:solidFill>
            <a:srgbClr val="00697B"/>
          </a:solidFill>
          <a:ln/>
        </p:spPr>
      </p:sp>
      <p:sp>
        <p:nvSpPr>
          <p:cNvPr id="10" name="Text 8"/>
          <p:cNvSpPr/>
          <p:nvPr/>
        </p:nvSpPr>
        <p:spPr>
          <a:xfrm>
            <a:off x="6426200" y="2006501"/>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Data residency</a:t>
            </a:r>
            <a:endParaRPr lang="en-US" sz="1600" dirty="0"/>
          </a:p>
        </p:txBody>
      </p:sp>
      <p:sp>
        <p:nvSpPr>
          <p:cNvPr id="11" name="Text 9"/>
          <p:cNvSpPr/>
          <p:nvPr/>
        </p:nvSpPr>
        <p:spPr>
          <a:xfrm>
            <a:off x="6518275" y="2326481"/>
            <a:ext cx="4792599" cy="914400"/>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Where must prompts and answers be processed?</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Where are logs, chat history and images stored?</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Can backups or DR copies cross a border?</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Can admins in another country see the data?</a:t>
            </a:r>
            <a:endParaRPr lang="en-US" sz="1250" dirty="0"/>
          </a:p>
        </p:txBody>
      </p:sp>
      <p:sp>
        <p:nvSpPr>
          <p:cNvPr id="12" name="Shape 10"/>
          <p:cNvSpPr/>
          <p:nvPr/>
        </p:nvSpPr>
        <p:spPr>
          <a:xfrm>
            <a:off x="812800" y="3545681"/>
            <a:ext cx="5207000" cy="1564580"/>
          </a:xfrm>
          <a:prstGeom prst="roundRect">
            <a:avLst>
              <a:gd name="adj" fmla="val 4870"/>
            </a:avLst>
          </a:prstGeom>
          <a:solidFill>
            <a:srgbClr val="FBFAF7"/>
          </a:solidFill>
          <a:ln/>
        </p:spPr>
      </p:sp>
      <p:sp>
        <p:nvSpPr>
          <p:cNvPr id="13" name="Shape 11"/>
          <p:cNvSpPr/>
          <p:nvPr/>
        </p:nvSpPr>
        <p:spPr>
          <a:xfrm>
            <a:off x="812800" y="3545681"/>
            <a:ext cx="5207000" cy="1564580"/>
          </a:xfrm>
          <a:custGeom>
            <a:avLst/>
            <a:gdLst/>
            <a:ahLst/>
            <a:cxnLst/>
            <a:rect l="l" t="t" r="r" b="b"/>
            <a:pathLst>
              <a:path w="5207000" h="1564580">
                <a:moveTo>
                  <a:pt x="76200" y="1564580"/>
                </a:moveTo>
                <a:lnTo>
                  <a:pt x="76200" y="1564580"/>
                </a:lnTo>
                <a:arcTo hR="76200" wR="76200" stAng="5400000" swAng="5400000"/>
                <a:lnTo>
                  <a:pt x="0" y="76200"/>
                </a:lnTo>
                <a:arcTo hR="76200" wR="76200" stAng="10800000" swAng="5400000"/>
                <a:lnTo>
                  <a:pt x="76200" y="0"/>
                </a:lnTo>
                <a:arcTo hR="76200" wR="25400" stAng="16200000" swAng="-5400000"/>
                <a:lnTo>
                  <a:pt x="50800" y="1488380"/>
                </a:lnTo>
                <a:arcTo hR="76200" wR="25400" stAng="10800000" swAng="-5400000"/>
                <a:close/>
              </a:path>
            </a:pathLst>
          </a:custGeom>
          <a:solidFill>
            <a:srgbClr val="4A5260"/>
          </a:solidFill>
          <a:ln/>
        </p:spPr>
      </p:sp>
      <p:sp>
        <p:nvSpPr>
          <p:cNvPr id="14" name="Text 12"/>
          <p:cNvSpPr/>
          <p:nvPr/>
        </p:nvSpPr>
        <p:spPr>
          <a:xfrm>
            <a:off x="1066800" y="3723481"/>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Global standard</a:t>
            </a:r>
            <a:endParaRPr lang="en-US" sz="1600" dirty="0"/>
          </a:p>
        </p:txBody>
      </p:sp>
      <p:sp>
        <p:nvSpPr>
          <p:cNvPr id="15" name="Text 13"/>
          <p:cNvSpPr/>
          <p:nvPr/>
        </p:nvSpPr>
        <p:spPr>
          <a:xfrm>
            <a:off x="1158875" y="4043462"/>
            <a:ext cx="4792599" cy="914400"/>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Which identity, network and encryption rules apply everywhere?</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Same IaC modules and CI/CD in every region?</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Where are local differences allowed, and who approves?</a:t>
            </a:r>
            <a:endParaRPr lang="en-US" sz="1250" dirty="0"/>
          </a:p>
        </p:txBody>
      </p:sp>
      <p:sp>
        <p:nvSpPr>
          <p:cNvPr id="16" name="Shape 14"/>
          <p:cNvSpPr/>
          <p:nvPr/>
        </p:nvSpPr>
        <p:spPr>
          <a:xfrm>
            <a:off x="6172200" y="3545681"/>
            <a:ext cx="5207000" cy="1564580"/>
          </a:xfrm>
          <a:prstGeom prst="roundRect">
            <a:avLst>
              <a:gd name="adj" fmla="val 4870"/>
            </a:avLst>
          </a:prstGeom>
          <a:solidFill>
            <a:srgbClr val="FBFAF7"/>
          </a:solidFill>
          <a:ln/>
        </p:spPr>
      </p:sp>
      <p:sp>
        <p:nvSpPr>
          <p:cNvPr id="17" name="Shape 15"/>
          <p:cNvSpPr/>
          <p:nvPr/>
        </p:nvSpPr>
        <p:spPr>
          <a:xfrm>
            <a:off x="6172200" y="3545681"/>
            <a:ext cx="5207000" cy="1564580"/>
          </a:xfrm>
          <a:custGeom>
            <a:avLst/>
            <a:gdLst/>
            <a:ahLst/>
            <a:cxnLst/>
            <a:rect l="l" t="t" r="r" b="b"/>
            <a:pathLst>
              <a:path w="5207000" h="1564580">
                <a:moveTo>
                  <a:pt x="76200" y="1564580"/>
                </a:moveTo>
                <a:lnTo>
                  <a:pt x="76200" y="1564580"/>
                </a:lnTo>
                <a:arcTo hR="76200" wR="76200" stAng="5400000" swAng="5400000"/>
                <a:lnTo>
                  <a:pt x="0" y="76200"/>
                </a:lnTo>
                <a:arcTo hR="76200" wR="76200" stAng="10800000" swAng="5400000"/>
                <a:lnTo>
                  <a:pt x="76200" y="0"/>
                </a:lnTo>
                <a:arcTo hR="76200" wR="25400" stAng="16200000" swAng="-5400000"/>
                <a:lnTo>
                  <a:pt x="50800" y="1488380"/>
                </a:lnTo>
                <a:arcTo hR="76200" wR="25400" stAng="10800000" swAng="-5400000"/>
                <a:close/>
              </a:path>
            </a:pathLst>
          </a:custGeom>
          <a:solidFill>
            <a:srgbClr val="9A5205"/>
          </a:solidFill>
          <a:ln/>
        </p:spPr>
      </p:sp>
      <p:sp>
        <p:nvSpPr>
          <p:cNvPr id="18" name="Text 16"/>
          <p:cNvSpPr/>
          <p:nvPr/>
        </p:nvSpPr>
        <p:spPr>
          <a:xfrm>
            <a:off x="6426200" y="3723481"/>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AI-specific</a:t>
            </a:r>
            <a:endParaRPr lang="en-US" sz="1600" dirty="0"/>
          </a:p>
        </p:txBody>
      </p:sp>
      <p:sp>
        <p:nvSpPr>
          <p:cNvPr id="19" name="Text 17"/>
          <p:cNvSpPr/>
          <p:nvPr/>
        </p:nvSpPr>
        <p:spPr>
          <a:xfrm>
            <a:off x="6518275" y="4043462"/>
            <a:ext cx="4792599" cy="692150"/>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Is the model available in the region we need?</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Which deployment type: Global, Data Zone or regional?</a:t>
            </a:r>
            <a:endParaRPr lang="en-US" sz="1250" dirty="0"/>
          </a:p>
          <a:p>
            <a:pPr algn="l" marL="161925" indent="-161925">
              <a:lnSpc>
                <a:spcPts val="1750"/>
              </a:lnSpc>
              <a:buSzPct val="100000"/>
              <a:buChar char="•"/>
            </a:pPr>
            <a:r>
              <a:rPr lang="en-US" sz="1250" dirty="0">
                <a:solidFill>
                  <a:srgbClr val="3B424C"/>
                </a:solidFill>
                <a:latin typeface="IBM Plex Sans" pitchFamily="34" charset="0"/>
                <a:ea typeface="IBM Plex Sans" pitchFamily="34" charset="-122"/>
                <a:cs typeface="IBM Plex Sans" pitchFamily="34" charset="-120"/>
              </a:rPr>
              <a:t>What happens on a 429 (quota exceeded)?</a:t>
            </a:r>
            <a:endParaRPr lang="en-US" sz="125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Answer these in discovery; they decide the deployment type, the region and the cost model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01 · WHAT USERS ASK THE CHAT APP</a:t>
            </a:r>
            <a:endParaRPr lang="en-US" sz="1200" dirty="0"/>
          </a:p>
        </p:txBody>
      </p:sp>
      <p:sp>
        <p:nvSpPr>
          <p:cNvPr id="3" name="Text 1"/>
          <p:cNvSpPr/>
          <p:nvPr>
            <p:ph type="title"/>
          </p:nvPr>
        </p:nvSpPr>
        <p:spPr>
          <a:xfrm>
            <a:off x="812800" y="1127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Five types of question, routed to the right model and tool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88381"/>
          <a:ext cx="10553700" cy="2617788"/>
        </p:xfrm>
        <a:graphic>
          <a:graphicData uri="http://schemas.openxmlformats.org/drawingml/2006/table">
            <a:tbl>
              <a:tblPr/>
              <a:tblGrid>
                <a:gridCol w="2532888"/>
                <a:gridCol w="3799332"/>
                <a:gridCol w="2321814"/>
                <a:gridCol w="1899666"/>
              </a:tblGrid>
              <a:tr h="359271">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Question 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Handled by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Output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r>
              <a:tr h="359271">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Knowledge lookup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"How do I re-run a failed SAP regression suite?"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GPT-5 + Foundry IQ search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Answer with citations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Live 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"Is the Oracle test instance up right now?"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GPT-5 + MCP read-only tool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Status summary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r>
              <a:tr h="590352">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Analysis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"Why did test case QA-2147 fail last night?"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GPT-5 + logs + docs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Explanation and next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Visual generation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"Draw the order-to-cash flow as a diagram"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GPT-5 → gpt-image-2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Generated image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1EEE8"/>
                    </a:solidFill>
                  </a:tcPr>
                </a:tc>
              </a:tr>
              <a:tr h="590352">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Visual edit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"Annotate this screenshot to show the error field"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gpt-image-2 (edit)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Edited image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GPT-5 classifies every request first; only visual requests reach the image model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02 · THROUGHPUT = CAPACITY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More toll booths help, until the road itself is blocked</a:t>
            </a:r>
            <a:endParaRPr lang="en-US" sz="3200" dirty="0"/>
          </a:p>
        </p:txBody>
      </p:sp>
      <p:sp>
        <p:nvSpPr>
          <p:cNvPr id="4" name="Shape 2"/>
          <p:cNvSpPr/>
          <p:nvPr/>
        </p:nvSpPr>
        <p:spPr>
          <a:xfrm>
            <a:off x="815975" y="1882676"/>
            <a:ext cx="6054130" cy="3956149"/>
          </a:xfrm>
          <a:prstGeom prst="roundRect">
            <a:avLst>
              <a:gd name="adj" fmla="val 2488"/>
            </a:avLst>
          </a:prstGeom>
          <a:solidFill>
            <a:srgbClr val="FBFAF7"/>
          </a:solidFill>
          <a:ln w="6350">
            <a:solidFill>
              <a:srgbClr val="DCD8D0"/>
            </a:solidFill>
            <a:prstDash val="solid"/>
          </a:ln>
        </p:spPr>
      </p:sp>
      <p:sp>
        <p:nvSpPr>
          <p:cNvPr id="5" name="Text 3"/>
          <p:cNvSpPr/>
          <p:nvPr/>
        </p:nvSpPr>
        <p:spPr>
          <a:xfrm>
            <a:off x="1073150" y="2139851"/>
            <a:ext cx="57059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Scaling app instances (illustrative)</a:t>
            </a:r>
            <a:endParaRPr lang="en-US" sz="1600" dirty="0"/>
          </a:p>
        </p:txBody>
      </p:sp>
      <p:sp>
        <p:nvSpPr>
          <p:cNvPr id="6" name="Text 4"/>
          <p:cNvSpPr/>
          <p:nvPr/>
        </p:nvSpPr>
        <p:spPr>
          <a:xfrm>
            <a:off x="1073150" y="2623641"/>
            <a:ext cx="1193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24C"/>
                </a:solidFill>
                <a:latin typeface="IBM Plex Sans" pitchFamily="34" charset="0"/>
                <a:ea typeface="IBM Plex Sans" pitchFamily="34" charset="-122"/>
                <a:cs typeface="IBM Plex Sans" pitchFamily="34" charset="-120"/>
              </a:rPr>
              <a:t>1 instance</a:t>
            </a:r>
            <a:endParaRPr lang="en-US" sz="1300" dirty="0"/>
          </a:p>
        </p:txBody>
      </p:sp>
      <p:sp>
        <p:nvSpPr>
          <p:cNvPr id="7" name="Shape 5"/>
          <p:cNvSpPr/>
          <p:nvPr/>
        </p:nvSpPr>
        <p:spPr>
          <a:xfrm>
            <a:off x="2368550" y="2561431"/>
            <a:ext cx="508000" cy="355600"/>
          </a:xfrm>
          <a:prstGeom prst="roundRect">
            <a:avLst>
              <a:gd name="adj" fmla="val 7143"/>
            </a:avLst>
          </a:prstGeom>
          <a:solidFill>
            <a:srgbClr val="E60000"/>
          </a:solidFill>
          <a:ln/>
        </p:spPr>
      </p:sp>
      <p:sp>
        <p:nvSpPr>
          <p:cNvPr id="8" name="Text 6"/>
          <p:cNvSpPr/>
          <p:nvPr/>
        </p:nvSpPr>
        <p:spPr>
          <a:xfrm>
            <a:off x="3028950" y="2623641"/>
            <a:ext cx="10698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1F"/>
                </a:solidFill>
                <a:latin typeface="JetBrains Mono" pitchFamily="49" charset="0"/>
                <a:ea typeface="JetBrains Mono" pitchFamily="49" charset="-122"/>
                <a:cs typeface="JetBrains Mono" pitchFamily="49" charset="-120"/>
              </a:rPr>
              <a:t>100 req/s</a:t>
            </a:r>
            <a:endParaRPr lang="en-US" sz="1300" dirty="0"/>
          </a:p>
        </p:txBody>
      </p:sp>
      <p:sp>
        <p:nvSpPr>
          <p:cNvPr id="9" name="Text 7"/>
          <p:cNvSpPr/>
          <p:nvPr/>
        </p:nvSpPr>
        <p:spPr>
          <a:xfrm>
            <a:off x="1073150" y="3157041"/>
            <a:ext cx="1193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24C"/>
                </a:solidFill>
                <a:latin typeface="IBM Plex Sans" pitchFamily="34" charset="0"/>
                <a:ea typeface="IBM Plex Sans" pitchFamily="34" charset="-122"/>
                <a:cs typeface="IBM Plex Sans" pitchFamily="34" charset="-120"/>
              </a:rPr>
              <a:t>4 instances</a:t>
            </a:r>
            <a:endParaRPr lang="en-US" sz="1300" dirty="0"/>
          </a:p>
        </p:txBody>
      </p:sp>
      <p:sp>
        <p:nvSpPr>
          <p:cNvPr id="10" name="Shape 8"/>
          <p:cNvSpPr/>
          <p:nvPr/>
        </p:nvSpPr>
        <p:spPr>
          <a:xfrm>
            <a:off x="2368550" y="3094831"/>
            <a:ext cx="2032000" cy="355600"/>
          </a:xfrm>
          <a:prstGeom prst="roundRect">
            <a:avLst>
              <a:gd name="adj" fmla="val 7143"/>
            </a:avLst>
          </a:prstGeom>
          <a:solidFill>
            <a:srgbClr val="E60000"/>
          </a:solidFill>
          <a:ln/>
        </p:spPr>
      </p:sp>
      <p:sp>
        <p:nvSpPr>
          <p:cNvPr id="11" name="Text 9"/>
          <p:cNvSpPr/>
          <p:nvPr/>
        </p:nvSpPr>
        <p:spPr>
          <a:xfrm>
            <a:off x="4552950" y="3157041"/>
            <a:ext cx="10698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1F"/>
                </a:solidFill>
                <a:latin typeface="JetBrains Mono" pitchFamily="49" charset="0"/>
                <a:ea typeface="JetBrains Mono" pitchFamily="49" charset="-122"/>
                <a:cs typeface="JetBrains Mono" pitchFamily="49" charset="-120"/>
              </a:rPr>
              <a:t>400 req/s</a:t>
            </a:r>
            <a:endParaRPr lang="en-US" sz="1300" dirty="0"/>
          </a:p>
        </p:txBody>
      </p:sp>
      <p:sp>
        <p:nvSpPr>
          <p:cNvPr id="12" name="Text 10"/>
          <p:cNvSpPr/>
          <p:nvPr/>
        </p:nvSpPr>
        <p:spPr>
          <a:xfrm>
            <a:off x="1073150" y="3690441"/>
            <a:ext cx="1193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24C"/>
                </a:solidFill>
                <a:latin typeface="IBM Plex Sans" pitchFamily="34" charset="0"/>
                <a:ea typeface="IBM Plex Sans" pitchFamily="34" charset="-122"/>
                <a:cs typeface="IBM Plex Sans" pitchFamily="34" charset="-120"/>
              </a:rPr>
              <a:t>8 instances</a:t>
            </a:r>
            <a:endParaRPr lang="en-US" sz="1300" dirty="0"/>
          </a:p>
        </p:txBody>
      </p:sp>
      <p:sp>
        <p:nvSpPr>
          <p:cNvPr id="13" name="Shape 11"/>
          <p:cNvSpPr/>
          <p:nvPr/>
        </p:nvSpPr>
        <p:spPr>
          <a:xfrm>
            <a:off x="2368550" y="3628231"/>
            <a:ext cx="3048000" cy="355600"/>
          </a:xfrm>
          <a:prstGeom prst="roundRect">
            <a:avLst>
              <a:gd name="adj" fmla="val 7143"/>
            </a:avLst>
          </a:prstGeom>
          <a:solidFill>
            <a:srgbClr val="E60000"/>
          </a:solidFill>
          <a:ln/>
        </p:spPr>
      </p:sp>
      <p:sp>
        <p:nvSpPr>
          <p:cNvPr id="14" name="Text 12"/>
          <p:cNvSpPr/>
          <p:nvPr/>
        </p:nvSpPr>
        <p:spPr>
          <a:xfrm>
            <a:off x="5568950" y="3690441"/>
            <a:ext cx="11887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1F"/>
                </a:solidFill>
                <a:latin typeface="JetBrains Mono" pitchFamily="49" charset="0"/>
                <a:ea typeface="JetBrains Mono" pitchFamily="49" charset="-122"/>
                <a:cs typeface="JetBrains Mono" pitchFamily="49" charset="-120"/>
              </a:rPr>
              <a:t>800 req/s?</a:t>
            </a:r>
            <a:endParaRPr lang="en-US" sz="1300" dirty="0"/>
          </a:p>
        </p:txBody>
      </p:sp>
      <p:sp>
        <p:nvSpPr>
          <p:cNvPr id="15" name="Text 13"/>
          <p:cNvSpPr/>
          <p:nvPr/>
        </p:nvSpPr>
        <p:spPr>
          <a:xfrm>
            <a:off x="1073150" y="4161631"/>
            <a:ext cx="570597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B424C"/>
                </a:solidFill>
                <a:latin typeface="IBM Plex Sans" pitchFamily="34" charset="0"/>
                <a:ea typeface="IBM Plex Sans" pitchFamily="34" charset="-122"/>
                <a:cs typeface="IBM Plex Sans" pitchFamily="34" charset="-120"/>
              </a:rPr>
              <a:t>Real throughput stops scaling at the first bottleneck: the database, the network, or the AI model's quota.</a:t>
            </a:r>
            <a:endParaRPr lang="en-US" sz="1300" dirty="0"/>
          </a:p>
        </p:txBody>
      </p:sp>
      <p:sp>
        <p:nvSpPr>
          <p:cNvPr id="16" name="Shape 14"/>
          <p:cNvSpPr/>
          <p:nvPr/>
        </p:nvSpPr>
        <p:spPr>
          <a:xfrm>
            <a:off x="7178080" y="1879501"/>
            <a:ext cx="4201120" cy="3962499"/>
          </a:xfrm>
          <a:prstGeom prst="roundRect">
            <a:avLst>
              <a:gd name="adj" fmla="val 2564"/>
            </a:avLst>
          </a:prstGeom>
          <a:solidFill>
            <a:srgbClr val="14181F"/>
          </a:solidFill>
          <a:ln/>
        </p:spPr>
      </p:sp>
      <p:sp>
        <p:nvSpPr>
          <p:cNvPr id="17" name="Text 15"/>
          <p:cNvSpPr/>
          <p:nvPr/>
        </p:nvSpPr>
        <p:spPr>
          <a:xfrm>
            <a:off x="7432080" y="2133501"/>
            <a:ext cx="38039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E"/>
                </a:solidFill>
                <a:latin typeface="IBM Plex Sans" pitchFamily="34" charset="0"/>
                <a:ea typeface="IBM Plex Sans" pitchFamily="34" charset="-122"/>
                <a:cs typeface="IBM Plex Sans" pitchFamily="34" charset="-120"/>
              </a:rPr>
              <a:t>Throughput is not latency</a:t>
            </a:r>
            <a:endParaRPr lang="en-US" sz="1600" dirty="0"/>
          </a:p>
        </p:txBody>
      </p:sp>
      <p:sp>
        <p:nvSpPr>
          <p:cNvPr id="18" name="Text 16"/>
          <p:cNvSpPr/>
          <p:nvPr/>
        </p:nvSpPr>
        <p:spPr>
          <a:xfrm>
            <a:off x="7432080" y="2529681"/>
            <a:ext cx="380391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070"/>
                </a:solidFill>
                <a:latin typeface="JetBrains Mono" pitchFamily="49" charset="0"/>
                <a:ea typeface="JetBrains Mono" pitchFamily="49" charset="-122"/>
                <a:cs typeface="JetBrains Mono" pitchFamily="49" charset="-120"/>
              </a:rPr>
              <a:t>THROUGHPUT</a:t>
            </a:r>
            <a:endParaRPr lang="en-US" sz="1300" dirty="0"/>
          </a:p>
        </p:txBody>
      </p:sp>
      <p:sp>
        <p:nvSpPr>
          <p:cNvPr id="19" name="Text 17"/>
          <p:cNvSpPr/>
          <p:nvPr/>
        </p:nvSpPr>
        <p:spPr>
          <a:xfrm>
            <a:off x="7432080" y="2798862"/>
            <a:ext cx="380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4D9E0"/>
                </a:solidFill>
                <a:latin typeface="IBM Plex Sans" pitchFamily="34" charset="0"/>
                <a:ea typeface="IBM Plex Sans" pitchFamily="34" charset="-122"/>
                <a:cs typeface="IBM Plex Sans" pitchFamily="34" charset="-120"/>
              </a:rPr>
              <a:t>1,000 requests processed per second</a:t>
            </a:r>
            <a:endParaRPr lang="en-US" sz="1400" dirty="0"/>
          </a:p>
        </p:txBody>
      </p:sp>
      <p:sp>
        <p:nvSpPr>
          <p:cNvPr id="20" name="Text 18"/>
          <p:cNvSpPr/>
          <p:nvPr/>
        </p:nvSpPr>
        <p:spPr>
          <a:xfrm>
            <a:off x="7432080" y="3200102"/>
            <a:ext cx="380391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C7D6"/>
                </a:solidFill>
                <a:latin typeface="JetBrains Mono" pitchFamily="49" charset="0"/>
                <a:ea typeface="JetBrains Mono" pitchFamily="49" charset="-122"/>
                <a:cs typeface="JetBrains Mono" pitchFamily="49" charset="-120"/>
              </a:rPr>
              <a:t>LATENCY</a:t>
            </a:r>
            <a:endParaRPr lang="en-US" sz="1300" dirty="0"/>
          </a:p>
        </p:txBody>
      </p:sp>
      <p:sp>
        <p:nvSpPr>
          <p:cNvPr id="21" name="Text 19"/>
          <p:cNvSpPr/>
          <p:nvPr/>
        </p:nvSpPr>
        <p:spPr>
          <a:xfrm>
            <a:off x="7432080" y="3469283"/>
            <a:ext cx="380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4D9E0"/>
                </a:solidFill>
                <a:latin typeface="IBM Plex Sans" pitchFamily="34" charset="0"/>
                <a:ea typeface="IBM Plex Sans" pitchFamily="34" charset="-122"/>
                <a:cs typeface="IBM Plex Sans" pitchFamily="34" charset="-120"/>
              </a:rPr>
              <a:t>One request takes 200 ms to complete</a:t>
            </a:r>
            <a:endParaRPr lang="en-US" sz="1400" dirty="0"/>
          </a:p>
        </p:txBody>
      </p:sp>
      <p:sp>
        <p:nvSpPr>
          <p:cNvPr id="22" name="Text 20"/>
          <p:cNvSpPr/>
          <p:nvPr/>
        </p:nvSpPr>
        <p:spPr>
          <a:xfrm>
            <a:off x="7432080" y="3870523"/>
            <a:ext cx="380391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C0CA"/>
                </a:solidFill>
                <a:latin typeface="IBM Plex Sans" pitchFamily="34" charset="0"/>
                <a:ea typeface="IBM Plex Sans" pitchFamily="34" charset="-122"/>
                <a:cs typeface="IBM Plex Sans" pitchFamily="34" charset="-120"/>
              </a:rPr>
              <a:t>A system can have high throughput and still feel slow to each user.</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Numbers are illustrative, not guaranteed cloud capacity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02 · THROUGHPUT IN AZURE AI FOUNDRY</a:t>
            </a:r>
            <a:endParaRPr lang="en-US" sz="1200" dirty="0"/>
          </a:p>
        </p:txBody>
      </p:sp>
      <p:sp>
        <p:nvSpPr>
          <p:cNvPr id="3" name="Text 1"/>
          <p:cNvSpPr/>
          <p:nvPr>
            <p:ph type="title"/>
          </p:nvPr>
        </p:nvSpPr>
        <p:spPr>
          <a:xfrm>
            <a:off x="812800" y="1127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For an AI app, throughput is measured in tokens per minute</a:t>
            </a:r>
            <a:endParaRPr lang="en-US" sz="3200" dirty="0"/>
          </a:p>
        </p:txBody>
      </p:sp>
      <p:sp>
        <p:nvSpPr>
          <p:cNvPr id="4" name="Shape 2"/>
          <p:cNvSpPr/>
          <p:nvPr/>
        </p:nvSpPr>
        <p:spPr>
          <a:xfrm>
            <a:off x="812800" y="2275681"/>
            <a:ext cx="5156200" cy="1640780"/>
          </a:xfrm>
          <a:prstGeom prst="roundRect">
            <a:avLst>
              <a:gd name="adj" fmla="val 6192"/>
            </a:avLst>
          </a:prstGeom>
          <a:solidFill>
            <a:srgbClr val="14181F"/>
          </a:solidFill>
          <a:ln/>
        </p:spPr>
      </p:sp>
      <p:sp>
        <p:nvSpPr>
          <p:cNvPr id="5" name="Text 3"/>
          <p:cNvSpPr/>
          <p:nvPr/>
        </p:nvSpPr>
        <p:spPr>
          <a:xfrm>
            <a:off x="1041400" y="2504281"/>
            <a:ext cx="48399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070"/>
                </a:solidFill>
                <a:latin typeface="JetBrains Mono" pitchFamily="49" charset="0"/>
                <a:ea typeface="JetBrains Mono" pitchFamily="49" charset="-122"/>
                <a:cs typeface="JetBrains Mono" pitchFamily="49" charset="-120"/>
              </a:rPr>
              <a:t>SIZING (EXAMPLE)</a:t>
            </a:r>
            <a:endParaRPr lang="en-US" sz="1300" dirty="0"/>
          </a:p>
        </p:txBody>
      </p:sp>
      <p:sp>
        <p:nvSpPr>
          <p:cNvPr id="6" name="Text 4"/>
          <p:cNvSpPr/>
          <p:nvPr/>
        </p:nvSpPr>
        <p:spPr>
          <a:xfrm>
            <a:off x="1041400" y="2811562"/>
            <a:ext cx="483997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2EE"/>
                </a:solidFill>
                <a:latin typeface="JetBrains Mono" pitchFamily="49" charset="0"/>
                <a:ea typeface="JetBrains Mono" pitchFamily="49" charset="-122"/>
                <a:cs typeface="JetBrains Mono" pitchFamily="49" charset="-120"/>
              </a:rPr>
              <a:t>TPM needed ≈ peak requests/min × tokens per request</a:t>
            </a:r>
            <a:endParaRPr lang="en-US" sz="1400" dirty="0"/>
          </a:p>
        </p:txBody>
      </p:sp>
      <p:sp>
        <p:nvSpPr>
          <p:cNvPr id="7" name="Text 5"/>
          <p:cNvSpPr/>
          <p:nvPr/>
        </p:nvSpPr>
        <p:spPr>
          <a:xfrm>
            <a:off x="1041400" y="3421162"/>
            <a:ext cx="483997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4D9E0"/>
                </a:solidFill>
                <a:latin typeface="JetBrains Mono" pitchFamily="49" charset="0"/>
                <a:ea typeface="JetBrains Mono" pitchFamily="49" charset="-122"/>
                <a:cs typeface="JetBrains Mono" pitchFamily="49" charset="-120"/>
              </a:rPr>
              <a:t>200 req/min × 4,000 tokens = 800K TPM</a:t>
            </a:r>
            <a:endParaRPr lang="en-US" sz="1400" dirty="0"/>
          </a:p>
        </p:txBody>
      </p:sp>
      <p:sp>
        <p:nvSpPr>
          <p:cNvPr id="8" name="Text 6"/>
          <p:cNvSpPr/>
          <p:nvPr/>
        </p:nvSpPr>
        <p:spPr>
          <a:xfrm>
            <a:off x="898144" y="4043462"/>
            <a:ext cx="5217922"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b="1" dirty="0">
                <a:solidFill>
                  <a:srgbClr val="3B424C"/>
                </a:solidFill>
                <a:latin typeface="IBM Plex Sans" pitchFamily="34" charset="0"/>
                <a:ea typeface="IBM Plex Sans" pitchFamily="34" charset="-122"/>
                <a:cs typeface="IBM Plex Sans" pitchFamily="34" charset="-120"/>
              </a:rPr>
              <a:t>TPM / RPM quota</a:t>
            </a:r>
            <a:r>
              <a:rPr lang="en-US" sz="1300" dirty="0">
                <a:solidFill>
                  <a:srgbClr val="3B424C"/>
                </a:solidFill>
                <a:latin typeface="IBM Plex Sans" pitchFamily="34" charset="0"/>
                <a:ea typeface="IBM Plex Sans" pitchFamily="34" charset="-122"/>
                <a:cs typeface="IBM Plex Sans" pitchFamily="34" charset="-120"/>
              </a:rPr>
              <a:t> per deployment, region and subscription caps pay-per-token use</a:t>
            </a:r>
            <a:endParaRPr lang="en-US" sz="1300" dirty="0"/>
          </a:p>
          <a:p>
            <a:pPr algn="l" marL="168656" indent="-168656">
              <a:lnSpc>
                <a:spcPts val="1950"/>
              </a:lnSpc>
              <a:buSzPct val="100000"/>
              <a:buChar char="•"/>
            </a:pPr>
            <a:r>
              <a:rPr lang="en-US" sz="1300" b="1" dirty="0">
                <a:solidFill>
                  <a:srgbClr val="3B424C"/>
                </a:solidFill>
                <a:latin typeface="IBM Plex Sans" pitchFamily="34" charset="0"/>
                <a:ea typeface="IBM Plex Sans" pitchFamily="34" charset="-122"/>
                <a:cs typeface="IBM Plex Sans" pitchFamily="34" charset="-120"/>
              </a:rPr>
              <a:t>PTUs</a:t>
            </a:r>
            <a:r>
              <a:rPr lang="en-US" sz="1300" dirty="0">
                <a:solidFill>
                  <a:srgbClr val="3B424C"/>
                </a:solidFill>
                <a:latin typeface="IBM Plex Sans" pitchFamily="34" charset="0"/>
                <a:ea typeface="IBM Plex Sans" pitchFamily="34" charset="-122"/>
                <a:cs typeface="IBM Plex Sans" pitchFamily="34" charset="-120"/>
              </a:rPr>
              <a:t> (provisioned throughput units) reserve capacity with predictable latency</a:t>
            </a:r>
            <a:endParaRPr lang="en-US" sz="1300" dirty="0"/>
          </a:p>
          <a:p>
            <a:pPr algn="l" marL="168656" indent="-168656">
              <a:lnSpc>
                <a:spcPts val="1950"/>
              </a:lnSpc>
              <a:buSzPct val="100000"/>
              <a:buChar char="•"/>
            </a:pPr>
            <a:r>
              <a:rPr lang="en-US" sz="1300" dirty="0">
                <a:solidFill>
                  <a:srgbClr val="3B424C"/>
                </a:solidFill>
                <a:latin typeface="IBM Plex Sans" pitchFamily="34" charset="0"/>
                <a:ea typeface="IBM Plex Sans" pitchFamily="34" charset="-122"/>
                <a:cs typeface="IBM Plex Sans" pitchFamily="34" charset="-120"/>
              </a:rPr>
              <a:t>Over quota → </a:t>
            </a:r>
            <a:r>
              <a:rPr lang="en-US" sz="1300" b="1" dirty="0">
                <a:solidFill>
                  <a:srgbClr val="3B424C"/>
                </a:solidFill>
                <a:latin typeface="IBM Plex Sans" pitchFamily="34" charset="0"/>
                <a:ea typeface="IBM Plex Sans" pitchFamily="34" charset="-122"/>
                <a:cs typeface="IBM Plex Sans" pitchFamily="34" charset="-120"/>
              </a:rPr>
              <a:t>HTTP 429</a:t>
            </a:r>
            <a:r>
              <a:rPr lang="en-US" sz="1300" dirty="0">
                <a:solidFill>
                  <a:srgbClr val="3B424C"/>
                </a:solidFill>
                <a:latin typeface="IBM Plex Sans" pitchFamily="34" charset="0"/>
                <a:ea typeface="IBM Plex Sans" pitchFamily="34" charset="-122"/>
                <a:cs typeface="IBM Plex Sans" pitchFamily="34" charset="-120"/>
              </a:rPr>
              <a:t> with a retry-after header</a:t>
            </a:r>
            <a:endParaRPr lang="en-US" sz="1300" dirty="0"/>
          </a:p>
        </p:txBody>
      </p:sp>
      <p:sp>
        <p:nvSpPr>
          <p:cNvPr id="9" name="Text 7"/>
          <p:cNvSpPr/>
          <p:nvPr/>
        </p:nvSpPr>
        <p:spPr>
          <a:xfrm>
            <a:off x="6223000" y="2275681"/>
            <a:ext cx="53108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Levers an architect pulls</a:t>
            </a:r>
            <a:endParaRPr lang="en-US" sz="1600" dirty="0"/>
          </a:p>
        </p:txBody>
      </p:sp>
      <p:sp>
        <p:nvSpPr>
          <p:cNvPr id="10" name="Shape 8"/>
          <p:cNvSpPr/>
          <p:nvPr/>
        </p:nvSpPr>
        <p:spPr>
          <a:xfrm>
            <a:off x="6223000" y="2621062"/>
            <a:ext cx="5156200" cy="723801"/>
          </a:xfrm>
          <a:prstGeom prst="roundRect">
            <a:avLst>
              <a:gd name="adj" fmla="val 10528"/>
            </a:avLst>
          </a:prstGeom>
          <a:solidFill>
            <a:srgbClr val="F1EEE8"/>
          </a:solidFill>
          <a:ln/>
        </p:spPr>
      </p:sp>
      <p:sp>
        <p:nvSpPr>
          <p:cNvPr id="11" name="Text 9"/>
          <p:cNvSpPr/>
          <p:nvPr/>
        </p:nvSpPr>
        <p:spPr>
          <a:xfrm>
            <a:off x="6400800" y="2748062"/>
            <a:ext cx="49446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Global Standard</a:t>
            </a:r>
            <a:endParaRPr lang="en-US" sz="1300" dirty="0"/>
          </a:p>
        </p:txBody>
      </p:sp>
      <p:sp>
        <p:nvSpPr>
          <p:cNvPr id="12" name="Text 10"/>
          <p:cNvSpPr/>
          <p:nvPr/>
        </p:nvSpPr>
        <p:spPr>
          <a:xfrm>
            <a:off x="6400800" y="300454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Highest default quota, pay per token</a:t>
            </a:r>
            <a:endParaRPr lang="en-US" sz="1200" dirty="0"/>
          </a:p>
        </p:txBody>
      </p:sp>
      <p:sp>
        <p:nvSpPr>
          <p:cNvPr id="13" name="Shape 11"/>
          <p:cNvSpPr/>
          <p:nvPr/>
        </p:nvSpPr>
        <p:spPr>
          <a:xfrm>
            <a:off x="6223000" y="3446463"/>
            <a:ext cx="5156200" cy="723801"/>
          </a:xfrm>
          <a:prstGeom prst="roundRect">
            <a:avLst>
              <a:gd name="adj" fmla="val 10528"/>
            </a:avLst>
          </a:prstGeom>
          <a:solidFill>
            <a:srgbClr val="F1EEE8"/>
          </a:solidFill>
          <a:ln/>
        </p:spPr>
      </p:sp>
      <p:sp>
        <p:nvSpPr>
          <p:cNvPr id="14" name="Text 12"/>
          <p:cNvSpPr/>
          <p:nvPr/>
        </p:nvSpPr>
        <p:spPr>
          <a:xfrm>
            <a:off x="6400800" y="3573463"/>
            <a:ext cx="49446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Provisioned (PTU)</a:t>
            </a:r>
            <a:endParaRPr lang="en-US" sz="1300" dirty="0"/>
          </a:p>
        </p:txBody>
      </p:sp>
      <p:sp>
        <p:nvSpPr>
          <p:cNvPr id="15" name="Text 13"/>
          <p:cNvSpPr/>
          <p:nvPr/>
        </p:nvSpPr>
        <p:spPr>
          <a:xfrm>
            <a:off x="6400800" y="3829943"/>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Steady high volume, consistent latency</a:t>
            </a:r>
            <a:endParaRPr lang="en-US" sz="1200" dirty="0"/>
          </a:p>
        </p:txBody>
      </p:sp>
      <p:sp>
        <p:nvSpPr>
          <p:cNvPr id="16" name="Shape 14"/>
          <p:cNvSpPr/>
          <p:nvPr/>
        </p:nvSpPr>
        <p:spPr>
          <a:xfrm>
            <a:off x="6223000" y="4271863"/>
            <a:ext cx="5156200" cy="723801"/>
          </a:xfrm>
          <a:prstGeom prst="roundRect">
            <a:avLst>
              <a:gd name="adj" fmla="val 10528"/>
            </a:avLst>
          </a:prstGeom>
          <a:solidFill>
            <a:srgbClr val="F1EEE8"/>
          </a:solidFill>
          <a:ln/>
        </p:spPr>
      </p:sp>
      <p:sp>
        <p:nvSpPr>
          <p:cNvPr id="17" name="Text 15"/>
          <p:cNvSpPr/>
          <p:nvPr/>
        </p:nvSpPr>
        <p:spPr>
          <a:xfrm>
            <a:off x="6400800" y="4398863"/>
            <a:ext cx="49446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Batch</a:t>
            </a:r>
            <a:endParaRPr lang="en-US" sz="1300" dirty="0"/>
          </a:p>
        </p:txBody>
      </p:sp>
      <p:sp>
        <p:nvSpPr>
          <p:cNvPr id="18" name="Text 16"/>
          <p:cNvSpPr/>
          <p:nvPr/>
        </p:nvSpPr>
        <p:spPr>
          <a:xfrm>
            <a:off x="6400800" y="4655344"/>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Async jobs, 24-hour target, 50% lower price</a:t>
            </a:r>
            <a:endParaRPr lang="en-US" sz="1200" dirty="0"/>
          </a:p>
        </p:txBody>
      </p:sp>
      <p:sp>
        <p:nvSpPr>
          <p:cNvPr id="19" name="Shape 17"/>
          <p:cNvSpPr/>
          <p:nvPr/>
        </p:nvSpPr>
        <p:spPr>
          <a:xfrm>
            <a:off x="6223000" y="5097264"/>
            <a:ext cx="5156200" cy="723801"/>
          </a:xfrm>
          <a:prstGeom prst="roundRect">
            <a:avLst>
              <a:gd name="adj" fmla="val 10528"/>
            </a:avLst>
          </a:prstGeom>
          <a:solidFill>
            <a:srgbClr val="F1EEE8"/>
          </a:solidFill>
          <a:ln/>
        </p:spPr>
      </p:sp>
      <p:sp>
        <p:nvSpPr>
          <p:cNvPr id="20" name="Text 18"/>
          <p:cNvSpPr/>
          <p:nvPr/>
        </p:nvSpPr>
        <p:spPr>
          <a:xfrm>
            <a:off x="6400800" y="5224264"/>
            <a:ext cx="49446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API Management + caching</a:t>
            </a:r>
            <a:endParaRPr lang="en-US" sz="1300" dirty="0"/>
          </a:p>
        </p:txBody>
      </p:sp>
      <p:sp>
        <p:nvSpPr>
          <p:cNvPr id="21" name="Text 19"/>
          <p:cNvSpPr/>
          <p:nvPr/>
        </p:nvSpPr>
        <p:spPr>
          <a:xfrm>
            <a:off x="6400800" y="5480745"/>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Spread load across deployments; trim prompts</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Source: Microsoft Learn, Foundry Models deployment types · sizing figures are an example 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0697B"/>
                </a:solidFill>
                <a:latin typeface="JetBrains Mono" pitchFamily="49" charset="0"/>
                <a:ea typeface="JetBrains Mono" pitchFamily="49" charset="-122"/>
                <a:cs typeface="JetBrains Mono" pitchFamily="49" charset="-120"/>
              </a:rPr>
              <a:t>02 · DATA RESIDENCY = LOCATION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Residency covers six data paths</a:t>
            </a:r>
            <a:endParaRPr lang="en-US" sz="3200" dirty="0"/>
          </a:p>
        </p:txBody>
      </p:sp>
      <p:sp>
        <p:nvSpPr>
          <p:cNvPr id="4" name="Shape 2"/>
          <p:cNvSpPr/>
          <p:nvPr/>
        </p:nvSpPr>
        <p:spPr>
          <a:xfrm>
            <a:off x="812800" y="1828701"/>
            <a:ext cx="3420467" cy="1250950"/>
          </a:xfrm>
          <a:prstGeom prst="roundRect">
            <a:avLst>
              <a:gd name="adj" fmla="val 6091"/>
            </a:avLst>
          </a:prstGeom>
          <a:solidFill>
            <a:srgbClr val="FBFAF7"/>
          </a:solidFill>
          <a:ln/>
        </p:spPr>
      </p:sp>
      <p:sp>
        <p:nvSpPr>
          <p:cNvPr id="5" name="Shape 3"/>
          <p:cNvSpPr/>
          <p:nvPr/>
        </p:nvSpPr>
        <p:spPr>
          <a:xfrm>
            <a:off x="812800" y="1828701"/>
            <a:ext cx="3420467" cy="1250950"/>
          </a:xfrm>
          <a:custGeom>
            <a:avLst/>
            <a:gdLst/>
            <a:ahLst/>
            <a:cxnLst/>
            <a:rect l="l" t="t" r="r" b="b"/>
            <a:pathLst>
              <a:path w="3420467" h="1250950">
                <a:moveTo>
                  <a:pt x="0" y="76200"/>
                </a:moveTo>
                <a:lnTo>
                  <a:pt x="0" y="76200"/>
                </a:lnTo>
                <a:arcTo hR="76200" wR="76200" stAng="10800000" swAng="5400000"/>
                <a:lnTo>
                  <a:pt x="3344267" y="0"/>
                </a:lnTo>
                <a:arcTo hR="76200" wR="76200" stAng="16200000" swAng="5400000"/>
                <a:lnTo>
                  <a:pt x="3420467" y="76200"/>
                </a:lnTo>
                <a:arcTo hR="38100" wR="76200" stAng="0" swAng="-5400000"/>
                <a:lnTo>
                  <a:pt x="76200" y="38100"/>
                </a:lnTo>
                <a:arcTo hR="38100" wR="76200" stAng="16200000" swAng="-5400000"/>
                <a:close/>
              </a:path>
            </a:pathLst>
          </a:custGeom>
          <a:solidFill>
            <a:srgbClr val="00697B"/>
          </a:solidFill>
          <a:ln/>
        </p:spPr>
      </p:sp>
      <p:pic>
        <p:nvPicPr>
          <p:cNvPr id="6" name="Image 0" descr="Database">    </p:cNvPr>
          <p:cNvPicPr>
            <a:picLocks noChangeAspect="1"/>
          </p:cNvPicPr>
          <p:nvPr/>
        </p:nvPicPr>
        <p:blipFill>
          <a:blip r:embed="rId1"/>
          <a:srcRect l="0" r="0" t="0" b="0"/>
          <a:stretch/>
        </p:blipFill>
        <p:spPr>
          <a:xfrm>
            <a:off x="990600" y="2044601"/>
            <a:ext cx="279400" cy="279400"/>
          </a:xfrm>
          <a:prstGeom prst="rect">
            <a:avLst/>
          </a:prstGeom>
        </p:spPr>
      </p:pic>
      <p:sp>
        <p:nvSpPr>
          <p:cNvPr id="7" name="Text 4"/>
          <p:cNvSpPr/>
          <p:nvPr/>
        </p:nvSpPr>
        <p:spPr>
          <a:xfrm>
            <a:off x="990600" y="2387501"/>
            <a:ext cx="31568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Primary storage</a:t>
            </a:r>
            <a:endParaRPr lang="en-US" sz="1500" dirty="0"/>
          </a:p>
        </p:txBody>
      </p:sp>
      <p:sp>
        <p:nvSpPr>
          <p:cNvPr id="8" name="Text 5"/>
          <p:cNvSpPr/>
          <p:nvPr/>
        </p:nvSpPr>
        <p:spPr>
          <a:xfrm>
            <a:off x="990600" y="2679601"/>
            <a:ext cx="315681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24C"/>
                </a:solidFill>
                <a:latin typeface="IBM Plex Sans" pitchFamily="34" charset="0"/>
                <a:ea typeface="IBM Plex Sans" pitchFamily="34" charset="-122"/>
                <a:cs typeface="IBM Plex Sans" pitchFamily="34" charset="-120"/>
              </a:rPr>
              <a:t>Which region holds the original records?</a:t>
            </a:r>
            <a:endParaRPr lang="en-US" sz="1250" dirty="0"/>
          </a:p>
        </p:txBody>
      </p:sp>
      <p:sp>
        <p:nvSpPr>
          <p:cNvPr id="9" name="Shape 6"/>
          <p:cNvSpPr/>
          <p:nvPr/>
        </p:nvSpPr>
        <p:spPr>
          <a:xfrm>
            <a:off x="4385667" y="1828701"/>
            <a:ext cx="3420566" cy="1250950"/>
          </a:xfrm>
          <a:prstGeom prst="roundRect">
            <a:avLst>
              <a:gd name="adj" fmla="val 6091"/>
            </a:avLst>
          </a:prstGeom>
          <a:solidFill>
            <a:srgbClr val="FBFAF7"/>
          </a:solidFill>
          <a:ln/>
        </p:spPr>
      </p:sp>
      <p:sp>
        <p:nvSpPr>
          <p:cNvPr id="10" name="Shape 7"/>
          <p:cNvSpPr/>
          <p:nvPr/>
        </p:nvSpPr>
        <p:spPr>
          <a:xfrm>
            <a:off x="4385667" y="1828701"/>
            <a:ext cx="3420566" cy="1250950"/>
          </a:xfrm>
          <a:custGeom>
            <a:avLst/>
            <a:gdLst/>
            <a:ahLst/>
            <a:cxnLst/>
            <a:rect l="l" t="t" r="r" b="b"/>
            <a:pathLst>
              <a:path w="3420566" h="1250950">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00697B"/>
          </a:solidFill>
          <a:ln/>
        </p:spPr>
      </p:sp>
      <p:pic>
        <p:nvPicPr>
          <p:cNvPr id="11" name="Image 1" descr="Link">    </p:cNvPr>
          <p:cNvPicPr>
            <a:picLocks noChangeAspect="1"/>
          </p:cNvPicPr>
          <p:nvPr/>
        </p:nvPicPr>
        <p:blipFill>
          <a:blip r:embed="rId2"/>
          <a:srcRect l="0" r="0" t="0" b="0"/>
          <a:stretch/>
        </p:blipFill>
        <p:spPr>
          <a:xfrm>
            <a:off x="4563467" y="2044601"/>
            <a:ext cx="279400" cy="279400"/>
          </a:xfrm>
          <a:prstGeom prst="rect">
            <a:avLst/>
          </a:prstGeom>
        </p:spPr>
      </p:pic>
      <p:sp>
        <p:nvSpPr>
          <p:cNvPr id="12" name="Text 8"/>
          <p:cNvSpPr/>
          <p:nvPr/>
        </p:nvSpPr>
        <p:spPr>
          <a:xfrm>
            <a:off x="4563467" y="2387501"/>
            <a:ext cx="31569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Replication</a:t>
            </a:r>
            <a:endParaRPr lang="en-US" sz="1500" dirty="0"/>
          </a:p>
        </p:txBody>
      </p:sp>
      <p:sp>
        <p:nvSpPr>
          <p:cNvPr id="13" name="Text 9"/>
          <p:cNvSpPr/>
          <p:nvPr/>
        </p:nvSpPr>
        <p:spPr>
          <a:xfrm>
            <a:off x="4563467" y="2679601"/>
            <a:ext cx="315691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24C"/>
                </a:solidFill>
                <a:latin typeface="IBM Plex Sans" pitchFamily="34" charset="0"/>
                <a:ea typeface="IBM Plex Sans" pitchFamily="34" charset="-122"/>
                <a:cs typeface="IBM Plex Sans" pitchFamily="34" charset="-120"/>
              </a:rPr>
              <a:t>Can copies be sent to another country?</a:t>
            </a:r>
            <a:endParaRPr lang="en-US" sz="1250" dirty="0"/>
          </a:p>
        </p:txBody>
      </p:sp>
      <p:sp>
        <p:nvSpPr>
          <p:cNvPr id="14" name="Shape 10"/>
          <p:cNvSpPr/>
          <p:nvPr/>
        </p:nvSpPr>
        <p:spPr>
          <a:xfrm>
            <a:off x="7958634" y="1828701"/>
            <a:ext cx="3420566" cy="1250950"/>
          </a:xfrm>
          <a:prstGeom prst="roundRect">
            <a:avLst>
              <a:gd name="adj" fmla="val 6091"/>
            </a:avLst>
          </a:prstGeom>
          <a:solidFill>
            <a:srgbClr val="FBFAF7"/>
          </a:solidFill>
          <a:ln/>
        </p:spPr>
      </p:sp>
      <p:sp>
        <p:nvSpPr>
          <p:cNvPr id="15" name="Shape 11"/>
          <p:cNvSpPr/>
          <p:nvPr/>
        </p:nvSpPr>
        <p:spPr>
          <a:xfrm>
            <a:off x="7958634" y="1828701"/>
            <a:ext cx="3420566" cy="1250950"/>
          </a:xfrm>
          <a:custGeom>
            <a:avLst/>
            <a:gdLst/>
            <a:ahLst/>
            <a:cxnLst/>
            <a:rect l="l" t="t" r="r" b="b"/>
            <a:pathLst>
              <a:path w="3420566" h="1250950">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00697B"/>
          </a:solidFill>
          <a:ln/>
        </p:spPr>
      </p:sp>
      <p:pic>
        <p:nvPicPr>
          <p:cNvPr id="16" name="Image 2" descr="Cloud">    </p:cNvPr>
          <p:cNvPicPr>
            <a:picLocks noChangeAspect="1"/>
          </p:cNvPicPr>
          <p:nvPr/>
        </p:nvPicPr>
        <p:blipFill>
          <a:blip r:embed="rId3"/>
          <a:srcRect l="0" r="0" t="0" b="0"/>
          <a:stretch/>
        </p:blipFill>
        <p:spPr>
          <a:xfrm>
            <a:off x="8136434" y="2044601"/>
            <a:ext cx="279400" cy="279400"/>
          </a:xfrm>
          <a:prstGeom prst="rect">
            <a:avLst/>
          </a:prstGeom>
        </p:spPr>
      </p:pic>
      <p:sp>
        <p:nvSpPr>
          <p:cNvPr id="17" name="Text 12"/>
          <p:cNvSpPr/>
          <p:nvPr/>
        </p:nvSpPr>
        <p:spPr>
          <a:xfrm>
            <a:off x="8136434" y="2387501"/>
            <a:ext cx="31569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Backups and DR</a:t>
            </a:r>
            <a:endParaRPr lang="en-US" sz="1500" dirty="0"/>
          </a:p>
        </p:txBody>
      </p:sp>
      <p:sp>
        <p:nvSpPr>
          <p:cNvPr id="18" name="Text 13"/>
          <p:cNvSpPr/>
          <p:nvPr/>
        </p:nvSpPr>
        <p:spPr>
          <a:xfrm>
            <a:off x="8136434" y="2679601"/>
            <a:ext cx="3242766"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24C"/>
                </a:solidFill>
                <a:latin typeface="IBM Plex Sans" pitchFamily="34" charset="0"/>
                <a:ea typeface="IBM Plex Sans" pitchFamily="34" charset="-122"/>
                <a:cs typeface="IBM Plex Sans" pitchFamily="34" charset="-120"/>
              </a:rPr>
              <a:t>Where do backup and failover copies live?</a:t>
            </a:r>
            <a:endParaRPr lang="en-US" sz="1250" dirty="0"/>
          </a:p>
        </p:txBody>
      </p:sp>
      <p:sp>
        <p:nvSpPr>
          <p:cNvPr id="19" name="Shape 14"/>
          <p:cNvSpPr/>
          <p:nvPr/>
        </p:nvSpPr>
        <p:spPr>
          <a:xfrm>
            <a:off x="812800" y="3232051"/>
            <a:ext cx="3420467" cy="1473200"/>
          </a:xfrm>
          <a:prstGeom prst="roundRect">
            <a:avLst>
              <a:gd name="adj" fmla="val 5172"/>
            </a:avLst>
          </a:prstGeom>
          <a:solidFill>
            <a:srgbClr val="FBFAF7"/>
          </a:solidFill>
          <a:ln/>
        </p:spPr>
      </p:sp>
      <p:sp>
        <p:nvSpPr>
          <p:cNvPr id="20" name="Shape 15"/>
          <p:cNvSpPr/>
          <p:nvPr/>
        </p:nvSpPr>
        <p:spPr>
          <a:xfrm>
            <a:off x="812800" y="3232051"/>
            <a:ext cx="3420467" cy="1473200"/>
          </a:xfrm>
          <a:custGeom>
            <a:avLst/>
            <a:gdLst/>
            <a:ahLst/>
            <a:cxnLst/>
            <a:rect l="l" t="t" r="r" b="b"/>
            <a:pathLst>
              <a:path w="3420467" h="1473200">
                <a:moveTo>
                  <a:pt x="0" y="76200"/>
                </a:moveTo>
                <a:lnTo>
                  <a:pt x="0" y="76200"/>
                </a:lnTo>
                <a:arcTo hR="76200" wR="76200" stAng="10800000" swAng="5400000"/>
                <a:lnTo>
                  <a:pt x="3344267" y="0"/>
                </a:lnTo>
                <a:arcTo hR="76200" wR="76200" stAng="16200000" swAng="5400000"/>
                <a:lnTo>
                  <a:pt x="3420467" y="76200"/>
                </a:lnTo>
                <a:arcTo hR="38100" wR="76200" stAng="0" swAng="-5400000"/>
                <a:lnTo>
                  <a:pt x="76200" y="38100"/>
                </a:lnTo>
                <a:arcTo hR="38100" wR="76200" stAng="16200000" swAng="-5400000"/>
                <a:close/>
              </a:path>
            </a:pathLst>
          </a:custGeom>
          <a:solidFill>
            <a:srgbClr val="00697B"/>
          </a:solidFill>
          <a:ln/>
        </p:spPr>
      </p:sp>
      <p:pic>
        <p:nvPicPr>
          <p:cNvPr id="21" name="Image 3" descr="Activity">    </p:cNvPr>
          <p:cNvPicPr>
            <a:picLocks noChangeAspect="1"/>
          </p:cNvPicPr>
          <p:nvPr/>
        </p:nvPicPr>
        <p:blipFill>
          <a:blip r:embed="rId4"/>
          <a:srcRect l="0" r="0" t="0" b="0"/>
          <a:stretch/>
        </p:blipFill>
        <p:spPr>
          <a:xfrm>
            <a:off x="990600" y="3447951"/>
            <a:ext cx="279400" cy="279400"/>
          </a:xfrm>
          <a:prstGeom prst="rect">
            <a:avLst/>
          </a:prstGeom>
        </p:spPr>
      </p:pic>
      <p:sp>
        <p:nvSpPr>
          <p:cNvPr id="22" name="Text 16"/>
          <p:cNvSpPr/>
          <p:nvPr/>
        </p:nvSpPr>
        <p:spPr>
          <a:xfrm>
            <a:off x="990600" y="3790851"/>
            <a:ext cx="31568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Logs and telemetry</a:t>
            </a:r>
            <a:endParaRPr lang="en-US" sz="1500" dirty="0"/>
          </a:p>
        </p:txBody>
      </p:sp>
      <p:sp>
        <p:nvSpPr>
          <p:cNvPr id="23" name="Text 17"/>
          <p:cNvSpPr/>
          <p:nvPr/>
        </p:nvSpPr>
        <p:spPr>
          <a:xfrm>
            <a:off x="990600" y="4082951"/>
            <a:ext cx="315681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24C"/>
                </a:solidFill>
                <a:latin typeface="IBM Plex Sans" pitchFamily="34" charset="0"/>
                <a:ea typeface="IBM Plex Sans" pitchFamily="34" charset="-122"/>
                <a:cs typeface="IBM Plex Sans" pitchFamily="34" charset="-120"/>
              </a:rPr>
              <a:t>Could prompts or personal data land in logs?</a:t>
            </a:r>
            <a:endParaRPr lang="en-US" sz="1250" dirty="0"/>
          </a:p>
        </p:txBody>
      </p:sp>
      <p:sp>
        <p:nvSpPr>
          <p:cNvPr id="24" name="Shape 18"/>
          <p:cNvSpPr/>
          <p:nvPr/>
        </p:nvSpPr>
        <p:spPr>
          <a:xfrm>
            <a:off x="4385667" y="3232051"/>
            <a:ext cx="3420566" cy="1473200"/>
          </a:xfrm>
          <a:prstGeom prst="roundRect">
            <a:avLst>
              <a:gd name="adj" fmla="val 5172"/>
            </a:avLst>
          </a:prstGeom>
          <a:solidFill>
            <a:srgbClr val="14181F"/>
          </a:solidFill>
          <a:ln/>
        </p:spPr>
      </p:sp>
      <p:sp>
        <p:nvSpPr>
          <p:cNvPr id="25" name="Shape 19"/>
          <p:cNvSpPr/>
          <p:nvPr/>
        </p:nvSpPr>
        <p:spPr>
          <a:xfrm>
            <a:off x="4385667" y="3232051"/>
            <a:ext cx="3420566" cy="1473200"/>
          </a:xfrm>
          <a:custGeom>
            <a:avLst/>
            <a:gdLst/>
            <a:ahLst/>
            <a:cxnLst/>
            <a:rect l="l" t="t" r="r" b="b"/>
            <a:pathLst>
              <a:path w="3420566" h="1473200">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E60000"/>
          </a:solidFill>
          <a:ln/>
        </p:spPr>
      </p:sp>
      <p:pic>
        <p:nvPicPr>
          <p:cNvPr id="26" name="Image 4" descr="Lightbulb">    </p:cNvPr>
          <p:cNvPicPr>
            <a:picLocks noChangeAspect="1"/>
          </p:cNvPicPr>
          <p:nvPr/>
        </p:nvPicPr>
        <p:blipFill>
          <a:blip r:embed="rId5"/>
          <a:srcRect l="0" r="0" t="0" b="0"/>
          <a:stretch/>
        </p:blipFill>
        <p:spPr>
          <a:xfrm>
            <a:off x="4563467" y="3447951"/>
            <a:ext cx="279400" cy="279400"/>
          </a:xfrm>
          <a:prstGeom prst="rect">
            <a:avLst/>
          </a:prstGeom>
        </p:spPr>
      </p:pic>
      <p:sp>
        <p:nvSpPr>
          <p:cNvPr id="27" name="Text 20"/>
          <p:cNvSpPr/>
          <p:nvPr/>
        </p:nvSpPr>
        <p:spPr>
          <a:xfrm>
            <a:off x="4563467" y="3790851"/>
            <a:ext cx="31569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AI inference</a:t>
            </a:r>
            <a:endParaRPr lang="en-US" sz="1500" dirty="0"/>
          </a:p>
        </p:txBody>
      </p:sp>
      <p:sp>
        <p:nvSpPr>
          <p:cNvPr id="28" name="Text 21"/>
          <p:cNvSpPr/>
          <p:nvPr/>
        </p:nvSpPr>
        <p:spPr>
          <a:xfrm>
            <a:off x="4563467" y="4082951"/>
            <a:ext cx="315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D4D9E0"/>
                </a:solidFill>
                <a:latin typeface="IBM Plex Sans" pitchFamily="34" charset="0"/>
                <a:ea typeface="IBM Plex Sans" pitchFamily="34" charset="-122"/>
                <a:cs typeface="IBM Plex Sans" pitchFamily="34" charset="-120"/>
              </a:rPr>
              <a:t>Where are prompts and images processed by the model?</a:t>
            </a:r>
            <a:endParaRPr lang="en-US" sz="1250" dirty="0"/>
          </a:p>
        </p:txBody>
      </p:sp>
      <p:sp>
        <p:nvSpPr>
          <p:cNvPr id="29" name="Shape 22"/>
          <p:cNvSpPr/>
          <p:nvPr/>
        </p:nvSpPr>
        <p:spPr>
          <a:xfrm>
            <a:off x="7958634" y="3232051"/>
            <a:ext cx="3420566" cy="1473200"/>
          </a:xfrm>
          <a:prstGeom prst="roundRect">
            <a:avLst>
              <a:gd name="adj" fmla="val 5172"/>
            </a:avLst>
          </a:prstGeom>
          <a:solidFill>
            <a:srgbClr val="FBFAF7"/>
          </a:solidFill>
          <a:ln/>
        </p:spPr>
      </p:sp>
      <p:sp>
        <p:nvSpPr>
          <p:cNvPr id="30" name="Shape 23"/>
          <p:cNvSpPr/>
          <p:nvPr/>
        </p:nvSpPr>
        <p:spPr>
          <a:xfrm>
            <a:off x="7958634" y="3232051"/>
            <a:ext cx="3420566" cy="1473200"/>
          </a:xfrm>
          <a:custGeom>
            <a:avLst/>
            <a:gdLst/>
            <a:ahLst/>
            <a:cxnLst/>
            <a:rect l="l" t="t" r="r" b="b"/>
            <a:pathLst>
              <a:path w="3420566" h="1473200">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00697B"/>
          </a:solidFill>
          <a:ln/>
        </p:spPr>
      </p:sp>
      <p:pic>
        <p:nvPicPr>
          <p:cNvPr id="31" name="Image 5" descr="Key">    </p:cNvPr>
          <p:cNvPicPr>
            <a:picLocks noChangeAspect="1"/>
          </p:cNvPicPr>
          <p:nvPr/>
        </p:nvPicPr>
        <p:blipFill>
          <a:blip r:embed="rId6"/>
          <a:srcRect l="0" r="0" t="0" b="0"/>
          <a:stretch/>
        </p:blipFill>
        <p:spPr>
          <a:xfrm>
            <a:off x="8136434" y="3447951"/>
            <a:ext cx="279400" cy="279400"/>
          </a:xfrm>
          <a:prstGeom prst="rect">
            <a:avLst/>
          </a:prstGeom>
        </p:spPr>
      </p:pic>
      <p:sp>
        <p:nvSpPr>
          <p:cNvPr id="32" name="Text 24"/>
          <p:cNvSpPr/>
          <p:nvPr/>
        </p:nvSpPr>
        <p:spPr>
          <a:xfrm>
            <a:off x="8136434" y="3790851"/>
            <a:ext cx="31569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Admin access</a:t>
            </a:r>
            <a:endParaRPr lang="en-US" sz="1500" dirty="0"/>
          </a:p>
        </p:txBody>
      </p:sp>
      <p:sp>
        <p:nvSpPr>
          <p:cNvPr id="33" name="Text 25"/>
          <p:cNvSpPr/>
          <p:nvPr/>
        </p:nvSpPr>
        <p:spPr>
          <a:xfrm>
            <a:off x="8136434" y="4082951"/>
            <a:ext cx="315691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24C"/>
                </a:solidFill>
                <a:latin typeface="IBM Plex Sans" pitchFamily="34" charset="0"/>
                <a:ea typeface="IBM Plex Sans" pitchFamily="34" charset="-122"/>
                <a:cs typeface="IBM Plex Sans" pitchFamily="34" charset="-120"/>
              </a:rPr>
              <a:t>Can staff in another country see the data?</a:t>
            </a:r>
            <a:endParaRPr lang="en-US" sz="1250" dirty="0"/>
          </a:p>
        </p:txBody>
      </p:sp>
      <p:sp>
        <p:nvSpPr>
          <p:cNvPr id="34" name="Text 26"/>
          <p:cNvSpPr/>
          <p:nvPr/>
        </p:nvSpPr>
        <p:spPr>
          <a:xfrm>
            <a:off x="812800" y="4959251"/>
            <a:ext cx="10883392"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B424C"/>
                </a:solidFill>
                <a:latin typeface="IBM Plex Sans" pitchFamily="34" charset="0"/>
                <a:ea typeface="IBM Plex Sans" pitchFamily="34" charset="-122"/>
                <a:cs typeface="IBM Plex Sans" pitchFamily="34" charset="-120"/>
              </a:rPr>
              <a:t>In Foundry, </a:t>
            </a:r>
            <a:r>
              <a:rPr lang="en-US" sz="1300" b="1" dirty="0">
                <a:solidFill>
                  <a:srgbClr val="3B424C"/>
                </a:solidFill>
                <a:latin typeface="IBM Plex Sans" pitchFamily="34" charset="0"/>
                <a:ea typeface="IBM Plex Sans" pitchFamily="34" charset="-122"/>
                <a:cs typeface="IBM Plex Sans" pitchFamily="34" charset="-120"/>
              </a:rPr>
              <a:t>data at rest stays in the resource's Azure geography</a:t>
            </a:r>
            <a:r>
              <a:rPr lang="en-US" sz="1300" dirty="0">
                <a:solidFill>
                  <a:srgbClr val="3B424C"/>
                </a:solidFill>
                <a:latin typeface="IBM Plex Sans" pitchFamily="34" charset="0"/>
                <a:ea typeface="IBM Plex Sans" pitchFamily="34" charset="-122"/>
                <a:cs typeface="IBM Plex Sans" pitchFamily="34" charset="-120"/>
              </a:rPr>
              <a:t> for every deployment type. </a:t>
            </a:r>
            <a:r>
              <a:rPr lang="en-US" sz="1300" b="1" dirty="0">
                <a:solidFill>
                  <a:srgbClr val="3B424C"/>
                </a:solidFill>
                <a:latin typeface="IBM Plex Sans" pitchFamily="34" charset="0"/>
                <a:ea typeface="IBM Plex Sans" pitchFamily="34" charset="-122"/>
                <a:cs typeface="IBM Plex Sans" pitchFamily="34" charset="-120"/>
              </a:rPr>
              <a:t>Where inference runs</a:t>
            </a:r>
            <a:r>
              <a:rPr lang="en-US" sz="1300" dirty="0">
                <a:solidFill>
                  <a:srgbClr val="3B424C"/>
                </a:solidFill>
                <a:latin typeface="IBM Plex Sans" pitchFamily="34" charset="0"/>
                <a:ea typeface="IBM Plex Sans" pitchFamily="34" charset="-122"/>
                <a:cs typeface="IBM Plex Sans" pitchFamily="34" charset="-120"/>
              </a:rPr>
              <a:t> is what changes between types.</a:t>
            </a:r>
            <a:endParaRPr lang="en-US" sz="1300" dirty="0"/>
          </a:p>
        </p:txBody>
      </p:sp>
      <p:sp>
        <p:nvSpPr>
          <p:cNvPr id="35"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Residency is about location; sovereignty adds which laws and authorities can reach the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0697B"/>
                </a:solidFill>
                <a:latin typeface="JetBrains Mono" pitchFamily="49" charset="0"/>
                <a:ea typeface="JetBrains Mono" pitchFamily="49" charset="-122"/>
                <a:cs typeface="JetBrains Mono" pitchFamily="49" charset="-120"/>
              </a:rPr>
              <a:t>02 · FOUNDRY DEPLOYMENT TYPES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The deployment type decides where inference runs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01"/>
          <a:ext cx="10553700" cy="2873970"/>
        </p:xfrm>
        <a:graphic>
          <a:graphicData uri="http://schemas.openxmlformats.org/drawingml/2006/table">
            <a:tbl>
              <a:tblPr/>
              <a:tblGrid>
                <a:gridCol w="2321814"/>
                <a:gridCol w="2532888"/>
                <a:gridCol w="1688592"/>
                <a:gridCol w="4010406"/>
              </a:tblGrid>
              <a:tr h="332581">
                <a:tc>
                  <a:txBody>
                    <a:bodyPr/>
                    <a:lstStyle/>
                    <a:p>
                      <a:pPr indent="0" marL="0">
                        <a:lnSpc>
                          <a:spcPts val="1680"/>
                        </a:lnSpc>
                        <a:buNone/>
                      </a:pPr>
                      <a:r>
                        <a:rPr lang="en-US" sz="1200" b="1" dirty="0">
                          <a:solidFill>
                            <a:srgbClr val="14181F"/>
                          </a:solidFill>
                          <a:latin typeface="IBM Plex Sans" pitchFamily="34" charset="0"/>
                          <a:ea typeface="IBM Plex Sans" pitchFamily="34" charset="-122"/>
                          <a:cs typeface="IBM Plex Sans" pitchFamily="34" charset="-120"/>
                        </a:rPr>
                        <a:t>Deployment 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680"/>
                        </a:lnSpc>
                        <a:buNone/>
                      </a:pPr>
                      <a:r>
                        <a:rPr lang="en-US" sz="1200" b="1" dirty="0">
                          <a:solidFill>
                            <a:srgbClr val="14181F"/>
                          </a:solidFill>
                          <a:latin typeface="IBM Plex Sans" pitchFamily="34" charset="0"/>
                          <a:ea typeface="IBM Plex Sans" pitchFamily="34" charset="-122"/>
                          <a:cs typeface="IBM Plex Sans" pitchFamily="34" charset="-120"/>
                        </a:rPr>
                        <a:t>Where prompts are processed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680"/>
                        </a:lnSpc>
                        <a:buNone/>
                      </a:pPr>
                      <a:r>
                        <a:rPr lang="en-US" sz="1200" b="1" dirty="0">
                          <a:solidFill>
                            <a:srgbClr val="14181F"/>
                          </a:solidFill>
                          <a:latin typeface="IBM Plex Sans" pitchFamily="34" charset="0"/>
                          <a:ea typeface="IBM Plex Sans" pitchFamily="34" charset="-122"/>
                          <a:cs typeface="IBM Plex Sans" pitchFamily="34" charset="-120"/>
                        </a:rPr>
                        <a:t>Billing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1680"/>
                        </a:lnSpc>
                        <a:buNone/>
                      </a:pPr>
                      <a:r>
                        <a:rPr lang="en-US" sz="1200" b="1" dirty="0">
                          <a:solidFill>
                            <a:srgbClr val="14181F"/>
                          </a:solidFill>
                          <a:latin typeface="IBM Plex Sans" pitchFamily="34" charset="0"/>
                          <a:ea typeface="IBM Plex Sans" pitchFamily="34" charset="-122"/>
                          <a:cs typeface="IBM Plex Sans" pitchFamily="34" charset="-120"/>
                        </a:rPr>
                        <a:t>Use it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r>
              <a:tr h="545902">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Global Standard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Any Azure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Pay per 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Default start: highest quota, new models first, no residency limit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Global Provisioned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Any Azure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Reserved PTUs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Steady high volume, consistent latency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Global Batch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Any Azure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About 50% lower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Large async jobs, 24-hour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BCBC"/>
                      </a:solidFill>
                      <a:prstDash val="solid"/>
                      <a:round/>
                      <a:headEnd type="none" w="med" len="med"/>
                      <a:tailEnd type="none" w="med" len="med"/>
                    </a:lnL>
                    <a:lnR w="12700" cap="flat" cmpd="sng" algn="ctr">
                      <a:solidFill>
                        <a:srgbClr val="CABCBC"/>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CABCBC"/>
                      </a:solidFill>
                      <a:prstDash val="solid"/>
                      <a:round/>
                      <a:headEnd type="none" w="med" len="med"/>
                      <a:tailEnd type="none" w="med" len="med"/>
                    </a:lnB>
                    <a:solidFill>
                      <a:srgbClr val="FDECEC"/>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Data Zone Standard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Within the US, EU or APAC zone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Pay per 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Zone-level compliance with good quota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CABCBC"/>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Data Zone Provisioned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Within the zone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Reserved PTUs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Zone compliance plus predictable throughput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0C2"/>
                      </a:solidFill>
                      <a:prstDash val="solid"/>
                      <a:round/>
                      <a:headEnd type="none" w="med" len="med"/>
                      <a:tailEnd type="none" w="med" len="med"/>
                    </a:lnL>
                    <a:lnR w="12700" cap="flat" cmpd="sng" algn="ctr">
                      <a:solidFill>
                        <a:srgbClr val="B5C0C2"/>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5C0C2"/>
                      </a:solidFill>
                      <a:prstDash val="solid"/>
                      <a:round/>
                      <a:headEnd type="none" w="med" len="med"/>
                      <a:tailEnd type="none" w="med" len="med"/>
                    </a:lnB>
                    <a:solidFill>
                      <a:srgbClr val="E3F1F3"/>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Standard (regional)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Within the chosen geography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Pay per 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Geography compliance, low or bursty volume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5C0C2"/>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r>
              <a:tr h="332581">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Regional Provisioned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CBBB7"/>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Within the geography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CBBB7"/>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Reserved PTUs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CBBB7"/>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c>
                  <a:txBody>
                    <a:bodyPr/>
                    <a:lstStyle/>
                    <a:p>
                      <a:pPr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Geography compliance plus throughput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7"/>
                      </a:solidFill>
                      <a:prstDash val="solid"/>
                      <a:round/>
                      <a:headEnd type="none" w="med" len="med"/>
                      <a:tailEnd type="none" w="med" len="med"/>
                    </a:lnL>
                    <a:lnR w="12700" cap="flat" cmpd="sng" algn="ctr">
                      <a:solidFill>
                        <a:srgbClr val="BCBBB7"/>
                      </a:solidFill>
                      <a:prstDash val="solid"/>
                      <a:round/>
                      <a:headEnd type="none" w="med" len="med"/>
                      <a:tailEnd type="none" w="med" len="med"/>
                    </a:lnR>
                    <a:lnT w="12700" cap="flat" cmpd="sng" algn="ctr">
                      <a:solidFill>
                        <a:srgbClr val="BCBBB7"/>
                      </a:solidFill>
                      <a:prstDash val="solid"/>
                      <a:round/>
                      <a:headEnd type="none" w="med" len="med"/>
                      <a:tailEnd type="none" w="med" len="med"/>
                    </a:lnT>
                    <a:lnB w="12700" cap="flat" cmpd="sng" algn="ctr">
                      <a:solidFill>
                        <a:srgbClr val="BCBBB7"/>
                      </a:solidFill>
                      <a:prstDash val="solid"/>
                      <a:round/>
                      <a:headEnd type="none" w="med" len="med"/>
                      <a:tailEnd type="none" w="med" len="med"/>
                    </a:lnB>
                    <a:solidFill>
                      <a:srgbClr val="ECEAE5"/>
                    </a:solidFill>
                  </a:tcPr>
                </a:tc>
              </a:tr>
            </a:tbl>
          </a:graphicData>
        </a:graphic>
      </p:graphicFrame>
      <p:sp>
        <p:nvSpPr>
          <p:cNvPr id="5" name="Text 2"/>
          <p:cNvSpPr/>
          <p:nvPr/>
        </p:nvSpPr>
        <p:spPr>
          <a:xfrm>
            <a:off x="812800" y="4867771"/>
            <a:ext cx="10883392"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B424C"/>
                </a:solidFill>
                <a:latin typeface="IBM Plex Sans" pitchFamily="34" charset="0"/>
                <a:ea typeface="IBM Plex Sans" pitchFamily="34" charset="-122"/>
                <a:cs typeface="IBM Plex Sans" pitchFamily="34" charset="-120"/>
              </a:rPr>
              <a:t>For every type, </a:t>
            </a:r>
            <a:r>
              <a:rPr lang="en-US" sz="1300" b="1" dirty="0">
                <a:solidFill>
                  <a:srgbClr val="3B424C"/>
                </a:solidFill>
                <a:latin typeface="IBM Plex Sans" pitchFamily="34" charset="0"/>
                <a:ea typeface="IBM Plex Sans" pitchFamily="34" charset="-122"/>
                <a:cs typeface="IBM Plex Sans" pitchFamily="34" charset="-120"/>
              </a:rPr>
              <a:t>data at rest stays in the resource's geography</a:t>
            </a:r>
            <a:r>
              <a:rPr lang="en-US" sz="1300" dirty="0">
                <a:solidFill>
                  <a:srgbClr val="3B424C"/>
                </a:solidFill>
                <a:latin typeface="IBM Plex Sans" pitchFamily="34" charset="0"/>
                <a:ea typeface="IBM Plex Sans" pitchFamily="34" charset="-122"/>
                <a:cs typeface="IBM Plex Sans" pitchFamily="34" charset="-120"/>
              </a:rPr>
              <a:t>. New models usually arrive as Global first, then Data Zone, then regional.</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Source: Microsoft Learn, "Deployment types in Microsoft Foundry Models" (checked Oct 2026) · Data Zone Batch and Developer types not shown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070"/>
                </a:solidFill>
                <a:latin typeface="JetBrains Mono" pitchFamily="49" charset="0"/>
                <a:ea typeface="JetBrains Mono" pitchFamily="49" charset="-122"/>
                <a:cs typeface="JetBrains Mono" pitchFamily="49" charset="-120"/>
              </a:rPr>
              <a:t>02 · WATCH THE WORDING</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E"/>
                </a:solidFill>
                <a:latin typeface="IBM Plex Sans" pitchFamily="34" charset="0"/>
                <a:ea typeface="IBM Plex Sans" pitchFamily="34" charset="-122"/>
                <a:cs typeface="IBM Plex Sans" pitchFamily="34" charset="-120"/>
              </a:rPr>
              <a:t>"Global Standard" means two different things</a:t>
            </a:r>
            <a:endParaRPr lang="en-US" sz="3200" dirty="0"/>
          </a:p>
        </p:txBody>
      </p:sp>
      <p:sp>
        <p:nvSpPr>
          <p:cNvPr id="4" name="Shape 2"/>
          <p:cNvSpPr/>
          <p:nvPr/>
        </p:nvSpPr>
        <p:spPr>
          <a:xfrm>
            <a:off x="812800" y="1930301"/>
            <a:ext cx="5168900" cy="2535436"/>
          </a:xfrm>
          <a:prstGeom prst="roundRect">
            <a:avLst>
              <a:gd name="adj" fmla="val 4007"/>
            </a:avLst>
          </a:prstGeom>
          <a:solidFill>
            <a:srgbClr val="222831"/>
          </a:solidFill>
          <a:ln/>
        </p:spPr>
      </p:sp>
      <p:sp>
        <p:nvSpPr>
          <p:cNvPr id="5" name="Text 3"/>
          <p:cNvSpPr/>
          <p:nvPr/>
        </p:nvSpPr>
        <p:spPr>
          <a:xfrm>
            <a:off x="1092200" y="2209701"/>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0CA"/>
                </a:solidFill>
                <a:latin typeface="JetBrains Mono" pitchFamily="49" charset="0"/>
                <a:ea typeface="JetBrains Mono" pitchFamily="49" charset="-122"/>
                <a:cs typeface="JetBrains Mono" pitchFamily="49" charset="-120"/>
              </a:rPr>
              <a:t>ENTERPRISE ARCHITECTURE</a:t>
            </a:r>
            <a:endParaRPr lang="en-US" sz="1300" dirty="0"/>
          </a:p>
        </p:txBody>
      </p:sp>
      <p:sp>
        <p:nvSpPr>
          <p:cNvPr id="6" name="Text 4"/>
          <p:cNvSpPr/>
          <p:nvPr/>
        </p:nvSpPr>
        <p:spPr>
          <a:xfrm>
            <a:off x="1092200" y="256778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2EE"/>
                </a:solidFill>
                <a:latin typeface="IBM Plex Sans" pitchFamily="34" charset="0"/>
                <a:ea typeface="IBM Plex Sans" pitchFamily="34" charset="-122"/>
                <a:cs typeface="IBM Plex Sans" pitchFamily="34" charset="-120"/>
              </a:rPr>
              <a:t>A global standard</a:t>
            </a:r>
            <a:endParaRPr lang="en-US" sz="2000" dirty="0"/>
          </a:p>
        </p:txBody>
      </p:sp>
      <p:sp>
        <p:nvSpPr>
          <p:cNvPr id="7" name="Text 5"/>
          <p:cNvSpPr/>
          <p:nvPr/>
        </p:nvSpPr>
        <p:spPr>
          <a:xfrm>
            <a:off x="1092200" y="2999581"/>
            <a:ext cx="474840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4D9E0"/>
                </a:solidFill>
                <a:latin typeface="IBM Plex Sans" pitchFamily="34" charset="0"/>
                <a:ea typeface="IBM Plex Sans" pitchFamily="34" charset="-122"/>
                <a:cs typeface="IBM Plex Sans" pitchFamily="34" charset="-120"/>
              </a:rPr>
              <a:t>The same approved rules in every region: identity, security, IaC, monitoring. It can be deployed separately in each country.</a:t>
            </a:r>
            <a:endParaRPr lang="en-US" sz="1500" dirty="0"/>
          </a:p>
        </p:txBody>
      </p:sp>
      <p:sp>
        <p:nvSpPr>
          <p:cNvPr id="8" name="Text 6"/>
          <p:cNvSpPr/>
          <p:nvPr/>
        </p:nvSpPr>
        <p:spPr>
          <a:xfrm>
            <a:off x="1092200" y="3955256"/>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A4B0"/>
                </a:solidFill>
                <a:latin typeface="JetBrains Mono" pitchFamily="49" charset="0"/>
                <a:ea typeface="JetBrains Mono" pitchFamily="49" charset="-122"/>
                <a:cs typeface="JetBrains Mono" pitchFamily="49" charset="-120"/>
              </a:rPr>
              <a:t>= consistency</a:t>
            </a:r>
            <a:endParaRPr lang="en-US" sz="1300" dirty="0"/>
          </a:p>
        </p:txBody>
      </p:sp>
      <p:sp>
        <p:nvSpPr>
          <p:cNvPr id="9" name="Shape 7"/>
          <p:cNvSpPr/>
          <p:nvPr/>
        </p:nvSpPr>
        <p:spPr>
          <a:xfrm>
            <a:off x="6191250" y="1936651"/>
            <a:ext cx="5181600" cy="2522736"/>
          </a:xfrm>
          <a:prstGeom prst="roundRect">
            <a:avLst>
              <a:gd name="adj" fmla="val 3776"/>
            </a:avLst>
          </a:prstGeom>
          <a:solidFill>
            <a:srgbClr val="2A1B1E"/>
          </a:solidFill>
          <a:ln w="12700">
            <a:solidFill>
              <a:srgbClr val="E60000"/>
            </a:solidFill>
            <a:prstDash val="solid"/>
          </a:ln>
        </p:spPr>
      </p:sp>
      <p:sp>
        <p:nvSpPr>
          <p:cNvPr id="10" name="Text 8"/>
          <p:cNvSpPr/>
          <p:nvPr/>
        </p:nvSpPr>
        <p:spPr>
          <a:xfrm>
            <a:off x="6477000" y="2222401"/>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070"/>
                </a:solidFill>
                <a:latin typeface="JetBrains Mono" pitchFamily="49" charset="0"/>
                <a:ea typeface="JetBrains Mono" pitchFamily="49" charset="-122"/>
                <a:cs typeface="JetBrains Mono" pitchFamily="49" charset="-120"/>
              </a:rPr>
              <a:t>AZURE AI FOUNDRY</a:t>
            </a:r>
            <a:endParaRPr lang="en-US" sz="1300" dirty="0"/>
          </a:p>
        </p:txBody>
      </p:sp>
      <p:sp>
        <p:nvSpPr>
          <p:cNvPr id="11" name="Text 9"/>
          <p:cNvSpPr/>
          <p:nvPr/>
        </p:nvSpPr>
        <p:spPr>
          <a:xfrm>
            <a:off x="6477000" y="258048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2EE"/>
                </a:solidFill>
                <a:latin typeface="IBM Plex Sans" pitchFamily="34" charset="0"/>
                <a:ea typeface="IBM Plex Sans" pitchFamily="34" charset="-122"/>
                <a:cs typeface="IBM Plex Sans" pitchFamily="34" charset="-120"/>
              </a:rPr>
              <a:t>The Global Standard deployment</a:t>
            </a:r>
            <a:endParaRPr lang="en-US" sz="2000" dirty="0"/>
          </a:p>
        </p:txBody>
      </p:sp>
      <p:sp>
        <p:nvSpPr>
          <p:cNvPr id="12" name="Text 10"/>
          <p:cNvSpPr/>
          <p:nvPr/>
        </p:nvSpPr>
        <p:spPr>
          <a:xfrm>
            <a:off x="6477000" y="3012281"/>
            <a:ext cx="474840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4D9E0"/>
                </a:solidFill>
                <a:latin typeface="IBM Plex Sans" pitchFamily="34" charset="0"/>
                <a:ea typeface="IBM Plex Sans" pitchFamily="34" charset="-122"/>
                <a:cs typeface="IBM Plex Sans" pitchFamily="34" charset="-120"/>
              </a:rPr>
              <a:t>A pay-per-token model deployment whose prompts may be processed in any Azure region for capacity.</a:t>
            </a:r>
            <a:endParaRPr lang="en-US" sz="1500" dirty="0"/>
          </a:p>
        </p:txBody>
      </p:sp>
      <p:sp>
        <p:nvSpPr>
          <p:cNvPr id="13" name="Text 11"/>
          <p:cNvSpPr/>
          <p:nvPr/>
        </p:nvSpPr>
        <p:spPr>
          <a:xfrm>
            <a:off x="6477000" y="3691731"/>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070"/>
                </a:solidFill>
                <a:latin typeface="JetBrains Mono" pitchFamily="49" charset="0"/>
                <a:ea typeface="JetBrains Mono" pitchFamily="49" charset="-122"/>
                <a:cs typeface="JetBrains Mono" pitchFamily="49" charset="-120"/>
              </a:rPr>
              <a:t>= throughput, not residency</a:t>
            </a:r>
            <a:endParaRPr lang="en-US" sz="1300" dirty="0"/>
          </a:p>
        </p:txBody>
      </p:sp>
      <p:sp>
        <p:nvSpPr>
          <p:cNvPr id="14" name="Text 12"/>
          <p:cNvSpPr/>
          <p:nvPr/>
        </p:nvSpPr>
        <p:spPr>
          <a:xfrm>
            <a:off x="812800" y="4821337"/>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4F2EE"/>
                </a:solidFill>
                <a:latin typeface="IBM Plex Sans" pitchFamily="34" charset="0"/>
                <a:ea typeface="IBM Plex Sans" pitchFamily="34" charset="-122"/>
                <a:cs typeface="IBM Plex Sans" pitchFamily="34" charset="-120"/>
              </a:rPr>
              <a:t>Your enterprise global standard may </a:t>
            </a:r>
            <a:r>
              <a:rPr lang="en-US" sz="1500" b="1" dirty="0">
                <a:solidFill>
                  <a:srgbClr val="F4F2EE"/>
                </a:solidFill>
                <a:latin typeface="IBM Plex Sans" pitchFamily="34" charset="0"/>
                <a:ea typeface="IBM Plex Sans" pitchFamily="34" charset="-122"/>
                <a:cs typeface="IBM Plex Sans" pitchFamily="34" charset="-120"/>
              </a:rPr>
              <a:t>forbid</a:t>
            </a:r>
            <a:r>
              <a:rPr lang="en-US" sz="1500" dirty="0">
                <a:solidFill>
                  <a:srgbClr val="F4F2EE"/>
                </a:solidFill>
                <a:latin typeface="IBM Plex Sans" pitchFamily="34" charset="0"/>
                <a:ea typeface="IBM Plex Sans" pitchFamily="34" charset="-122"/>
                <a:cs typeface="IBM Plex Sans" pitchFamily="34" charset="-120"/>
              </a:rPr>
              <a:t> the Azure Global Standard deployment for restricted data.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260"/>
                </a:solidFill>
                <a:latin typeface="JetBrains Mono" pitchFamily="49" charset="0"/>
                <a:ea typeface="JetBrains Mono" pitchFamily="49" charset="-122"/>
                <a:cs typeface="JetBrains Mono" pitchFamily="49" charset="-120"/>
              </a:rPr>
              <a:t>02 · GLOBAL STANDARD = CONSISTENCY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One approved design, implemented in each region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980531"/>
        </p:xfrm>
        <a:graphic>
          <a:graphicData uri="http://schemas.openxmlformats.org/drawingml/2006/table">
            <a:tbl>
              <a:tblPr/>
              <a:tblGrid>
                <a:gridCol w="2321814"/>
                <a:gridCol w="4643628"/>
                <a:gridCol w="3588258"/>
              </a:tblGrid>
              <a:tr h="372566">
                <a:tc>
                  <a:txBody>
                    <a:bodyPr/>
                    <a:lstStyle/>
                    <a:p>
                      <a:pPr indent="0" marL="0">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Area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indent="0" marL="0">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Global standard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indent="0" marL="0">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For the AI chat app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Identity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Central identity, role-based access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Entra ID, role groups per region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Security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Encryption, least privilege, monitoring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Private endpoints, Key Vault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Networking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Approved segmentation and connectivity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Hub-and-spoke VNet per region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Deployment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Standard CI/CD and infrastructure as code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Same Bicep/Terraform modules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Observability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Common logs, metrics, dashboards, alerts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Token usage and 429 alerts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Resilience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Defined availability and recovery targets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Failover only to compliant regions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72566">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Data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Classification, retention, residency, transfer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90"/>
                        </a:lnSpc>
                        <a:buNone/>
                      </a:pPr>
                      <a:r>
                        <a:rPr lang="en-US" sz="1350" dirty="0">
                          <a:solidFill>
                            <a:srgbClr val="14181F"/>
                          </a:solidFill>
                          <a:latin typeface="IBM Plex Sans" pitchFamily="34" charset="0"/>
                          <a:ea typeface="IBM Plex Sans" pitchFamily="34" charset="-122"/>
                          <a:cs typeface="IBM Plex Sans" pitchFamily="34" charset="-120"/>
                        </a:rPr>
                        <a:t>Allowed deployment type per data class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The standard allows controlled local differences where law, service availability or business needs require them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03 · CHAT APP ARCHITECTURE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181F"/>
                </a:solidFill>
                <a:latin typeface="IBM Plex Sans" pitchFamily="34" charset="0"/>
                <a:ea typeface="IBM Plex Sans" pitchFamily="34" charset="-122"/>
                <a:cs typeface="IBM Plex Sans" pitchFamily="34" charset="-120"/>
              </a:rPr>
              <a:t>One orchestrator routes every request</a:t>
            </a:r>
            <a:endParaRPr lang="en-US" sz="3000" dirty="0"/>
          </a:p>
        </p:txBody>
      </p:sp>
      <p:pic>
        <p:nvPicPr>
          <p:cNvPr id="4" name="Image 0" descr="connector">    </p:cNvPr>
          <p:cNvPicPr>
            <a:picLocks noChangeAspect="1"/>
          </p:cNvPicPr>
          <p:nvPr/>
        </p:nvPicPr>
        <p:blipFill>
          <a:blip r:embed="rId1"/>
          <a:srcRect l="0" r="0" t="0" b="0"/>
          <a:stretch/>
        </p:blipFill>
        <p:spPr>
          <a:xfrm>
            <a:off x="1841500" y="2489200"/>
            <a:ext cx="101600" cy="355600"/>
          </a:xfrm>
          <a:prstGeom prst="rect">
            <a:avLst/>
          </a:prstGeom>
        </p:spPr>
      </p:pic>
      <p:pic>
        <p:nvPicPr>
          <p:cNvPr id="5" name="Image 1" descr="connector">    </p:cNvPr>
          <p:cNvPicPr>
            <a:picLocks noChangeAspect="1"/>
          </p:cNvPicPr>
          <p:nvPr/>
        </p:nvPicPr>
        <p:blipFill>
          <a:blip r:embed="rId2"/>
          <a:srcRect l="0" r="0" t="0" b="0"/>
          <a:stretch/>
        </p:blipFill>
        <p:spPr>
          <a:xfrm>
            <a:off x="1841500" y="3568700"/>
            <a:ext cx="101600" cy="355600"/>
          </a:xfrm>
          <a:prstGeom prst="rect">
            <a:avLst/>
          </a:prstGeom>
        </p:spPr>
      </p:pic>
      <p:pic>
        <p:nvPicPr>
          <p:cNvPr id="6" name="Image 2" descr="connector">    </p:cNvPr>
          <p:cNvPicPr>
            <a:picLocks noChangeAspect="1"/>
          </p:cNvPicPr>
          <p:nvPr/>
        </p:nvPicPr>
        <p:blipFill>
          <a:blip r:embed="rId3"/>
          <a:srcRect l="0" r="0" t="0" b="0"/>
          <a:stretch/>
        </p:blipFill>
        <p:spPr>
          <a:xfrm>
            <a:off x="2921000" y="4140200"/>
            <a:ext cx="558800" cy="101600"/>
          </a:xfrm>
          <a:prstGeom prst="rect">
            <a:avLst/>
          </a:prstGeom>
        </p:spPr>
      </p:pic>
      <p:pic>
        <p:nvPicPr>
          <p:cNvPr id="7" name="Image 3" descr="connector">    </p:cNvPr>
          <p:cNvPicPr>
            <a:picLocks noChangeAspect="1"/>
          </p:cNvPicPr>
          <p:nvPr/>
        </p:nvPicPr>
        <p:blipFill>
          <a:blip r:embed="rId4"/>
          <a:srcRect l="0" r="0" t="0" b="0"/>
          <a:stretch/>
        </p:blipFill>
        <p:spPr>
          <a:xfrm>
            <a:off x="5918200" y="2235200"/>
            <a:ext cx="863600" cy="482600"/>
          </a:xfrm>
          <a:prstGeom prst="rect">
            <a:avLst/>
          </a:prstGeom>
        </p:spPr>
      </p:pic>
      <p:pic>
        <p:nvPicPr>
          <p:cNvPr id="8" name="Image 4" descr="connector">    </p:cNvPr>
          <p:cNvPicPr>
            <a:picLocks noChangeAspect="1"/>
          </p:cNvPicPr>
          <p:nvPr/>
        </p:nvPicPr>
        <p:blipFill>
          <a:blip r:embed="rId5"/>
          <a:srcRect l="0" r="0" t="0" b="0"/>
          <a:stretch/>
        </p:blipFill>
        <p:spPr>
          <a:xfrm>
            <a:off x="5918200" y="3124200"/>
            <a:ext cx="863600" cy="101600"/>
          </a:xfrm>
          <a:prstGeom prst="rect">
            <a:avLst/>
          </a:prstGeom>
        </p:spPr>
      </p:pic>
      <p:pic>
        <p:nvPicPr>
          <p:cNvPr id="9" name="Image 5" descr="connector">    </p:cNvPr>
          <p:cNvPicPr>
            <a:picLocks noChangeAspect="1"/>
          </p:cNvPicPr>
          <p:nvPr/>
        </p:nvPicPr>
        <p:blipFill>
          <a:blip r:embed="rId6"/>
          <a:srcRect l="0" r="0" t="0" b="0"/>
          <a:stretch/>
        </p:blipFill>
        <p:spPr>
          <a:xfrm>
            <a:off x="5918200" y="3759200"/>
            <a:ext cx="863600" cy="292100"/>
          </a:xfrm>
          <a:prstGeom prst="rect">
            <a:avLst/>
          </a:prstGeom>
        </p:spPr>
      </p:pic>
      <p:pic>
        <p:nvPicPr>
          <p:cNvPr id="10" name="Image 6" descr="connector">    </p:cNvPr>
          <p:cNvPicPr>
            <a:picLocks noChangeAspect="1"/>
          </p:cNvPicPr>
          <p:nvPr/>
        </p:nvPicPr>
        <p:blipFill>
          <a:blip r:embed="rId7"/>
          <a:srcRect l="0" r="0" t="0" b="0"/>
          <a:stretch/>
        </p:blipFill>
        <p:spPr>
          <a:xfrm>
            <a:off x="5918200" y="4203700"/>
            <a:ext cx="863600" cy="609600"/>
          </a:xfrm>
          <a:prstGeom prst="rect">
            <a:avLst/>
          </a:prstGeom>
        </p:spPr>
      </p:pic>
      <p:pic>
        <p:nvPicPr>
          <p:cNvPr id="11" name="Image 7" descr="connector">    </p:cNvPr>
          <p:cNvPicPr>
            <a:picLocks noChangeAspect="1"/>
          </p:cNvPicPr>
          <p:nvPr/>
        </p:nvPicPr>
        <p:blipFill>
          <a:blip r:embed="rId8"/>
          <a:srcRect l="0" r="0" t="0" b="0"/>
          <a:stretch/>
        </p:blipFill>
        <p:spPr>
          <a:xfrm>
            <a:off x="9093200" y="3124200"/>
            <a:ext cx="355600" cy="101600"/>
          </a:xfrm>
          <a:prstGeom prst="rect">
            <a:avLst/>
          </a:prstGeom>
        </p:spPr>
      </p:pic>
      <p:sp>
        <p:nvSpPr>
          <p:cNvPr id="12" name="Shape 2"/>
          <p:cNvSpPr/>
          <p:nvPr/>
        </p:nvSpPr>
        <p:spPr>
          <a:xfrm>
            <a:off x="819150" y="1911350"/>
            <a:ext cx="2146300" cy="622300"/>
          </a:xfrm>
          <a:prstGeom prst="roundRect">
            <a:avLst>
              <a:gd name="adj" fmla="val 11224"/>
            </a:avLst>
          </a:prstGeom>
          <a:solidFill>
            <a:srgbClr val="F1EEE8"/>
          </a:solidFill>
          <a:ln w="12700">
            <a:solidFill>
              <a:srgbClr val="C9C4BB"/>
            </a:solidFill>
            <a:prstDash val="solid"/>
          </a:ln>
        </p:spPr>
      </p:sp>
      <p:sp>
        <p:nvSpPr>
          <p:cNvPr id="13" name="Text 3"/>
          <p:cNvSpPr/>
          <p:nvPr/>
        </p:nvSpPr>
        <p:spPr>
          <a:xfrm>
            <a:off x="952500" y="2019300"/>
            <a:ext cx="1935988" cy="223441"/>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4181F"/>
                </a:solidFill>
                <a:latin typeface="IBM Plex Sans" pitchFamily="34" charset="0"/>
                <a:ea typeface="IBM Plex Sans" pitchFamily="34" charset="-122"/>
                <a:cs typeface="IBM Plex Sans" pitchFamily="34" charset="-120"/>
              </a:rPr>
              <a:t>Pilot users</a:t>
            </a:r>
            <a:endParaRPr lang="en-US" sz="1121" dirty="0"/>
          </a:p>
        </p:txBody>
      </p:sp>
      <p:sp>
        <p:nvSpPr>
          <p:cNvPr id="14" name="Text 4"/>
          <p:cNvSpPr/>
          <p:nvPr/>
        </p:nvSpPr>
        <p:spPr>
          <a:xfrm>
            <a:off x="952500" y="2242741"/>
            <a:ext cx="1935988" cy="208359"/>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B424C"/>
                </a:solidFill>
                <a:latin typeface="IBM Plex Sans" pitchFamily="34" charset="0"/>
                <a:ea typeface="IBM Plex Sans" pitchFamily="34" charset="-122"/>
                <a:cs typeface="IBM Plex Sans" pitchFamily="34" charset="-120"/>
              </a:rPr>
              <a:t>QA, IT, business</a:t>
            </a:r>
            <a:endParaRPr lang="en-US" sz="1050" dirty="0"/>
          </a:p>
        </p:txBody>
      </p:sp>
      <p:sp>
        <p:nvSpPr>
          <p:cNvPr id="15" name="Shape 5"/>
          <p:cNvSpPr/>
          <p:nvPr/>
        </p:nvSpPr>
        <p:spPr>
          <a:xfrm>
            <a:off x="819150" y="2800350"/>
            <a:ext cx="2146300" cy="812800"/>
          </a:xfrm>
          <a:prstGeom prst="roundRect">
            <a:avLst>
              <a:gd name="adj" fmla="val 8594"/>
            </a:avLst>
          </a:prstGeom>
          <a:solidFill>
            <a:srgbClr val="F1EEE8"/>
          </a:solidFill>
          <a:ln w="12700">
            <a:solidFill>
              <a:srgbClr val="C9C4BB"/>
            </a:solidFill>
            <a:prstDash val="solid"/>
          </a:ln>
        </p:spPr>
      </p:sp>
      <p:sp>
        <p:nvSpPr>
          <p:cNvPr id="16" name="Text 6"/>
          <p:cNvSpPr/>
          <p:nvPr/>
        </p:nvSpPr>
        <p:spPr>
          <a:xfrm>
            <a:off x="952500" y="2908300"/>
            <a:ext cx="193598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Web chat UI</a:t>
            </a:r>
            <a:endParaRPr lang="en-US" sz="1300" dirty="0"/>
          </a:p>
        </p:txBody>
      </p:sp>
      <p:sp>
        <p:nvSpPr>
          <p:cNvPr id="17" name="Text 7"/>
          <p:cNvSpPr/>
          <p:nvPr/>
        </p:nvSpPr>
        <p:spPr>
          <a:xfrm>
            <a:off x="952500" y="3164780"/>
            <a:ext cx="19359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Entra ID sign-in and roles</a:t>
            </a:r>
            <a:endParaRPr lang="en-US" sz="1200" dirty="0"/>
          </a:p>
        </p:txBody>
      </p:sp>
      <p:sp>
        <p:nvSpPr>
          <p:cNvPr id="18" name="Shape 8"/>
          <p:cNvSpPr/>
          <p:nvPr/>
        </p:nvSpPr>
        <p:spPr>
          <a:xfrm>
            <a:off x="819150" y="3879850"/>
            <a:ext cx="2146300" cy="622300"/>
          </a:xfrm>
          <a:prstGeom prst="roundRect">
            <a:avLst>
              <a:gd name="adj" fmla="val 11224"/>
            </a:avLst>
          </a:prstGeom>
          <a:solidFill>
            <a:srgbClr val="F1EEE8"/>
          </a:solidFill>
          <a:ln w="12700">
            <a:solidFill>
              <a:srgbClr val="C9C4BB"/>
            </a:solidFill>
            <a:prstDash val="solid"/>
          </a:ln>
        </p:spPr>
      </p:sp>
      <p:sp>
        <p:nvSpPr>
          <p:cNvPr id="19" name="Text 9"/>
          <p:cNvSpPr/>
          <p:nvPr/>
        </p:nvSpPr>
        <p:spPr>
          <a:xfrm>
            <a:off x="952500" y="3987800"/>
            <a:ext cx="1935988" cy="223441"/>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4181F"/>
                </a:solidFill>
                <a:latin typeface="IBM Plex Sans" pitchFamily="34" charset="0"/>
                <a:ea typeface="IBM Plex Sans" pitchFamily="34" charset="-122"/>
                <a:cs typeface="IBM Plex Sans" pitchFamily="34" charset="-120"/>
              </a:rPr>
              <a:t>API Management</a:t>
            </a:r>
            <a:endParaRPr lang="en-US" sz="1121" dirty="0"/>
          </a:p>
        </p:txBody>
      </p:sp>
      <p:sp>
        <p:nvSpPr>
          <p:cNvPr id="20" name="Text 10"/>
          <p:cNvSpPr/>
          <p:nvPr/>
        </p:nvSpPr>
        <p:spPr>
          <a:xfrm>
            <a:off x="952500" y="4211241"/>
            <a:ext cx="1935988" cy="208359"/>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B424C"/>
                </a:solidFill>
                <a:latin typeface="IBM Plex Sans" pitchFamily="34" charset="0"/>
                <a:ea typeface="IBM Plex Sans" pitchFamily="34" charset="-122"/>
                <a:cs typeface="IBM Plex Sans" pitchFamily="34" charset="-120"/>
              </a:rPr>
              <a:t>Auth, quotas, routing</a:t>
            </a:r>
            <a:endParaRPr lang="en-US" sz="1050" dirty="0"/>
          </a:p>
        </p:txBody>
      </p:sp>
      <p:sp>
        <p:nvSpPr>
          <p:cNvPr id="21" name="Shape 11"/>
          <p:cNvSpPr/>
          <p:nvPr/>
        </p:nvSpPr>
        <p:spPr>
          <a:xfrm>
            <a:off x="3438525" y="2359025"/>
            <a:ext cx="2520950" cy="2076450"/>
          </a:xfrm>
          <a:prstGeom prst="roundRect">
            <a:avLst>
              <a:gd name="adj" fmla="val 4434"/>
            </a:avLst>
          </a:prstGeom>
          <a:solidFill>
            <a:srgbClr val="FDECEC"/>
          </a:solidFill>
          <a:ln w="19050">
            <a:solidFill>
              <a:srgbClr val="E60000"/>
            </a:solidFill>
            <a:prstDash val="solid"/>
          </a:ln>
        </p:spPr>
      </p:sp>
      <p:sp>
        <p:nvSpPr>
          <p:cNvPr id="22" name="Text 12"/>
          <p:cNvSpPr/>
          <p:nvPr/>
        </p:nvSpPr>
        <p:spPr>
          <a:xfrm>
            <a:off x="3600450" y="2520950"/>
            <a:ext cx="226301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1F"/>
                </a:solidFill>
                <a:latin typeface="IBM Plex Sans" pitchFamily="34" charset="0"/>
                <a:ea typeface="IBM Plex Sans" pitchFamily="34" charset="-122"/>
                <a:cs typeface="IBM Plex Sans" pitchFamily="34" charset="-120"/>
              </a:rPr>
              <a:t>Orchestrator</a:t>
            </a:r>
            <a:endParaRPr lang="en-US" sz="1400" dirty="0"/>
          </a:p>
        </p:txBody>
      </p:sp>
      <p:sp>
        <p:nvSpPr>
          <p:cNvPr id="23" name="Text 13"/>
          <p:cNvSpPr/>
          <p:nvPr/>
        </p:nvSpPr>
        <p:spPr>
          <a:xfrm>
            <a:off x="3600450" y="2820591"/>
            <a:ext cx="2349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Container Apps · Foundry agent</a:t>
            </a:r>
            <a:endParaRPr lang="en-US" sz="1200" dirty="0"/>
          </a:p>
        </p:txBody>
      </p:sp>
      <p:sp>
        <p:nvSpPr>
          <p:cNvPr id="24" name="Text 14"/>
          <p:cNvSpPr/>
          <p:nvPr/>
        </p:nvSpPr>
        <p:spPr>
          <a:xfrm>
            <a:off x="3600450" y="3084711"/>
            <a:ext cx="2263013"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181F"/>
                </a:solidFill>
                <a:latin typeface="JetBrains Mono" pitchFamily="49" charset="0"/>
                <a:ea typeface="JetBrains Mono" pitchFamily="49" charset="-122"/>
                <a:cs typeface="JetBrains Mono" pitchFamily="49" charset="-120"/>
              </a:rPr>
              <a:t>1 classify intent</a:t>
            </a:r>
            <a:endParaRPr lang="en-US" sz="1200" dirty="0"/>
          </a:p>
          <a:p>
            <a:pPr algn="l" indent="0" marL="0">
              <a:lnSpc>
                <a:spcPts val="1740"/>
              </a:lnSpc>
              <a:buNone/>
            </a:pPr>
            <a:r>
              <a:rPr lang="en-US" sz="1200" dirty="0">
                <a:solidFill>
                  <a:srgbClr val="14181F"/>
                </a:solidFill>
                <a:latin typeface="JetBrains Mono" pitchFamily="49" charset="0"/>
                <a:ea typeface="JetBrains Mono" pitchFamily="49" charset="-122"/>
                <a:cs typeface="JetBrains Mono" pitchFamily="49" charset="-120"/>
              </a:rPr>
              <a:t>2 retrieve + prompt</a:t>
            </a:r>
            <a:endParaRPr lang="en-US" sz="1200" dirty="0"/>
          </a:p>
          <a:p>
            <a:pPr algn="l" indent="0" marL="0">
              <a:lnSpc>
                <a:spcPts val="1740"/>
              </a:lnSpc>
              <a:buNone/>
            </a:pPr>
            <a:r>
              <a:rPr lang="en-US" sz="1200" dirty="0">
                <a:solidFill>
                  <a:srgbClr val="14181F"/>
                </a:solidFill>
                <a:latin typeface="JetBrains Mono" pitchFamily="49" charset="0"/>
                <a:ea typeface="JetBrains Mono" pitchFamily="49" charset="-122"/>
                <a:cs typeface="JetBrains Mono" pitchFamily="49" charset="-120"/>
              </a:rPr>
              <a:t>3 safety checks</a:t>
            </a:r>
            <a:endParaRPr lang="en-US" sz="1200" dirty="0"/>
          </a:p>
          <a:p>
            <a:pPr algn="l" indent="0" marL="0">
              <a:lnSpc>
                <a:spcPts val="1740"/>
              </a:lnSpc>
              <a:buNone/>
            </a:pPr>
            <a:r>
              <a:rPr lang="en-US" sz="1200" dirty="0">
                <a:solidFill>
                  <a:srgbClr val="14181F"/>
                </a:solidFill>
                <a:latin typeface="JetBrains Mono" pitchFamily="49" charset="0"/>
                <a:ea typeface="JetBrains Mono" pitchFamily="49" charset="-122"/>
                <a:cs typeface="JetBrains Mono" pitchFamily="49" charset="-120"/>
              </a:rPr>
              <a:t>4 call model/tool</a:t>
            </a:r>
            <a:endParaRPr lang="en-US" sz="1200" dirty="0"/>
          </a:p>
          <a:p>
            <a:pPr algn="l" indent="0" marL="0">
              <a:lnSpc>
                <a:spcPts val="1740"/>
              </a:lnSpc>
              <a:buNone/>
            </a:pPr>
            <a:r>
              <a:rPr lang="en-US" sz="1200" dirty="0">
                <a:solidFill>
                  <a:srgbClr val="14181F"/>
                </a:solidFill>
                <a:latin typeface="JetBrains Mono" pitchFamily="49" charset="0"/>
                <a:ea typeface="JetBrains Mono" pitchFamily="49" charset="-122"/>
                <a:cs typeface="JetBrains Mono" pitchFamily="49" charset="-120"/>
              </a:rPr>
              <a:t>5 cite, log, return</a:t>
            </a:r>
            <a:endParaRPr lang="en-US" sz="1200" dirty="0"/>
          </a:p>
        </p:txBody>
      </p:sp>
      <p:sp>
        <p:nvSpPr>
          <p:cNvPr id="25" name="Shape 15"/>
          <p:cNvSpPr/>
          <p:nvPr/>
        </p:nvSpPr>
        <p:spPr>
          <a:xfrm>
            <a:off x="6731000" y="1905000"/>
            <a:ext cx="2413000" cy="698500"/>
          </a:xfrm>
          <a:prstGeom prst="roundRect">
            <a:avLst>
              <a:gd name="adj" fmla="val 10909"/>
            </a:avLst>
          </a:prstGeom>
          <a:solidFill>
            <a:srgbClr val="14181F"/>
          </a:solidFill>
          <a:ln/>
        </p:spPr>
      </p:sp>
      <p:sp>
        <p:nvSpPr>
          <p:cNvPr id="26" name="Text 16"/>
          <p:cNvSpPr/>
          <p:nvPr/>
        </p:nvSpPr>
        <p:spPr>
          <a:xfrm>
            <a:off x="6858000" y="2006600"/>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2EE"/>
                </a:solidFill>
                <a:latin typeface="IBM Plex Sans" pitchFamily="34" charset="0"/>
                <a:ea typeface="IBM Plex Sans" pitchFamily="34" charset="-122"/>
                <a:cs typeface="IBM Plex Sans" pitchFamily="34" charset="-120"/>
              </a:rPr>
              <a:t>GPT-5 deployment</a:t>
            </a:r>
            <a:endParaRPr lang="en-US" sz="1300" dirty="0"/>
          </a:p>
        </p:txBody>
      </p:sp>
      <p:sp>
        <p:nvSpPr>
          <p:cNvPr id="27" name="Text 17"/>
          <p:cNvSpPr/>
          <p:nvPr/>
        </p:nvSpPr>
        <p:spPr>
          <a:xfrm>
            <a:off x="6858000" y="22630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Responses API · text, tools</a:t>
            </a:r>
            <a:endParaRPr lang="en-US" sz="1200" dirty="0"/>
          </a:p>
        </p:txBody>
      </p:sp>
      <p:sp>
        <p:nvSpPr>
          <p:cNvPr id="28" name="Shape 18"/>
          <p:cNvSpPr/>
          <p:nvPr/>
        </p:nvSpPr>
        <p:spPr>
          <a:xfrm>
            <a:off x="6731000" y="2825750"/>
            <a:ext cx="2413000" cy="698500"/>
          </a:xfrm>
          <a:prstGeom prst="roundRect">
            <a:avLst>
              <a:gd name="adj" fmla="val 10909"/>
            </a:avLst>
          </a:prstGeom>
          <a:solidFill>
            <a:srgbClr val="14181F"/>
          </a:solidFill>
          <a:ln/>
        </p:spPr>
      </p:sp>
      <p:sp>
        <p:nvSpPr>
          <p:cNvPr id="29" name="Text 19"/>
          <p:cNvSpPr/>
          <p:nvPr/>
        </p:nvSpPr>
        <p:spPr>
          <a:xfrm>
            <a:off x="6858000" y="2927350"/>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2EE"/>
                </a:solidFill>
                <a:latin typeface="IBM Plex Sans" pitchFamily="34" charset="0"/>
                <a:ea typeface="IBM Plex Sans" pitchFamily="34" charset="-122"/>
                <a:cs typeface="IBM Plex Sans" pitchFamily="34" charset="-120"/>
              </a:rPr>
              <a:t>gpt-image-2 deployment</a:t>
            </a:r>
            <a:endParaRPr lang="en-US" sz="1300" dirty="0"/>
          </a:p>
        </p:txBody>
      </p:sp>
      <p:sp>
        <p:nvSpPr>
          <p:cNvPr id="30" name="Text 20"/>
          <p:cNvSpPr/>
          <p:nvPr/>
        </p:nvSpPr>
        <p:spPr>
          <a:xfrm>
            <a:off x="6858000" y="318383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Images API · generate, edit</a:t>
            </a:r>
            <a:endParaRPr lang="en-US" sz="1200" dirty="0"/>
          </a:p>
        </p:txBody>
      </p:sp>
      <p:sp>
        <p:nvSpPr>
          <p:cNvPr id="31" name="Shape 21"/>
          <p:cNvSpPr/>
          <p:nvPr/>
        </p:nvSpPr>
        <p:spPr>
          <a:xfrm>
            <a:off x="6737350" y="3689350"/>
            <a:ext cx="2400300" cy="622300"/>
          </a:xfrm>
          <a:prstGeom prst="roundRect">
            <a:avLst>
              <a:gd name="adj" fmla="val 11224"/>
            </a:avLst>
          </a:prstGeom>
          <a:solidFill>
            <a:srgbClr val="E3F1F3"/>
          </a:solidFill>
          <a:ln w="12700">
            <a:solidFill>
              <a:srgbClr val="00697B"/>
            </a:solidFill>
            <a:prstDash val="solid"/>
          </a:ln>
        </p:spPr>
      </p:sp>
      <p:sp>
        <p:nvSpPr>
          <p:cNvPr id="32" name="Text 22"/>
          <p:cNvSpPr/>
          <p:nvPr/>
        </p:nvSpPr>
        <p:spPr>
          <a:xfrm>
            <a:off x="6870700" y="3797300"/>
            <a:ext cx="2197608" cy="223441"/>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4181F"/>
                </a:solidFill>
                <a:latin typeface="IBM Plex Sans" pitchFamily="34" charset="0"/>
                <a:ea typeface="IBM Plex Sans" pitchFamily="34" charset="-122"/>
                <a:cs typeface="IBM Plex Sans" pitchFamily="34" charset="-120"/>
              </a:rPr>
              <a:t>Foundry IQ · AI Search</a:t>
            </a:r>
            <a:endParaRPr lang="en-US" sz="1121" dirty="0"/>
          </a:p>
        </p:txBody>
      </p:sp>
      <p:sp>
        <p:nvSpPr>
          <p:cNvPr id="33" name="Text 23"/>
          <p:cNvSpPr/>
          <p:nvPr/>
        </p:nvSpPr>
        <p:spPr>
          <a:xfrm>
            <a:off x="6870700" y="4020741"/>
            <a:ext cx="2197608" cy="208359"/>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B424C"/>
                </a:solidFill>
                <a:latin typeface="IBM Plex Sans" pitchFamily="34" charset="0"/>
                <a:ea typeface="IBM Plex Sans" pitchFamily="34" charset="-122"/>
                <a:cs typeface="IBM Plex Sans" pitchFamily="34" charset="-120"/>
              </a:rPr>
              <a:t>Grounding and citations</a:t>
            </a:r>
            <a:endParaRPr lang="en-US" sz="1050" dirty="0"/>
          </a:p>
        </p:txBody>
      </p:sp>
      <p:sp>
        <p:nvSpPr>
          <p:cNvPr id="34" name="Shape 24"/>
          <p:cNvSpPr/>
          <p:nvPr/>
        </p:nvSpPr>
        <p:spPr>
          <a:xfrm>
            <a:off x="6737350" y="4451350"/>
            <a:ext cx="2400300" cy="622300"/>
          </a:xfrm>
          <a:prstGeom prst="roundRect">
            <a:avLst>
              <a:gd name="adj" fmla="val 11224"/>
            </a:avLst>
          </a:prstGeom>
          <a:solidFill>
            <a:srgbClr val="E3F1F3"/>
          </a:solidFill>
          <a:ln w="12700">
            <a:solidFill>
              <a:srgbClr val="00697B"/>
            </a:solidFill>
            <a:prstDash val="solid"/>
          </a:ln>
        </p:spPr>
      </p:sp>
      <p:sp>
        <p:nvSpPr>
          <p:cNvPr id="35" name="Text 25"/>
          <p:cNvSpPr/>
          <p:nvPr/>
        </p:nvSpPr>
        <p:spPr>
          <a:xfrm>
            <a:off x="6870700" y="4559300"/>
            <a:ext cx="2197608" cy="223441"/>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4181F"/>
                </a:solidFill>
                <a:latin typeface="IBM Plex Sans" pitchFamily="34" charset="0"/>
                <a:ea typeface="IBM Plex Sans" pitchFamily="34" charset="-122"/>
                <a:cs typeface="IBM Plex Sans" pitchFamily="34" charset="-120"/>
              </a:rPr>
              <a:t>MCP read-only tools</a:t>
            </a:r>
            <a:endParaRPr lang="en-US" sz="1121" dirty="0"/>
          </a:p>
        </p:txBody>
      </p:sp>
      <p:sp>
        <p:nvSpPr>
          <p:cNvPr id="36" name="Text 26"/>
          <p:cNvSpPr/>
          <p:nvPr/>
        </p:nvSpPr>
        <p:spPr>
          <a:xfrm>
            <a:off x="6870700" y="4782741"/>
            <a:ext cx="2197608" cy="208359"/>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B424C"/>
                </a:solidFill>
                <a:latin typeface="IBM Plex Sans" pitchFamily="34" charset="0"/>
                <a:ea typeface="IBM Plex Sans" pitchFamily="34" charset="-122"/>
                <a:cs typeface="IBM Plex Sans" pitchFamily="34" charset="-120"/>
              </a:rPr>
              <a:t>SAP · Oracle · QA systems</a:t>
            </a:r>
            <a:endParaRPr lang="en-US" sz="1050" dirty="0"/>
          </a:p>
        </p:txBody>
      </p:sp>
      <p:sp>
        <p:nvSpPr>
          <p:cNvPr id="37" name="Shape 27"/>
          <p:cNvSpPr/>
          <p:nvPr/>
        </p:nvSpPr>
        <p:spPr>
          <a:xfrm>
            <a:off x="9404350" y="2736850"/>
            <a:ext cx="1968500" cy="1066800"/>
          </a:xfrm>
          <a:prstGeom prst="roundRect">
            <a:avLst>
              <a:gd name="adj" fmla="val 6548"/>
            </a:avLst>
          </a:prstGeom>
          <a:solidFill>
            <a:srgbClr val="F1EEE8"/>
          </a:solidFill>
          <a:ln w="12700">
            <a:solidFill>
              <a:srgbClr val="9BA4B0"/>
            </a:solidFill>
            <a:prstDash val="dash"/>
          </a:ln>
        </p:spPr>
      </p:sp>
      <p:sp>
        <p:nvSpPr>
          <p:cNvPr id="38" name="Text 28"/>
          <p:cNvSpPr/>
          <p:nvPr/>
        </p:nvSpPr>
        <p:spPr>
          <a:xfrm>
            <a:off x="9537700" y="2844800"/>
            <a:ext cx="175285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Blob Storage</a:t>
            </a:r>
            <a:endParaRPr lang="en-US" sz="1300" dirty="0"/>
          </a:p>
        </p:txBody>
      </p:sp>
      <p:sp>
        <p:nvSpPr>
          <p:cNvPr id="39" name="Text 29"/>
          <p:cNvSpPr/>
          <p:nvPr/>
        </p:nvSpPr>
        <p:spPr>
          <a:xfrm>
            <a:off x="9537700" y="3101280"/>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Images kept in region, shared by SAS link</a:t>
            </a:r>
            <a:endParaRPr lang="en-US" sz="1200" dirty="0"/>
          </a:p>
        </p:txBody>
      </p:sp>
      <p:sp>
        <p:nvSpPr>
          <p:cNvPr id="40" name="Text 30"/>
          <p:cNvSpPr/>
          <p:nvPr/>
        </p:nvSpPr>
        <p:spPr>
          <a:xfrm>
            <a:off x="812800" y="5270500"/>
            <a:ext cx="10566400" cy="508000"/>
          </a:xfrm>
          <a:prstGeom prst="roundRect">
            <a:avLst>
              <a:gd name="adj" fmla="val 15000"/>
            </a:avLst>
          </a:prstGeom>
          <a:solidFill>
            <a:srgbClr val="E8E5DF"/>
          </a:solidFill>
          <a:ln/>
        </p:spPr>
        <p:txBody>
          <a:bodyPr wrap="square" lIns="155482" tIns="79282" rIns="155482" bIns="79282" rtlCol="0" anchor="ctr">
            <a:normAutofit/>
          </a:bodyPr>
          <a:lstStyle/>
          <a:p>
            <a:pPr algn="l" indent="0" marL="0">
              <a:lnSpc>
                <a:spcPts val="1680"/>
              </a:lnSpc>
              <a:buNone/>
            </a:pPr>
            <a:r>
              <a:rPr lang="en-US" sz="1200" b="1" dirty="0">
                <a:solidFill>
                  <a:srgbClr val="3B424C"/>
                </a:solidFill>
                <a:latin typeface="IBM Plex Sans" pitchFamily="34" charset="0"/>
                <a:ea typeface="IBM Plex Sans" pitchFamily="34" charset="-122"/>
                <a:cs typeface="IBM Plex Sans" pitchFamily="34" charset="-120"/>
              </a:rPr>
              <a:t>Platform in every region:</a:t>
            </a:r>
            <a:r>
              <a:rPr lang="en-US" sz="1200" dirty="0">
                <a:solidFill>
                  <a:srgbClr val="3B424C"/>
                </a:solidFill>
                <a:latin typeface="IBM Plex Sans" pitchFamily="34" charset="0"/>
                <a:ea typeface="IBM Plex Sans" pitchFamily="34" charset="-122"/>
                <a:cs typeface="IBM Plex Sans" pitchFamily="34" charset="-120"/>
              </a:rPr>
              <a:t> Key Vault · private endpoints · Cosmos DB (chat history, audit) · Azure Monitor (tokens, latency, 429s)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03 · HOW GPT-5 ANSWERS A TEXT QUESTION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Six steps from question to cited answer</a:t>
            </a:r>
            <a:endParaRPr lang="en-US" sz="3200" dirty="0"/>
          </a:p>
        </p:txBody>
      </p:sp>
      <p:sp>
        <p:nvSpPr>
          <p:cNvPr id="4" name="Shape 2"/>
          <p:cNvSpPr/>
          <p:nvPr/>
        </p:nvSpPr>
        <p:spPr>
          <a:xfrm>
            <a:off x="812800" y="1828701"/>
            <a:ext cx="3420467" cy="1603375"/>
          </a:xfrm>
          <a:prstGeom prst="roundRect">
            <a:avLst>
              <a:gd name="adj" fmla="val 6337"/>
            </a:avLst>
          </a:prstGeom>
          <a:solidFill>
            <a:srgbClr val="FBFAF7"/>
          </a:solidFill>
          <a:ln/>
        </p:spPr>
      </p:sp>
      <p:sp>
        <p:nvSpPr>
          <p:cNvPr id="5" name="Text 3"/>
          <p:cNvSpPr/>
          <p:nvPr/>
        </p:nvSpPr>
        <p:spPr>
          <a:xfrm>
            <a:off x="1016000" y="2031901"/>
            <a:ext cx="31044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60000"/>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1016000" y="2463701"/>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Sign in and send</a:t>
            </a:r>
            <a:endParaRPr lang="en-US" sz="1500" dirty="0"/>
          </a:p>
        </p:txBody>
      </p:sp>
      <p:sp>
        <p:nvSpPr>
          <p:cNvPr id="7" name="Text 5"/>
          <p:cNvSpPr/>
          <p:nvPr/>
        </p:nvSpPr>
        <p:spPr>
          <a:xfrm>
            <a:off x="1016000" y="2768501"/>
            <a:ext cx="3104489"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Entra ID token; API Management checks the user's quota.</a:t>
            </a:r>
            <a:endParaRPr lang="en-US" sz="1250" dirty="0"/>
          </a:p>
        </p:txBody>
      </p:sp>
      <p:sp>
        <p:nvSpPr>
          <p:cNvPr id="8" name="Shape 6"/>
          <p:cNvSpPr/>
          <p:nvPr/>
        </p:nvSpPr>
        <p:spPr>
          <a:xfrm>
            <a:off x="4385667" y="1828701"/>
            <a:ext cx="3420566" cy="1603375"/>
          </a:xfrm>
          <a:prstGeom prst="roundRect">
            <a:avLst>
              <a:gd name="adj" fmla="val 6337"/>
            </a:avLst>
          </a:prstGeom>
          <a:solidFill>
            <a:srgbClr val="FBFAF7"/>
          </a:solidFill>
          <a:ln/>
        </p:spPr>
      </p:sp>
      <p:sp>
        <p:nvSpPr>
          <p:cNvPr id="9" name="Text 7"/>
          <p:cNvSpPr/>
          <p:nvPr/>
        </p:nvSpPr>
        <p:spPr>
          <a:xfrm>
            <a:off x="4588867" y="2031901"/>
            <a:ext cx="310459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60000"/>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4588867" y="246370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Classify intent</a:t>
            </a:r>
            <a:endParaRPr lang="en-US" sz="1500" dirty="0"/>
          </a:p>
        </p:txBody>
      </p:sp>
      <p:sp>
        <p:nvSpPr>
          <p:cNvPr id="11" name="Text 9"/>
          <p:cNvSpPr/>
          <p:nvPr/>
        </p:nvSpPr>
        <p:spPr>
          <a:xfrm>
            <a:off x="4588867" y="2768501"/>
            <a:ext cx="3104591"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GPT-5 at low reasoning effort decides: knowledge, tool, or image.</a:t>
            </a:r>
            <a:endParaRPr lang="en-US" sz="1250" dirty="0"/>
          </a:p>
        </p:txBody>
      </p:sp>
      <p:sp>
        <p:nvSpPr>
          <p:cNvPr id="12" name="Shape 10"/>
          <p:cNvSpPr/>
          <p:nvPr/>
        </p:nvSpPr>
        <p:spPr>
          <a:xfrm>
            <a:off x="7958634" y="1828701"/>
            <a:ext cx="3420566" cy="1603375"/>
          </a:xfrm>
          <a:prstGeom prst="roundRect">
            <a:avLst>
              <a:gd name="adj" fmla="val 6337"/>
            </a:avLst>
          </a:prstGeom>
          <a:solidFill>
            <a:srgbClr val="FBFAF7"/>
          </a:solidFill>
          <a:ln/>
        </p:spPr>
      </p:sp>
      <p:sp>
        <p:nvSpPr>
          <p:cNvPr id="13" name="Text 11"/>
          <p:cNvSpPr/>
          <p:nvPr/>
        </p:nvSpPr>
        <p:spPr>
          <a:xfrm>
            <a:off x="8161834" y="2031901"/>
            <a:ext cx="310459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60000"/>
                </a:solidFill>
                <a:latin typeface="JetBrains Mono" pitchFamily="49" charset="0"/>
                <a:ea typeface="JetBrains Mono" pitchFamily="49" charset="-122"/>
                <a:cs typeface="JetBrains Mono" pitchFamily="49" charset="-120"/>
              </a:rPr>
              <a:t>03</a:t>
            </a:r>
            <a:endParaRPr lang="en-US" sz="2000" dirty="0"/>
          </a:p>
        </p:txBody>
      </p:sp>
      <p:sp>
        <p:nvSpPr>
          <p:cNvPr id="14" name="Text 12"/>
          <p:cNvSpPr/>
          <p:nvPr/>
        </p:nvSpPr>
        <p:spPr>
          <a:xfrm>
            <a:off x="8161834" y="246370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Ground</a:t>
            </a:r>
            <a:endParaRPr lang="en-US" sz="1500" dirty="0"/>
          </a:p>
        </p:txBody>
      </p:sp>
      <p:sp>
        <p:nvSpPr>
          <p:cNvPr id="15" name="Text 13"/>
          <p:cNvSpPr/>
          <p:nvPr/>
        </p:nvSpPr>
        <p:spPr>
          <a:xfrm>
            <a:off x="8161834" y="2768501"/>
            <a:ext cx="3104591"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Foundry IQ hybrid search, filtered to sources the user may see.</a:t>
            </a:r>
            <a:endParaRPr lang="en-US" sz="1250" dirty="0"/>
          </a:p>
        </p:txBody>
      </p:sp>
      <p:sp>
        <p:nvSpPr>
          <p:cNvPr id="16" name="Shape 14"/>
          <p:cNvSpPr/>
          <p:nvPr/>
        </p:nvSpPr>
        <p:spPr>
          <a:xfrm>
            <a:off x="812800" y="3584476"/>
            <a:ext cx="3420467" cy="1833563"/>
          </a:xfrm>
          <a:prstGeom prst="roundRect">
            <a:avLst>
              <a:gd name="adj" fmla="val 5541"/>
            </a:avLst>
          </a:prstGeom>
          <a:solidFill>
            <a:srgbClr val="FBFAF7"/>
          </a:solidFill>
          <a:ln/>
        </p:spPr>
      </p:sp>
      <p:sp>
        <p:nvSpPr>
          <p:cNvPr id="17" name="Text 15"/>
          <p:cNvSpPr/>
          <p:nvPr/>
        </p:nvSpPr>
        <p:spPr>
          <a:xfrm>
            <a:off x="1016000" y="3787676"/>
            <a:ext cx="31044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60000"/>
                </a:solidFill>
                <a:latin typeface="JetBrains Mono" pitchFamily="49" charset="0"/>
                <a:ea typeface="JetBrains Mono" pitchFamily="49" charset="-122"/>
                <a:cs typeface="JetBrains Mono" pitchFamily="49" charset="-120"/>
              </a:rPr>
              <a:t>04</a:t>
            </a:r>
            <a:endParaRPr lang="en-US" sz="2000" dirty="0"/>
          </a:p>
        </p:txBody>
      </p:sp>
      <p:sp>
        <p:nvSpPr>
          <p:cNvPr id="18" name="Text 16"/>
          <p:cNvSpPr/>
          <p:nvPr/>
        </p:nvSpPr>
        <p:spPr>
          <a:xfrm>
            <a:off x="1016000" y="4219476"/>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Generate</a:t>
            </a:r>
            <a:endParaRPr lang="en-US" sz="1500" dirty="0"/>
          </a:p>
        </p:txBody>
      </p:sp>
      <p:sp>
        <p:nvSpPr>
          <p:cNvPr id="19" name="Text 17"/>
          <p:cNvSpPr/>
          <p:nvPr/>
        </p:nvSpPr>
        <p:spPr>
          <a:xfrm>
            <a:off x="1016000" y="4524276"/>
            <a:ext cx="310448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GPT-5 via the Responses API; the system prompt requires citations; tokens stream back.</a:t>
            </a:r>
            <a:endParaRPr lang="en-US" sz="1250" dirty="0"/>
          </a:p>
        </p:txBody>
      </p:sp>
      <p:sp>
        <p:nvSpPr>
          <p:cNvPr id="20" name="Shape 18"/>
          <p:cNvSpPr/>
          <p:nvPr/>
        </p:nvSpPr>
        <p:spPr>
          <a:xfrm>
            <a:off x="4385667" y="3584476"/>
            <a:ext cx="3420566" cy="1833563"/>
          </a:xfrm>
          <a:prstGeom prst="roundRect">
            <a:avLst>
              <a:gd name="adj" fmla="val 5541"/>
            </a:avLst>
          </a:prstGeom>
          <a:solidFill>
            <a:srgbClr val="FBFAF7"/>
          </a:solidFill>
          <a:ln/>
        </p:spPr>
      </p:sp>
      <p:sp>
        <p:nvSpPr>
          <p:cNvPr id="21" name="Text 19"/>
          <p:cNvSpPr/>
          <p:nvPr/>
        </p:nvSpPr>
        <p:spPr>
          <a:xfrm>
            <a:off x="4588867" y="3787676"/>
            <a:ext cx="310459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60000"/>
                </a:solidFill>
                <a:latin typeface="JetBrains Mono" pitchFamily="49" charset="0"/>
                <a:ea typeface="JetBrains Mono" pitchFamily="49" charset="-122"/>
                <a:cs typeface="JetBrains Mono" pitchFamily="49" charset="-120"/>
              </a:rPr>
              <a:t>05</a:t>
            </a:r>
            <a:endParaRPr lang="en-US" sz="2000" dirty="0"/>
          </a:p>
        </p:txBody>
      </p:sp>
      <p:sp>
        <p:nvSpPr>
          <p:cNvPr id="22" name="Text 20"/>
          <p:cNvSpPr/>
          <p:nvPr/>
        </p:nvSpPr>
        <p:spPr>
          <a:xfrm>
            <a:off x="4588867" y="4219476"/>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Safety</a:t>
            </a:r>
            <a:endParaRPr lang="en-US" sz="1500" dirty="0"/>
          </a:p>
        </p:txBody>
      </p:sp>
      <p:sp>
        <p:nvSpPr>
          <p:cNvPr id="23" name="Text 21"/>
          <p:cNvSpPr/>
          <p:nvPr/>
        </p:nvSpPr>
        <p:spPr>
          <a:xfrm>
            <a:off x="4588867" y="4524276"/>
            <a:ext cx="3104591"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Content filters on prompt and answer; Prompt Shields block injection.</a:t>
            </a:r>
            <a:endParaRPr lang="en-US" sz="1250" dirty="0"/>
          </a:p>
        </p:txBody>
      </p:sp>
      <p:sp>
        <p:nvSpPr>
          <p:cNvPr id="24" name="Shape 22"/>
          <p:cNvSpPr/>
          <p:nvPr/>
        </p:nvSpPr>
        <p:spPr>
          <a:xfrm>
            <a:off x="7958634" y="3584476"/>
            <a:ext cx="3420566" cy="1833563"/>
          </a:xfrm>
          <a:prstGeom prst="roundRect">
            <a:avLst>
              <a:gd name="adj" fmla="val 5541"/>
            </a:avLst>
          </a:prstGeom>
          <a:solidFill>
            <a:srgbClr val="14181F"/>
          </a:solidFill>
          <a:ln/>
        </p:spPr>
      </p:sp>
      <p:sp>
        <p:nvSpPr>
          <p:cNvPr id="25" name="Text 23"/>
          <p:cNvSpPr/>
          <p:nvPr/>
        </p:nvSpPr>
        <p:spPr>
          <a:xfrm>
            <a:off x="8161834" y="3787676"/>
            <a:ext cx="310459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070"/>
                </a:solidFill>
                <a:latin typeface="JetBrains Mono" pitchFamily="49" charset="0"/>
                <a:ea typeface="JetBrains Mono" pitchFamily="49" charset="-122"/>
                <a:cs typeface="JetBrains Mono" pitchFamily="49" charset="-120"/>
              </a:rPr>
              <a:t>06</a:t>
            </a:r>
            <a:endParaRPr lang="en-US" sz="2000" dirty="0"/>
          </a:p>
        </p:txBody>
      </p:sp>
      <p:sp>
        <p:nvSpPr>
          <p:cNvPr id="26" name="Text 24"/>
          <p:cNvSpPr/>
          <p:nvPr/>
        </p:nvSpPr>
        <p:spPr>
          <a:xfrm>
            <a:off x="8161834" y="4219476"/>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Log and return</a:t>
            </a:r>
            <a:endParaRPr lang="en-US" sz="1500" dirty="0"/>
          </a:p>
        </p:txBody>
      </p:sp>
      <p:sp>
        <p:nvSpPr>
          <p:cNvPr id="27" name="Text 25"/>
          <p:cNvSpPr/>
          <p:nvPr/>
        </p:nvSpPr>
        <p:spPr>
          <a:xfrm>
            <a:off x="8161834" y="4524276"/>
            <a:ext cx="3104591"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4D9E0"/>
                </a:solidFill>
                <a:latin typeface="IBM Plex Sans" pitchFamily="34" charset="0"/>
                <a:ea typeface="IBM Plex Sans" pitchFamily="34" charset="-122"/>
                <a:cs typeface="IBM Plex Sans" pitchFamily="34" charset="-120"/>
              </a:rPr>
              <a:t>Answer with sources; tokens, latency and citations logged in region.</a:t>
            </a:r>
            <a:endParaRPr lang="en-US" sz="125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Throughput lives in step 4 (tokens), residency in steps 3, 4 and 6 (where data is processed and logged)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03 · RECOMMENDATION · CHAT COMPLETIONS VS RESPONSES API</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181F"/>
                </a:solidFill>
                <a:latin typeface="IBM Plex Sans" pitchFamily="34" charset="0"/>
                <a:ea typeface="IBM Plex Sans" pitchFamily="34" charset="-122"/>
                <a:cs typeface="IBM Plex Sans" pitchFamily="34" charset="-120"/>
              </a:rPr>
              <a:t>Start with the Responses API for the assistant</a:t>
            </a:r>
            <a:endParaRPr lang="en-US" sz="3000" dirty="0"/>
          </a:p>
        </p:txBody>
      </p:sp>
      <p:sp>
        <p:nvSpPr>
          <p:cNvPr id="4" name="Shape 2"/>
          <p:cNvSpPr/>
          <p:nvPr/>
        </p:nvSpPr>
        <p:spPr>
          <a:xfrm>
            <a:off x="812800" y="1699220"/>
            <a:ext cx="5194300" cy="1526381"/>
          </a:xfrm>
          <a:prstGeom prst="roundRect">
            <a:avLst>
              <a:gd name="adj" fmla="val 5824"/>
            </a:avLst>
          </a:prstGeom>
          <a:solidFill>
            <a:srgbClr val="F1EEE8"/>
          </a:solidFill>
          <a:ln/>
        </p:spPr>
      </p:sp>
      <p:sp>
        <p:nvSpPr>
          <p:cNvPr id="5" name="Shape 3"/>
          <p:cNvSpPr/>
          <p:nvPr/>
        </p:nvSpPr>
        <p:spPr>
          <a:xfrm>
            <a:off x="812800" y="1699220"/>
            <a:ext cx="5194300" cy="1526381"/>
          </a:xfrm>
          <a:custGeom>
            <a:avLst/>
            <a:gdLst/>
            <a:ahLst/>
            <a:cxnLst/>
            <a:rect l="l" t="t" r="r" b="b"/>
            <a:pathLst>
              <a:path w="5194300" h="1526381">
                <a:moveTo>
                  <a:pt x="0" y="88900"/>
                </a:moveTo>
                <a:lnTo>
                  <a:pt x="0" y="88900"/>
                </a:lnTo>
                <a:arcTo hR="88900" wR="88900" stAng="10800000" swAng="5400000"/>
                <a:lnTo>
                  <a:pt x="5105400" y="0"/>
                </a:lnTo>
                <a:arcTo hR="88900" wR="88900" stAng="16200000" swAng="5400000"/>
                <a:lnTo>
                  <a:pt x="5194300" y="88900"/>
                </a:lnTo>
                <a:arcTo hR="38100" wR="88900" stAng="0" swAng="-5400000"/>
                <a:lnTo>
                  <a:pt x="88900" y="50800"/>
                </a:lnTo>
                <a:arcTo hR="38100" wR="88900" stAng="16200000" swAng="-5400000"/>
                <a:close/>
              </a:path>
            </a:pathLst>
          </a:custGeom>
          <a:solidFill>
            <a:srgbClr val="9BA4B0"/>
          </a:solidFill>
          <a:ln/>
        </p:spPr>
      </p:sp>
      <p:sp>
        <p:nvSpPr>
          <p:cNvPr id="6" name="Text 4"/>
          <p:cNvSpPr/>
          <p:nvPr/>
        </p:nvSpPr>
        <p:spPr>
          <a:xfrm>
            <a:off x="1016000" y="191512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Chat Completions: carry your own notebook</a:t>
            </a:r>
            <a:endParaRPr lang="en-US" sz="1500" dirty="0"/>
          </a:p>
        </p:txBody>
      </p:sp>
      <p:sp>
        <p:nvSpPr>
          <p:cNvPr id="7" name="Text 5"/>
          <p:cNvSpPr/>
          <p:nvPr/>
        </p:nvSpPr>
        <p:spPr>
          <a:xfrm>
            <a:off x="1114806" y="2207220"/>
            <a:ext cx="4825111"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App resends the history in </a:t>
            </a:r>
            <a:r>
              <a:rPr lang="en-US" sz="1200" b="1" dirty="0">
                <a:solidFill>
                  <a:srgbClr val="3B424C"/>
                </a:solidFill>
                <a:latin typeface="IBM Plex Sans" pitchFamily="34" charset="0"/>
                <a:ea typeface="IBM Plex Sans" pitchFamily="34" charset="-122"/>
                <a:cs typeface="IBM Plex Sans" pitchFamily="34" charset="-120"/>
              </a:rPr>
              <a:t>messages[ ]</a:t>
            </a:r>
            <a:r>
              <a:rPr lang="en-US" sz="1200" dirty="0">
                <a:solidFill>
                  <a:srgbClr val="3B424C"/>
                </a:solidFill>
                <a:latin typeface="IBM Plex Sans" pitchFamily="34" charset="0"/>
                <a:ea typeface="IBM Plex Sans" pitchFamily="34" charset="-122"/>
                <a:cs typeface="IBM Plex Sans" pitchFamily="34" charset="-120"/>
              </a:rPr>
              <a:t> on every turn</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System prompt sent as a </a:t>
            </a:r>
            <a:r>
              <a:rPr lang="en-US" sz="1200" b="1" dirty="0">
                <a:solidFill>
                  <a:srgbClr val="3B424C"/>
                </a:solidFill>
                <a:latin typeface="IBM Plex Sans" pitchFamily="34" charset="0"/>
                <a:ea typeface="IBM Plex Sans" pitchFamily="34" charset="-122"/>
                <a:cs typeface="IBM Plex Sans" pitchFamily="34" charset="-120"/>
              </a:rPr>
              <a:t>system</a:t>
            </a:r>
            <a:r>
              <a:rPr lang="en-US" sz="1200" dirty="0">
                <a:solidFill>
                  <a:srgbClr val="3B424C"/>
                </a:solidFill>
                <a:latin typeface="IBM Plex Sans" pitchFamily="34" charset="0"/>
                <a:ea typeface="IBM Plex Sans" pitchFamily="34" charset="-122"/>
                <a:cs typeface="IBM Plex Sans" pitchFamily="34" charset="-120"/>
              </a:rPr>
              <a:t> message</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Answer in </a:t>
            </a:r>
            <a:r>
              <a:rPr lang="en-US" sz="1200" b="1" dirty="0">
                <a:solidFill>
                  <a:srgbClr val="3B424C"/>
                </a:solidFill>
                <a:latin typeface="IBM Plex Sans" pitchFamily="34" charset="0"/>
                <a:ea typeface="IBM Plex Sans" pitchFamily="34" charset="-122"/>
                <a:cs typeface="IBM Plex Sans" pitchFamily="34" charset="-120"/>
              </a:rPr>
              <a:t>choices[0].message.content</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Payload and tokens grow as the chat gets longer</a:t>
            </a:r>
            <a:endParaRPr lang="en-US" sz="1200" dirty="0"/>
          </a:p>
        </p:txBody>
      </p:sp>
      <p:sp>
        <p:nvSpPr>
          <p:cNvPr id="8" name="Shape 6"/>
          <p:cNvSpPr/>
          <p:nvPr/>
        </p:nvSpPr>
        <p:spPr>
          <a:xfrm>
            <a:off x="6184900" y="1699220"/>
            <a:ext cx="5194300" cy="1526381"/>
          </a:xfrm>
          <a:prstGeom prst="roundRect">
            <a:avLst>
              <a:gd name="adj" fmla="val 5824"/>
            </a:avLst>
          </a:prstGeom>
          <a:solidFill>
            <a:srgbClr val="FDECEC"/>
          </a:solidFill>
          <a:ln/>
        </p:spPr>
      </p:sp>
      <p:sp>
        <p:nvSpPr>
          <p:cNvPr id="9" name="Shape 7"/>
          <p:cNvSpPr/>
          <p:nvPr/>
        </p:nvSpPr>
        <p:spPr>
          <a:xfrm>
            <a:off x="6184900" y="1699220"/>
            <a:ext cx="5194300" cy="1526381"/>
          </a:xfrm>
          <a:custGeom>
            <a:avLst/>
            <a:gdLst/>
            <a:ahLst/>
            <a:cxnLst/>
            <a:rect l="l" t="t" r="r" b="b"/>
            <a:pathLst>
              <a:path w="5194300" h="1526381">
                <a:moveTo>
                  <a:pt x="0" y="88900"/>
                </a:moveTo>
                <a:lnTo>
                  <a:pt x="0" y="88900"/>
                </a:lnTo>
                <a:arcTo hR="88900" wR="88900" stAng="10800000" swAng="5400000"/>
                <a:lnTo>
                  <a:pt x="5105400" y="0"/>
                </a:lnTo>
                <a:arcTo hR="88900" wR="88900" stAng="16200000" swAng="5400000"/>
                <a:lnTo>
                  <a:pt x="5194300" y="88900"/>
                </a:lnTo>
                <a:arcTo hR="38100" wR="88900" stAng="0" swAng="-5400000"/>
                <a:lnTo>
                  <a:pt x="88900" y="50800"/>
                </a:lnTo>
                <a:arcTo hR="38100" wR="88900" stAng="16200000" swAng="-5400000"/>
                <a:close/>
              </a:path>
            </a:pathLst>
          </a:custGeom>
          <a:solidFill>
            <a:srgbClr val="E60000"/>
          </a:solidFill>
          <a:ln/>
        </p:spPr>
      </p:sp>
      <p:sp>
        <p:nvSpPr>
          <p:cNvPr id="10" name="Text 8"/>
          <p:cNvSpPr/>
          <p:nvPr/>
        </p:nvSpPr>
        <p:spPr>
          <a:xfrm>
            <a:off x="6388100" y="191512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81F"/>
                </a:solidFill>
                <a:latin typeface="IBM Plex Sans" pitchFamily="34" charset="0"/>
                <a:ea typeface="IBM Plex Sans" pitchFamily="34" charset="-122"/>
                <a:cs typeface="IBM Plex Sans" pitchFamily="34" charset="-120"/>
              </a:rPr>
              <a:t>Responses: continue by reference</a:t>
            </a:r>
            <a:endParaRPr lang="en-US" sz="1500" dirty="0"/>
          </a:p>
        </p:txBody>
      </p:sp>
      <p:sp>
        <p:nvSpPr>
          <p:cNvPr id="11" name="Text 9"/>
          <p:cNvSpPr/>
          <p:nvPr/>
        </p:nvSpPr>
        <p:spPr>
          <a:xfrm>
            <a:off x="6486906" y="2207220"/>
            <a:ext cx="4825111"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Chain turns with </a:t>
            </a:r>
            <a:r>
              <a:rPr lang="en-US" sz="1200" b="1" dirty="0">
                <a:solidFill>
                  <a:srgbClr val="3B424C"/>
                </a:solidFill>
                <a:latin typeface="IBM Plex Sans" pitchFamily="34" charset="0"/>
                <a:ea typeface="IBM Plex Sans" pitchFamily="34" charset="-122"/>
                <a:cs typeface="IBM Plex Sans" pitchFamily="34" charset="-120"/>
              </a:rPr>
              <a:t>previous_response_id</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System prompt via </a:t>
            </a:r>
            <a:r>
              <a:rPr lang="en-US" sz="1200" b="1" dirty="0">
                <a:solidFill>
                  <a:srgbClr val="3B424C"/>
                </a:solidFill>
                <a:latin typeface="IBM Plex Sans" pitchFamily="34" charset="0"/>
                <a:ea typeface="IBM Plex Sans" pitchFamily="34" charset="-122"/>
                <a:cs typeface="IBM Plex Sans" pitchFamily="34" charset="-120"/>
              </a:rPr>
              <a:t>instructions</a:t>
            </a:r>
            <a:r>
              <a:rPr lang="en-US" sz="1200" dirty="0">
                <a:solidFill>
                  <a:srgbClr val="3B424C"/>
                </a:solidFill>
                <a:latin typeface="IBM Plex Sans" pitchFamily="34" charset="0"/>
                <a:ea typeface="IBM Plex Sans" pitchFamily="34" charset="-122"/>
                <a:cs typeface="IBM Plex Sans" pitchFamily="34" charset="-120"/>
              </a:rPr>
              <a:t>, re-sent on each call</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Answer in </a:t>
            </a:r>
            <a:r>
              <a:rPr lang="en-US" sz="1200" b="1" dirty="0">
                <a:solidFill>
                  <a:srgbClr val="3B424C"/>
                </a:solidFill>
                <a:latin typeface="IBM Plex Sans" pitchFamily="34" charset="0"/>
                <a:ea typeface="IBM Plex Sans" pitchFamily="34" charset="-122"/>
                <a:cs typeface="IBM Plex Sans" pitchFamily="34" charset="-120"/>
              </a:rPr>
              <a:t>output_text</a:t>
            </a:r>
            <a:r>
              <a:rPr lang="en-US" sz="1200" dirty="0">
                <a:solidFill>
                  <a:srgbClr val="3B424C"/>
                </a:solidFill>
                <a:latin typeface="IBM Plex Sans" pitchFamily="34" charset="0"/>
                <a:ea typeface="IBM Plex Sans" pitchFamily="34" charset="-122"/>
                <a:cs typeface="IBM Plex Sans" pitchFamily="34" charset="-120"/>
              </a:rPr>
              <a:t>; built for tool calling</a:t>
            </a:r>
            <a:endParaRPr lang="en-US" sz="1200" dirty="0"/>
          </a:p>
          <a:p>
            <a:pPr algn="l" marL="155194" indent="-155194">
              <a:lnSpc>
                <a:spcPts val="1680"/>
              </a:lnSpc>
              <a:buSzPct val="100000"/>
              <a:buChar char="•"/>
            </a:pPr>
            <a:r>
              <a:rPr lang="en-US" sz="1200" dirty="0">
                <a:solidFill>
                  <a:srgbClr val="3B424C"/>
                </a:solidFill>
                <a:latin typeface="IBM Plex Sans" pitchFamily="34" charset="0"/>
                <a:ea typeface="IBM Plex Sans" pitchFamily="34" charset="-122"/>
                <a:cs typeface="IBM Plex Sans" pitchFamily="34" charset="-120"/>
              </a:rPr>
              <a:t>Simpler code, but cost and latency not always lower</a:t>
            </a:r>
            <a:endParaRPr lang="en-US" sz="1200" dirty="0"/>
          </a:p>
        </p:txBody>
      </p:sp>
      <p:sp>
        <p:nvSpPr>
          <p:cNvPr id="12" name="Shape 10"/>
          <p:cNvSpPr/>
          <p:nvPr/>
        </p:nvSpPr>
        <p:spPr>
          <a:xfrm>
            <a:off x="812800" y="3403402"/>
            <a:ext cx="10566400" cy="1455142"/>
          </a:xfrm>
          <a:prstGeom prst="roundRect">
            <a:avLst>
              <a:gd name="adj" fmla="val 6109"/>
            </a:avLst>
          </a:prstGeom>
          <a:solidFill>
            <a:srgbClr val="14181F"/>
          </a:solidFill>
          <a:ln/>
        </p:spPr>
      </p:sp>
      <p:sp>
        <p:nvSpPr>
          <p:cNvPr id="13" name="Text 11"/>
          <p:cNvSpPr/>
          <p:nvPr/>
        </p:nvSpPr>
        <p:spPr>
          <a:xfrm>
            <a:off x="1016000" y="356850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070"/>
                </a:solidFill>
                <a:latin typeface="JetBrains Mono" pitchFamily="49" charset="0"/>
                <a:ea typeface="JetBrains Mono" pitchFamily="49" charset="-122"/>
                <a:cs typeface="JetBrains Mono" pitchFamily="49" charset="-120"/>
              </a:rPr>
              <a:t>DECIDE BEFORE PRODUCTION</a:t>
            </a:r>
            <a:endParaRPr lang="en-US" sz="1200" dirty="0"/>
          </a:p>
        </p:txBody>
      </p:sp>
      <p:sp>
        <p:nvSpPr>
          <p:cNvPr id="14" name="Text 12"/>
          <p:cNvSpPr/>
          <p:nvPr/>
        </p:nvSpPr>
        <p:spPr>
          <a:xfrm>
            <a:off x="1016000" y="3870722"/>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Sessions:</a:t>
            </a:r>
            <a:r>
              <a:rPr lang="en-US" sz="1200" dirty="0">
                <a:solidFill>
                  <a:srgbClr val="D4D9E0"/>
                </a:solidFill>
                <a:latin typeface="IBM Plex Sans" pitchFamily="34" charset="0"/>
                <a:ea typeface="IBM Plex Sans" pitchFamily="34" charset="-122"/>
                <a:cs typeface="IBM Plex Sans" pitchFamily="34" charset="-120"/>
              </a:rPr>
              <a:t> map each response ID to the right employee</a:t>
            </a:r>
            <a:endParaRPr lang="en-US" sz="1200" dirty="0"/>
          </a:p>
        </p:txBody>
      </p:sp>
      <p:sp>
        <p:nvSpPr>
          <p:cNvPr id="15" name="Text 13"/>
          <p:cNvSpPr/>
          <p:nvPr/>
        </p:nvSpPr>
        <p:spPr>
          <a:xfrm>
            <a:off x="4402634" y="3870722"/>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Security:</a:t>
            </a:r>
            <a:r>
              <a:rPr lang="en-US" sz="1200" dirty="0">
                <a:solidFill>
                  <a:srgbClr val="D4D9E0"/>
                </a:solidFill>
                <a:latin typeface="IBM Plex Sans" pitchFamily="34" charset="0"/>
                <a:ea typeface="IBM Plex Sans" pitchFamily="34" charset="-122"/>
                <a:cs typeface="IBM Plex Sans" pitchFamily="34" charset="-120"/>
              </a:rPr>
              <a:t> no user can reach another's conversation</a:t>
            </a:r>
            <a:endParaRPr lang="en-US" sz="1200" dirty="0"/>
          </a:p>
        </p:txBody>
      </p:sp>
      <p:sp>
        <p:nvSpPr>
          <p:cNvPr id="16" name="Text 14"/>
          <p:cNvSpPr/>
          <p:nvPr/>
        </p:nvSpPr>
        <p:spPr>
          <a:xfrm>
            <a:off x="7789267" y="3870722"/>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Retention:</a:t>
            </a:r>
            <a:r>
              <a:rPr lang="en-US" sz="1200" dirty="0">
                <a:solidFill>
                  <a:srgbClr val="D4D9E0"/>
                </a:solidFill>
                <a:latin typeface="IBM Plex Sans" pitchFamily="34" charset="0"/>
                <a:ea typeface="IBM Plex Sans" pitchFamily="34" charset="-122"/>
                <a:cs typeface="IBM Plex Sans" pitchFamily="34" charset="-120"/>
              </a:rPr>
              <a:t> how long stored responses may be kept</a:t>
            </a:r>
            <a:endParaRPr lang="en-US" sz="1200" dirty="0"/>
          </a:p>
        </p:txBody>
      </p:sp>
      <p:sp>
        <p:nvSpPr>
          <p:cNvPr id="17" name="Text 15"/>
          <p:cNvSpPr/>
          <p:nvPr/>
        </p:nvSpPr>
        <p:spPr>
          <a:xfrm>
            <a:off x="1016000" y="4282083"/>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Scale:</a:t>
            </a:r>
            <a:r>
              <a:rPr lang="en-US" sz="1200" dirty="0">
                <a:solidFill>
                  <a:srgbClr val="D4D9E0"/>
                </a:solidFill>
                <a:latin typeface="IBM Plex Sans" pitchFamily="34" charset="0"/>
                <a:ea typeface="IBM Plex Sans" pitchFamily="34" charset="-122"/>
                <a:cs typeface="IBM Plex Sans" pitchFamily="34" charset="-120"/>
              </a:rPr>
              <a:t> concurrent users and long conversations</a:t>
            </a:r>
            <a:endParaRPr lang="en-US" sz="1200" dirty="0"/>
          </a:p>
        </p:txBody>
      </p:sp>
      <p:sp>
        <p:nvSpPr>
          <p:cNvPr id="18" name="Text 16"/>
          <p:cNvSpPr/>
          <p:nvPr/>
        </p:nvSpPr>
        <p:spPr>
          <a:xfrm>
            <a:off x="4402634" y="4282083"/>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Reliability:</a:t>
            </a:r>
            <a:r>
              <a:rPr lang="en-US" sz="1200" dirty="0">
                <a:solidFill>
                  <a:srgbClr val="D4D9E0"/>
                </a:solidFill>
                <a:latin typeface="IBM Plex Sans" pitchFamily="34" charset="0"/>
                <a:ea typeface="IBM Plex Sans" pitchFamily="34" charset="-122"/>
                <a:cs typeface="IBM Plex Sans" pitchFamily="34" charset="-120"/>
              </a:rPr>
              <a:t> fallback if a response ID is unavailable</a:t>
            </a:r>
            <a:endParaRPr lang="en-US" sz="1200" dirty="0"/>
          </a:p>
        </p:txBody>
      </p:sp>
      <p:sp>
        <p:nvSpPr>
          <p:cNvPr id="19" name="Text 17"/>
          <p:cNvSpPr/>
          <p:nvPr/>
        </p:nvSpPr>
        <p:spPr>
          <a:xfrm>
            <a:off x="7789267" y="4282083"/>
            <a:ext cx="348823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D4D9E0"/>
                </a:solidFill>
                <a:latin typeface="IBM Plex Sans" pitchFamily="34" charset="0"/>
                <a:ea typeface="IBM Plex Sans" pitchFamily="34" charset="-122"/>
                <a:cs typeface="IBM Plex Sans" pitchFamily="34" charset="-120"/>
              </a:rPr>
              <a:t>Cost:</a:t>
            </a:r>
            <a:r>
              <a:rPr lang="en-US" sz="1200" dirty="0">
                <a:solidFill>
                  <a:srgbClr val="D4D9E0"/>
                </a:solidFill>
                <a:latin typeface="IBM Plex Sans" pitchFamily="34" charset="0"/>
                <a:ea typeface="IBM Plex Sans" pitchFamily="34" charset="-122"/>
                <a:cs typeface="IBM Plex Sans" pitchFamily="34" charset="-120"/>
              </a:rPr>
              <a:t> cap history length and token use</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Neither API reaches SAP or Oracle on its own: that still needs retrieval, tool calling and permissions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03 · HOW GPT-IMAGE-2 IS USED</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GPT-5 writes the brief; gpt-image-2 draws it</a:t>
            </a:r>
            <a:endParaRPr lang="en-US" sz="3200" dirty="0"/>
          </a:p>
        </p:txBody>
      </p:sp>
      <p:sp>
        <p:nvSpPr>
          <p:cNvPr id="4" name="Text 2"/>
          <p:cNvSpPr/>
          <p:nvPr/>
        </p:nvSpPr>
        <p:spPr>
          <a:xfrm>
            <a:off x="876796" y="1828701"/>
            <a:ext cx="6123566" cy="3174008"/>
          </a:xfrm>
          <a:prstGeom prst="rect">
            <a:avLst/>
          </a:prstGeom>
          <a:noFill/>
          <a:ln/>
        </p:spPr>
        <p:txBody>
          <a:bodyPr wrap="square" lIns="0" tIns="0" rIns="0" bIns="0" rtlCol="0" anchor="t">
            <a:normAutofit/>
          </a:bodyPr>
          <a:lstStyle/>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User asks for a diagram, or uploads a screenshot to annotate</a:t>
            </a:r>
            <a:endParaRPr lang="en-US" sz="1350" dirty="0"/>
          </a:p>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GPT-5 detects visual intent and writes a precise image prompt</a:t>
            </a:r>
            <a:endParaRPr lang="en-US" sz="1350" dirty="0"/>
          </a:p>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Orchestrator calls the gpt-image-2 deployment: </a:t>
            </a:r>
            <a:r>
              <a:rPr lang="en-US" sz="1350" b="1" dirty="0">
                <a:solidFill>
                  <a:srgbClr val="3B424C"/>
                </a:solidFill>
                <a:latin typeface="IBM Plex Sans" pitchFamily="34" charset="0"/>
                <a:ea typeface="IBM Plex Sans" pitchFamily="34" charset="-122"/>
                <a:cs typeface="IBM Plex Sans" pitchFamily="34" charset="-120"/>
              </a:rPr>
              <a:t>generations</a:t>
            </a:r>
            <a:r>
              <a:rPr lang="en-US" sz="1350" dirty="0">
                <a:solidFill>
                  <a:srgbClr val="3B424C"/>
                </a:solidFill>
                <a:latin typeface="IBM Plex Sans" pitchFamily="34" charset="0"/>
                <a:ea typeface="IBM Plex Sans" pitchFamily="34" charset="-122"/>
                <a:cs typeface="IBM Plex Sans" pitchFamily="34" charset="-120"/>
              </a:rPr>
              <a:t> for a new image, </a:t>
            </a:r>
            <a:r>
              <a:rPr lang="en-US" sz="1350" b="1" dirty="0">
                <a:solidFill>
                  <a:srgbClr val="3B424C"/>
                </a:solidFill>
                <a:latin typeface="IBM Plex Sans" pitchFamily="34" charset="0"/>
                <a:ea typeface="IBM Plex Sans" pitchFamily="34" charset="-122"/>
                <a:cs typeface="IBM Plex Sans" pitchFamily="34" charset="-120"/>
              </a:rPr>
              <a:t>edits</a:t>
            </a:r>
            <a:r>
              <a:rPr lang="en-US" sz="1350" dirty="0">
                <a:solidFill>
                  <a:srgbClr val="3B424C"/>
                </a:solidFill>
                <a:latin typeface="IBM Plex Sans" pitchFamily="34" charset="0"/>
                <a:ea typeface="IBM Plex Sans" pitchFamily="34" charset="-122"/>
                <a:cs typeface="IBM Plex Sans" pitchFamily="34" charset="-120"/>
              </a:rPr>
              <a:t> for an uploaded one</a:t>
            </a:r>
            <a:endParaRPr lang="en-US" sz="1350" dirty="0"/>
          </a:p>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Content filters check the prompt and the generated image</a:t>
            </a:r>
            <a:endParaRPr lang="en-US" sz="1350" dirty="0"/>
          </a:p>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Image saved to Blob Storage in the same region; short-lived SAS link</a:t>
            </a:r>
            <a:endParaRPr lang="en-US" sz="1350" dirty="0"/>
          </a:p>
          <a:p>
            <a:pPr algn="l" marL="190004" indent="-190004">
              <a:lnSpc>
                <a:spcPts val="2025"/>
              </a:lnSpc>
              <a:buSzPct val="100000"/>
              <a:buFontTx/>
              <a:buAutoNum type="arabicPeriod" startAt="1"/>
            </a:pPr>
            <a:r>
              <a:rPr lang="en-US" sz="1350" dirty="0">
                <a:solidFill>
                  <a:srgbClr val="3B424C"/>
                </a:solidFill>
                <a:latin typeface="IBM Plex Sans" pitchFamily="34" charset="0"/>
                <a:ea typeface="IBM Plex Sans" pitchFamily="34" charset="-122"/>
                <a:cs typeface="IBM Plex Sans" pitchFamily="34" charset="-120"/>
              </a:rPr>
              <a:t>Chat shows the image; GPT-5 adds a caption and explanation</a:t>
            </a:r>
            <a:endParaRPr lang="en-US" sz="1350" dirty="0"/>
          </a:p>
        </p:txBody>
      </p:sp>
      <p:sp>
        <p:nvSpPr>
          <p:cNvPr id="5" name="Shape 3"/>
          <p:cNvSpPr/>
          <p:nvPr/>
        </p:nvSpPr>
        <p:spPr>
          <a:xfrm>
            <a:off x="7081540" y="1828701"/>
            <a:ext cx="4297660" cy="3148608"/>
          </a:xfrm>
          <a:prstGeom prst="roundRect">
            <a:avLst>
              <a:gd name="adj" fmla="val 3227"/>
            </a:avLst>
          </a:prstGeom>
          <a:solidFill>
            <a:srgbClr val="14181F"/>
          </a:solidFill>
          <a:ln/>
        </p:spPr>
      </p:sp>
      <p:sp>
        <p:nvSpPr>
          <p:cNvPr id="6" name="Text 4"/>
          <p:cNvSpPr/>
          <p:nvPr/>
        </p:nvSpPr>
        <p:spPr>
          <a:xfrm>
            <a:off x="7310140" y="2057301"/>
            <a:ext cx="39556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070"/>
                </a:solidFill>
                <a:latin typeface="JetBrains Mono" pitchFamily="49" charset="0"/>
                <a:ea typeface="JetBrains Mono" pitchFamily="49" charset="-122"/>
                <a:cs typeface="JetBrains Mono" pitchFamily="49" charset="-120"/>
              </a:rPr>
              <a:t>ARCHITECT'S NOTES</a:t>
            </a:r>
            <a:endParaRPr lang="en-US" sz="1200" dirty="0"/>
          </a:p>
        </p:txBody>
      </p:sp>
      <p:sp>
        <p:nvSpPr>
          <p:cNvPr id="7" name="Text 5"/>
          <p:cNvSpPr/>
          <p:nvPr/>
        </p:nvSpPr>
        <p:spPr>
          <a:xfrm>
            <a:off x="7310140" y="2372221"/>
            <a:ext cx="3955674" cy="485775"/>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D4D9E0"/>
                </a:solidFill>
                <a:latin typeface="IBM Plex Sans" pitchFamily="34" charset="0"/>
                <a:ea typeface="IBM Plex Sans" pitchFamily="34" charset="-122"/>
                <a:cs typeface="IBM Plex Sans" pitchFamily="34" charset="-120"/>
              </a:rPr>
              <a:t>Separate deployment</a:t>
            </a:r>
            <a:r>
              <a:rPr lang="en-US" sz="1250" dirty="0">
                <a:solidFill>
                  <a:srgbClr val="D4D9E0"/>
                </a:solidFill>
                <a:latin typeface="IBM Plex Sans" pitchFamily="34" charset="0"/>
                <a:ea typeface="IBM Plex Sans" pitchFamily="34" charset="-122"/>
                <a:cs typeface="IBM Plex Sans" pitchFamily="34" charset="-120"/>
              </a:rPr>
              <a:t> with its own quota, so image bursts never starve text answers.</a:t>
            </a:r>
            <a:endParaRPr lang="en-US" sz="1250" dirty="0"/>
          </a:p>
        </p:txBody>
      </p:sp>
      <p:sp>
        <p:nvSpPr>
          <p:cNvPr id="8" name="Text 6"/>
          <p:cNvSpPr/>
          <p:nvPr/>
        </p:nvSpPr>
        <p:spPr>
          <a:xfrm>
            <a:off x="7310140" y="2934196"/>
            <a:ext cx="3955674" cy="485775"/>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D4D9E0"/>
                </a:solidFill>
                <a:latin typeface="IBM Plex Sans" pitchFamily="34" charset="0"/>
                <a:ea typeface="IBM Plex Sans" pitchFamily="34" charset="-122"/>
                <a:cs typeface="IBM Plex Sans" pitchFamily="34" charset="-120"/>
              </a:rPr>
              <a:t>Sizes</a:t>
            </a:r>
            <a:r>
              <a:rPr lang="en-US" sz="1250" dirty="0">
                <a:solidFill>
                  <a:srgbClr val="D4D9E0"/>
                </a:solidFill>
                <a:latin typeface="IBM Plex Sans" pitchFamily="34" charset="0"/>
                <a:ea typeface="IBM Plex Sans" pitchFamily="34" charset="-122"/>
                <a:cs typeface="IBM Plex Sans" pitchFamily="34" charset="-120"/>
              </a:rPr>
              <a:t> 1024×1024, 1536×1024, 1024×1536, up to 4K.</a:t>
            </a:r>
            <a:endParaRPr lang="en-US" sz="1250" dirty="0"/>
          </a:p>
        </p:txBody>
      </p:sp>
      <p:sp>
        <p:nvSpPr>
          <p:cNvPr id="9" name="Text 7"/>
          <p:cNvSpPr/>
          <p:nvPr/>
        </p:nvSpPr>
        <p:spPr>
          <a:xfrm>
            <a:off x="7310140" y="3496171"/>
            <a:ext cx="3955674" cy="485775"/>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D4D9E0"/>
                </a:solidFill>
                <a:latin typeface="IBM Plex Sans" pitchFamily="34" charset="0"/>
                <a:ea typeface="IBM Plex Sans" pitchFamily="34" charset="-122"/>
                <a:cs typeface="IBM Plex Sans" pitchFamily="34" charset="-120"/>
              </a:rPr>
              <a:t>Cost</a:t>
            </a:r>
            <a:r>
              <a:rPr lang="en-US" sz="1250" dirty="0">
                <a:solidFill>
                  <a:srgbClr val="D4D9E0"/>
                </a:solidFill>
                <a:latin typeface="IBM Plex Sans" pitchFamily="34" charset="0"/>
                <a:ea typeface="IBM Plex Sans" pitchFamily="34" charset="-122"/>
                <a:cs typeface="IBM Plex Sans" pitchFamily="34" charset="-120"/>
              </a:rPr>
              <a:t> is token-based and far higher per call than text: track it separately.</a:t>
            </a:r>
            <a:endParaRPr lang="en-US" sz="1250" dirty="0"/>
          </a:p>
        </p:txBody>
      </p:sp>
      <p:sp>
        <p:nvSpPr>
          <p:cNvPr id="10" name="Text 8"/>
          <p:cNvSpPr/>
          <p:nvPr/>
        </p:nvSpPr>
        <p:spPr>
          <a:xfrm>
            <a:off x="7310140" y="4058146"/>
            <a:ext cx="3955674" cy="715963"/>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D4D9E0"/>
                </a:solidFill>
                <a:latin typeface="IBM Plex Sans" pitchFamily="34" charset="0"/>
                <a:ea typeface="IBM Plex Sans" pitchFamily="34" charset="-122"/>
                <a:cs typeface="IBM Plex Sans" pitchFamily="34" charset="-120"/>
              </a:rPr>
              <a:t>Residency:</a:t>
            </a:r>
            <a:r>
              <a:rPr lang="en-US" sz="1250" dirty="0">
                <a:solidFill>
                  <a:srgbClr val="D4D9E0"/>
                </a:solidFill>
                <a:latin typeface="IBM Plex Sans" pitchFamily="34" charset="0"/>
                <a:ea typeface="IBM Plex Sans" pitchFamily="34" charset="-122"/>
                <a:cs typeface="IBM Plex Sans" pitchFamily="34" charset="-120"/>
              </a:rPr>
              <a:t> confirm which deployment types and regions offer gpt-image-2 before promising in-country processing.</a:t>
            </a:r>
            <a:endParaRPr lang="en-US" sz="125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0"/>
                </a:solidFill>
                <a:latin typeface="IBM Plex Sans" pitchFamily="34" charset="0"/>
                <a:ea typeface="IBM Plex Sans" pitchFamily="34" charset="-122"/>
                <a:cs typeface="IBM Plex Sans" pitchFamily="34" charset="-120"/>
              </a:rPr>
              <a:t>gpt-image-2 in Microsoft Foundry since April 2026 (Windows Report) · check current regions and pricing on Microsoft Learn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03 · RESPONSIBLE AI ARCHITECTURE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181F"/>
                </a:solidFill>
                <a:latin typeface="IBM Plex Sans" pitchFamily="34" charset="0"/>
                <a:ea typeface="IBM Plex Sans" pitchFamily="34" charset="-122"/>
                <a:cs typeface="IBM Plex Sans" pitchFamily="34" charset="-120"/>
              </a:rPr>
              <a:t>Four layers of protection around the model</a:t>
            </a:r>
            <a:endParaRPr lang="en-US" sz="3000" dirty="0"/>
          </a:p>
        </p:txBody>
      </p:sp>
      <p:sp>
        <p:nvSpPr>
          <p:cNvPr id="4" name="Shape 2"/>
          <p:cNvSpPr/>
          <p:nvPr/>
        </p:nvSpPr>
        <p:spPr>
          <a:xfrm>
            <a:off x="819150" y="1847850"/>
            <a:ext cx="5702300" cy="3937000"/>
          </a:xfrm>
          <a:prstGeom prst="roundRect">
            <a:avLst>
              <a:gd name="adj" fmla="val 3710"/>
            </a:avLst>
          </a:prstGeom>
          <a:solidFill>
            <a:srgbClr val="F1EEE8"/>
          </a:solidFill>
          <a:ln w="12700">
            <a:solidFill>
              <a:srgbClr val="9BA4B0"/>
            </a:solidFill>
            <a:prstDash val="solid"/>
          </a:ln>
        </p:spPr>
      </p:sp>
      <p:sp>
        <p:nvSpPr>
          <p:cNvPr id="5" name="Shape 3"/>
          <p:cNvSpPr/>
          <p:nvPr/>
        </p:nvSpPr>
        <p:spPr>
          <a:xfrm>
            <a:off x="971550" y="2419350"/>
            <a:ext cx="5397500" cy="3263900"/>
          </a:xfrm>
          <a:prstGeom prst="roundRect">
            <a:avLst>
              <a:gd name="adj" fmla="val 3696"/>
            </a:avLst>
          </a:prstGeom>
          <a:solidFill>
            <a:srgbClr val="ECE8E1"/>
          </a:solidFill>
          <a:ln w="12700">
            <a:solidFill>
              <a:srgbClr val="9BA4B0"/>
            </a:solidFill>
            <a:prstDash val="solid"/>
          </a:ln>
        </p:spPr>
      </p:sp>
      <p:sp>
        <p:nvSpPr>
          <p:cNvPr id="6" name="Shape 4"/>
          <p:cNvSpPr/>
          <p:nvPr/>
        </p:nvSpPr>
        <p:spPr>
          <a:xfrm>
            <a:off x="1127125" y="2994025"/>
            <a:ext cx="5086350" cy="2584450"/>
          </a:xfrm>
          <a:prstGeom prst="roundRect">
            <a:avLst>
              <a:gd name="adj" fmla="val 4054"/>
            </a:avLst>
          </a:prstGeom>
          <a:solidFill>
            <a:srgbClr val="E3F1F3"/>
          </a:solidFill>
          <a:ln w="19050">
            <a:solidFill>
              <a:srgbClr val="00697B"/>
            </a:solidFill>
            <a:prstDash val="solid"/>
          </a:ln>
        </p:spPr>
      </p:sp>
      <p:sp>
        <p:nvSpPr>
          <p:cNvPr id="7" name="Shape 5"/>
          <p:cNvSpPr/>
          <p:nvPr/>
        </p:nvSpPr>
        <p:spPr>
          <a:xfrm>
            <a:off x="1270000" y="3556000"/>
            <a:ext cx="4800600" cy="1930400"/>
          </a:xfrm>
          <a:prstGeom prst="roundRect">
            <a:avLst>
              <a:gd name="adj" fmla="val 5263"/>
            </a:avLst>
          </a:prstGeom>
          <a:solidFill>
            <a:srgbClr val="14181F"/>
          </a:solidFill>
          <a:ln/>
        </p:spPr>
      </p:sp>
      <p:sp>
        <p:nvSpPr>
          <p:cNvPr id="8" name="Text 6"/>
          <p:cNvSpPr/>
          <p:nvPr/>
        </p:nvSpPr>
        <p:spPr>
          <a:xfrm>
            <a:off x="1473200" y="3981549"/>
            <a:ext cx="4526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7070"/>
                </a:solidFill>
                <a:latin typeface="JetBrains Mono" pitchFamily="49" charset="0"/>
                <a:ea typeface="JetBrains Mono" pitchFamily="49" charset="-122"/>
                <a:cs typeface="JetBrains Mono" pitchFamily="49" charset="-120"/>
              </a:rPr>
              <a:t>4 · MODEL</a:t>
            </a:r>
            <a:endParaRPr lang="en-US" sz="1300" dirty="0"/>
          </a:p>
        </p:txBody>
      </p:sp>
      <p:sp>
        <p:nvSpPr>
          <p:cNvPr id="9" name="Text 7"/>
          <p:cNvSpPr/>
          <p:nvPr/>
        </p:nvSpPr>
        <p:spPr>
          <a:xfrm>
            <a:off x="1473200" y="4276130"/>
            <a:ext cx="4526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2EE"/>
                </a:solidFill>
                <a:latin typeface="IBM Plex Sans" pitchFamily="34" charset="0"/>
                <a:ea typeface="IBM Plex Sans" pitchFamily="34" charset="-122"/>
                <a:cs typeface="IBM Plex Sans" pitchFamily="34" charset="-120"/>
              </a:rPr>
              <a:t>GPT-5 and gpt-image-2 in Microsoft Foundry</a:t>
            </a:r>
            <a:endParaRPr lang="en-US" sz="1300" dirty="0"/>
          </a:p>
        </p:txBody>
      </p:sp>
      <p:sp>
        <p:nvSpPr>
          <p:cNvPr id="10" name="Text 8"/>
          <p:cNvSpPr/>
          <p:nvPr/>
        </p:nvSpPr>
        <p:spPr>
          <a:xfrm>
            <a:off x="1473200" y="4570710"/>
            <a:ext cx="45260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Chosen and evaluated per use case before release</a:t>
            </a:r>
            <a:endParaRPr lang="en-US" sz="1200" dirty="0"/>
          </a:p>
        </p:txBody>
      </p:sp>
      <p:sp>
        <p:nvSpPr>
          <p:cNvPr id="11" name="Text 9"/>
          <p:cNvSpPr/>
          <p:nvPr/>
        </p:nvSpPr>
        <p:spPr>
          <a:xfrm>
            <a:off x="1473200" y="4847530"/>
            <a:ext cx="45260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Read-only MCP tools only; no write actions</a:t>
            </a:r>
            <a:endParaRPr lang="en-US" sz="1200" dirty="0"/>
          </a:p>
        </p:txBody>
      </p:sp>
      <p:sp>
        <p:nvSpPr>
          <p:cNvPr id="12" name="Text 10"/>
          <p:cNvSpPr/>
          <p:nvPr/>
        </p:nvSpPr>
        <p:spPr>
          <a:xfrm>
            <a:off x="939800" y="1905000"/>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JetBrains Mono" pitchFamily="49" charset="0"/>
                <a:ea typeface="JetBrains Mono" pitchFamily="49" charset="-122"/>
                <a:cs typeface="JetBrains Mono" pitchFamily="49" charset="-120"/>
              </a:rPr>
              <a:t>1 · USER EXPERIENCE</a:t>
            </a:r>
            <a:endParaRPr lang="en-US" sz="1200" dirty="0"/>
          </a:p>
        </p:txBody>
      </p:sp>
      <p:sp>
        <p:nvSpPr>
          <p:cNvPr id="13" name="Text 11"/>
          <p:cNvSpPr/>
          <p:nvPr/>
        </p:nvSpPr>
        <p:spPr>
          <a:xfrm>
            <a:off x="939800" y="2131020"/>
            <a:ext cx="562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Entra sign-in · AI label · citations · report wrong answers</a:t>
            </a:r>
            <a:endParaRPr lang="en-US" sz="1200" dirty="0"/>
          </a:p>
        </p:txBody>
      </p:sp>
      <p:sp>
        <p:nvSpPr>
          <p:cNvPr id="14" name="Text 12"/>
          <p:cNvSpPr/>
          <p:nvPr/>
        </p:nvSpPr>
        <p:spPr>
          <a:xfrm>
            <a:off x="1092200" y="2476500"/>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JetBrains Mono" pitchFamily="49" charset="0"/>
                <a:ea typeface="JetBrains Mono" pitchFamily="49" charset="-122"/>
                <a:cs typeface="JetBrains Mono" pitchFamily="49" charset="-120"/>
              </a:rPr>
              <a:t>2 · SYSTEM MESSAGE &amp; GROUNDING</a:t>
            </a:r>
            <a:endParaRPr lang="en-US" sz="1200" dirty="0"/>
          </a:p>
        </p:txBody>
      </p:sp>
      <p:sp>
        <p:nvSpPr>
          <p:cNvPr id="15" name="Text 13"/>
          <p:cNvSpPr/>
          <p:nvPr/>
        </p:nvSpPr>
        <p:spPr>
          <a:xfrm>
            <a:off x="1092200" y="2702520"/>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Scope rules · answer only from sources · admit unknowns</a:t>
            </a:r>
            <a:endParaRPr lang="en-US" sz="1200" dirty="0"/>
          </a:p>
        </p:txBody>
      </p:sp>
      <p:sp>
        <p:nvSpPr>
          <p:cNvPr id="16" name="Text 14"/>
          <p:cNvSpPr/>
          <p:nvPr/>
        </p:nvSpPr>
        <p:spPr>
          <a:xfrm>
            <a:off x="1244600" y="3048000"/>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97B"/>
                </a:solidFill>
                <a:latin typeface="JetBrains Mono" pitchFamily="49" charset="0"/>
                <a:ea typeface="JetBrains Mono" pitchFamily="49" charset="-122"/>
                <a:cs typeface="JetBrains Mono" pitchFamily="49" charset="-120"/>
              </a:rPr>
              <a:t>3 · SAFETY SYSTEM (CONTENT SAFETY)</a:t>
            </a:r>
            <a:endParaRPr lang="en-US" sz="1200" dirty="0"/>
          </a:p>
        </p:txBody>
      </p:sp>
      <p:sp>
        <p:nvSpPr>
          <p:cNvPr id="17" name="Text 15"/>
          <p:cNvSpPr/>
          <p:nvPr/>
        </p:nvSpPr>
        <p:spPr>
          <a:xfrm>
            <a:off x="1244600" y="3274020"/>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IBM Plex Sans" pitchFamily="34" charset="0"/>
                <a:ea typeface="IBM Plex Sans" pitchFamily="34" charset="-122"/>
                <a:cs typeface="IBM Plex Sans" pitchFamily="34" charset="-120"/>
              </a:rPr>
              <a:t>Content filters · Prompt Shields · groundedness checks</a:t>
            </a:r>
            <a:endParaRPr lang="en-US" sz="1200" dirty="0"/>
          </a:p>
        </p:txBody>
      </p:sp>
      <p:pic>
        <p:nvPicPr>
          <p:cNvPr id="18" name="Image 0" descr="connector">    </p:cNvPr>
          <p:cNvPicPr>
            <a:picLocks noChangeAspect="1"/>
          </p:cNvPicPr>
          <p:nvPr/>
        </p:nvPicPr>
        <p:blipFill>
          <a:blip r:embed="rId1"/>
          <a:srcRect l="0" r="0" t="0" b="0"/>
          <a:stretch/>
        </p:blipFill>
        <p:spPr>
          <a:xfrm>
            <a:off x="6172200" y="2489200"/>
            <a:ext cx="635000" cy="863600"/>
          </a:xfrm>
          <a:prstGeom prst="rect">
            <a:avLst/>
          </a:prstGeom>
        </p:spPr>
      </p:pic>
      <p:pic>
        <p:nvPicPr>
          <p:cNvPr id="19" name="Image 1" descr="connector">    </p:cNvPr>
          <p:cNvPicPr>
            <a:picLocks noChangeAspect="1"/>
          </p:cNvPicPr>
          <p:nvPr/>
        </p:nvPicPr>
        <p:blipFill>
          <a:blip r:embed="rId2"/>
          <a:srcRect l="0" r="0" t="0" b="0"/>
          <a:stretch/>
        </p:blipFill>
        <p:spPr>
          <a:xfrm>
            <a:off x="6172200" y="3759200"/>
            <a:ext cx="635000" cy="101600"/>
          </a:xfrm>
          <a:prstGeom prst="rect">
            <a:avLst/>
          </a:prstGeom>
        </p:spPr>
      </p:pic>
      <p:sp>
        <p:nvSpPr>
          <p:cNvPr id="20" name="Shape 16"/>
          <p:cNvSpPr/>
          <p:nvPr/>
        </p:nvSpPr>
        <p:spPr>
          <a:xfrm>
            <a:off x="6756400" y="1841500"/>
            <a:ext cx="4622800" cy="1206500"/>
          </a:xfrm>
          <a:prstGeom prst="roundRect">
            <a:avLst>
              <a:gd name="adj" fmla="val 6316"/>
            </a:avLst>
          </a:prstGeom>
          <a:solidFill>
            <a:srgbClr val="F1EEE8"/>
          </a:solidFill>
          <a:ln/>
        </p:spPr>
      </p:sp>
      <p:sp>
        <p:nvSpPr>
          <p:cNvPr id="21" name="Shape 17"/>
          <p:cNvSpPr/>
          <p:nvPr/>
        </p:nvSpPr>
        <p:spPr>
          <a:xfrm>
            <a:off x="6756400" y="1841500"/>
            <a:ext cx="4622800" cy="1206500"/>
          </a:xfrm>
          <a:custGeom>
            <a:avLst/>
            <a:gdLst/>
            <a:ahLst/>
            <a:cxnLst/>
            <a:rect l="l" t="t" r="r" b="b"/>
            <a:pathLst>
              <a:path w="4622800" h="1206500">
                <a:moveTo>
                  <a:pt x="76200" y="1206500"/>
                </a:moveTo>
                <a:lnTo>
                  <a:pt x="76200" y="1206500"/>
                </a:lnTo>
                <a:arcTo hR="76200" wR="76200" stAng="5400000" swAng="5400000"/>
                <a:lnTo>
                  <a:pt x="0" y="76200"/>
                </a:lnTo>
                <a:arcTo hR="76200" wR="76200" stAng="10800000" swAng="5400000"/>
                <a:lnTo>
                  <a:pt x="76200" y="0"/>
                </a:lnTo>
                <a:arcTo hR="76200" wR="25400" stAng="16200000" swAng="-5400000"/>
                <a:lnTo>
                  <a:pt x="50800" y="1130300"/>
                </a:lnTo>
                <a:arcTo hR="76200" wR="25400" stAng="10800000" swAng="-5400000"/>
                <a:close/>
              </a:path>
            </a:pathLst>
          </a:custGeom>
          <a:solidFill>
            <a:srgbClr val="00697B"/>
          </a:solidFill>
          <a:ln/>
        </p:spPr>
      </p:sp>
      <p:sp>
        <p:nvSpPr>
          <p:cNvPr id="22" name="Text 18"/>
          <p:cNvSpPr/>
          <p:nvPr/>
        </p:nvSpPr>
        <p:spPr>
          <a:xfrm>
            <a:off x="6985000" y="1968500"/>
            <a:ext cx="4342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Input guardrails: the prompt</a:t>
            </a:r>
            <a:endParaRPr lang="en-US" sz="1300" dirty="0"/>
          </a:p>
        </p:txBody>
      </p:sp>
      <p:sp>
        <p:nvSpPr>
          <p:cNvPr id="23" name="Text 19"/>
          <p:cNvSpPr/>
          <p:nvPr/>
        </p:nvSpPr>
        <p:spPr>
          <a:xfrm>
            <a:off x="6985000" y="2250380"/>
            <a:ext cx="4342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User prompt attacks (jailbreaks) · indirect attacks hidden in documents, with spotlighting · personal data in the question</a:t>
            </a:r>
            <a:endParaRPr lang="en-US" sz="1200" dirty="0"/>
          </a:p>
        </p:txBody>
      </p:sp>
      <p:sp>
        <p:nvSpPr>
          <p:cNvPr id="24" name="Shape 20"/>
          <p:cNvSpPr/>
          <p:nvPr/>
        </p:nvSpPr>
        <p:spPr>
          <a:xfrm>
            <a:off x="6756400" y="3175000"/>
            <a:ext cx="4622800" cy="1397000"/>
          </a:xfrm>
          <a:prstGeom prst="roundRect">
            <a:avLst>
              <a:gd name="adj" fmla="val 5455"/>
            </a:avLst>
          </a:prstGeom>
          <a:solidFill>
            <a:srgbClr val="F1EEE8"/>
          </a:solidFill>
          <a:ln/>
        </p:spPr>
      </p:sp>
      <p:sp>
        <p:nvSpPr>
          <p:cNvPr id="25" name="Shape 21"/>
          <p:cNvSpPr/>
          <p:nvPr/>
        </p:nvSpPr>
        <p:spPr>
          <a:xfrm>
            <a:off x="6756400" y="3175000"/>
            <a:ext cx="4622800" cy="1397000"/>
          </a:xfrm>
          <a:custGeom>
            <a:avLst/>
            <a:gdLst/>
            <a:ahLst/>
            <a:cxnLst/>
            <a:rect l="l" t="t" r="r" b="b"/>
            <a:pathLst>
              <a:path w="4622800" h="1397000">
                <a:moveTo>
                  <a:pt x="76200" y="1397000"/>
                </a:moveTo>
                <a:lnTo>
                  <a:pt x="76200" y="1397000"/>
                </a:lnTo>
                <a:arcTo hR="76200" wR="76200" stAng="5400000" swAng="5400000"/>
                <a:lnTo>
                  <a:pt x="0" y="76200"/>
                </a:lnTo>
                <a:arcTo hR="76200" wR="76200" stAng="10800000" swAng="5400000"/>
                <a:lnTo>
                  <a:pt x="76200" y="0"/>
                </a:lnTo>
                <a:arcTo hR="76200" wR="25400" stAng="16200000" swAng="-5400000"/>
                <a:lnTo>
                  <a:pt x="50800" y="1320800"/>
                </a:lnTo>
                <a:arcTo hR="76200" wR="25400" stAng="10800000" swAng="-5400000"/>
                <a:close/>
              </a:path>
            </a:pathLst>
          </a:custGeom>
          <a:solidFill>
            <a:srgbClr val="00697B"/>
          </a:solidFill>
          <a:ln/>
        </p:spPr>
      </p:sp>
      <p:sp>
        <p:nvSpPr>
          <p:cNvPr id="26" name="Text 22"/>
          <p:cNvSpPr/>
          <p:nvPr/>
        </p:nvSpPr>
        <p:spPr>
          <a:xfrm>
            <a:off x="6985000" y="3302000"/>
            <a:ext cx="4342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Output guardrails: the response</a:t>
            </a:r>
            <a:endParaRPr lang="en-US" sz="1300" dirty="0"/>
          </a:p>
        </p:txBody>
      </p:sp>
      <p:sp>
        <p:nvSpPr>
          <p:cNvPr id="27" name="Text 23"/>
          <p:cNvSpPr/>
          <p:nvPr/>
        </p:nvSpPr>
        <p:spPr>
          <a:xfrm>
            <a:off x="6985000" y="3583880"/>
            <a:ext cx="43428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24C"/>
                </a:solidFill>
                <a:latin typeface="IBM Plex Sans" pitchFamily="34" charset="0"/>
                <a:ea typeface="IBM Plex Sans" pitchFamily="34" charset="-122"/>
                <a:cs typeface="IBM Plex Sans" pitchFamily="34" charset="-120"/>
              </a:rPr>
              <a:t>Violence · hate · sexual content · self-harm · protected code and text · groundedness against sources · personal data in the answer</a:t>
            </a:r>
            <a:endParaRPr lang="en-US" sz="1200" dirty="0"/>
          </a:p>
        </p:txBody>
      </p:sp>
      <p:sp>
        <p:nvSpPr>
          <p:cNvPr id="28" name="Shape 24"/>
          <p:cNvSpPr/>
          <p:nvPr/>
        </p:nvSpPr>
        <p:spPr>
          <a:xfrm>
            <a:off x="6756400" y="4699000"/>
            <a:ext cx="4622800" cy="1092200"/>
          </a:xfrm>
          <a:prstGeom prst="roundRect">
            <a:avLst>
              <a:gd name="adj" fmla="val 6977"/>
            </a:avLst>
          </a:prstGeom>
          <a:solidFill>
            <a:srgbClr val="14181F"/>
          </a:solidFill>
          <a:ln/>
        </p:spPr>
      </p:sp>
      <p:sp>
        <p:nvSpPr>
          <p:cNvPr id="29" name="Text 25"/>
          <p:cNvSpPr/>
          <p:nvPr/>
        </p:nvSpPr>
        <p:spPr>
          <a:xfrm>
            <a:off x="6934200" y="4826000"/>
            <a:ext cx="4395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070"/>
                </a:solidFill>
                <a:latin typeface="JetBrains Mono" pitchFamily="49" charset="0"/>
                <a:ea typeface="JetBrains Mono" pitchFamily="49" charset="-122"/>
                <a:cs typeface="JetBrains Mono" pitchFamily="49" charset="-120"/>
              </a:rPr>
              <a:t>PROCESS · MAP → MEASURE → MITIGATE → MANAGE</a:t>
            </a:r>
            <a:endParaRPr lang="en-US" sz="1200" dirty="0"/>
          </a:p>
        </p:txBody>
      </p:sp>
      <p:sp>
        <p:nvSpPr>
          <p:cNvPr id="30" name="Text 26"/>
          <p:cNvSpPr/>
          <p:nvPr/>
        </p:nvSpPr>
        <p:spPr>
          <a:xfrm>
            <a:off x="6934200" y="5102820"/>
            <a:ext cx="43952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Map likely harms, measure them in outputs, mitigate at every layer, manage with a readiness and operations plan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04 · PUTTING IT TOGETHER</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181F"/>
                </a:solidFill>
                <a:latin typeface="IBM Plex Sans" pitchFamily="34" charset="0"/>
                <a:ea typeface="IBM Plex Sans" pitchFamily="34" charset="-122"/>
                <a:cs typeface="IBM Plex Sans" pitchFamily="34" charset="-120"/>
              </a:rPr>
              <a:t>Regional stacks, one set of global rules</a:t>
            </a:r>
            <a:endParaRPr lang="en-US" sz="3000" dirty="0"/>
          </a:p>
        </p:txBody>
      </p:sp>
      <p:pic>
        <p:nvPicPr>
          <p:cNvPr id="4" name="Image 0" descr="connector">    </p:cNvPr>
          <p:cNvPicPr>
            <a:picLocks noChangeAspect="1"/>
          </p:cNvPicPr>
          <p:nvPr/>
        </p:nvPicPr>
        <p:blipFill>
          <a:blip r:embed="rId1"/>
          <a:srcRect l="0" r="0" t="0" b="0"/>
          <a:stretch/>
        </p:blipFill>
        <p:spPr>
          <a:xfrm>
            <a:off x="6045200" y="2298700"/>
            <a:ext cx="101600" cy="292100"/>
          </a:xfrm>
          <a:prstGeom prst="rect">
            <a:avLst/>
          </a:prstGeom>
        </p:spPr>
      </p:pic>
      <p:pic>
        <p:nvPicPr>
          <p:cNvPr id="5" name="Image 1" descr="connector">    </p:cNvPr>
          <p:cNvPicPr>
            <a:picLocks noChangeAspect="1"/>
          </p:cNvPicPr>
          <p:nvPr/>
        </p:nvPicPr>
        <p:blipFill>
          <a:blip r:embed="rId2"/>
          <a:srcRect l="0" r="0" t="0" b="0"/>
          <a:stretch/>
        </p:blipFill>
        <p:spPr>
          <a:xfrm>
            <a:off x="3238500" y="2870200"/>
            <a:ext cx="1638300" cy="482600"/>
          </a:xfrm>
          <a:prstGeom prst="rect">
            <a:avLst/>
          </a:prstGeom>
        </p:spPr>
      </p:pic>
      <p:pic>
        <p:nvPicPr>
          <p:cNvPr id="6" name="Image 2" descr="connector">    </p:cNvPr>
          <p:cNvPicPr>
            <a:picLocks noChangeAspect="1"/>
          </p:cNvPicPr>
          <p:nvPr/>
        </p:nvPicPr>
        <p:blipFill>
          <a:blip r:embed="rId3"/>
          <a:srcRect l="0" r="0" t="0" b="0"/>
          <a:stretch/>
        </p:blipFill>
        <p:spPr>
          <a:xfrm>
            <a:off x="7315200" y="2870200"/>
            <a:ext cx="1638300" cy="482600"/>
          </a:xfrm>
          <a:prstGeom prst="rect">
            <a:avLst/>
          </a:prstGeom>
        </p:spPr>
      </p:pic>
      <p:sp>
        <p:nvSpPr>
          <p:cNvPr id="7" name="Text 2"/>
          <p:cNvSpPr/>
          <p:nvPr/>
        </p:nvSpPr>
        <p:spPr>
          <a:xfrm>
            <a:off x="3556000" y="1841500"/>
            <a:ext cx="5080000" cy="508000"/>
          </a:xfrm>
          <a:prstGeom prst="roundRect">
            <a:avLst>
              <a:gd name="adj" fmla="val 15000"/>
            </a:avLst>
          </a:prstGeom>
          <a:solidFill>
            <a:srgbClr val="E8E5DF"/>
          </a:solidFill>
          <a:ln/>
        </p:spPr>
        <p:txBody>
          <a:bodyPr wrap="square" lIns="53882" tIns="53882" rIns="53882" bIns="53882" rtlCol="0" anchor="ctr">
            <a:normAutofit/>
          </a:bodyPr>
          <a:lstStyle/>
          <a:p>
            <a:pPr algn="ct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Users in India · UK · Germany · Saudi Arabia</a:t>
            </a:r>
            <a:endParaRPr lang="en-US" sz="1300" dirty="0"/>
          </a:p>
        </p:txBody>
      </p:sp>
      <p:sp>
        <p:nvSpPr>
          <p:cNvPr id="8" name="Text 3"/>
          <p:cNvSpPr/>
          <p:nvPr/>
        </p:nvSpPr>
        <p:spPr>
          <a:xfrm>
            <a:off x="4826000" y="2540000"/>
            <a:ext cx="2540000" cy="381000"/>
          </a:xfrm>
          <a:prstGeom prst="roundRect">
            <a:avLst>
              <a:gd name="adj" fmla="val 20000"/>
            </a:avLst>
          </a:prstGeom>
          <a:solidFill>
            <a:srgbClr val="14181F"/>
          </a:solidFill>
          <a:ln/>
        </p:spPr>
        <p:txBody>
          <a:bodyPr wrap="square" lIns="28482" tIns="28482" rIns="28482" bIns="28482" rtlCol="0" anchor="ctr">
            <a:normAutofit/>
          </a:bodyPr>
          <a:lstStyle/>
          <a:p>
            <a:pPr algn="ctr" indent="0" marL="0">
              <a:lnSpc>
                <a:spcPts val="1680"/>
              </a:lnSpc>
              <a:buNone/>
            </a:pPr>
            <a:r>
              <a:rPr lang="en-US" sz="1200" b="1" dirty="0">
                <a:solidFill>
                  <a:srgbClr val="F4F2EE"/>
                </a:solidFill>
                <a:latin typeface="IBM Plex Sans" pitchFamily="34" charset="0"/>
                <a:ea typeface="IBM Plex Sans" pitchFamily="34" charset="-122"/>
                <a:cs typeface="IBM Plex Sans" pitchFamily="34" charset="-120"/>
              </a:rPr>
              <a:t>Front Door: route by region</a:t>
            </a:r>
            <a:endParaRPr lang="en-US" sz="1200" dirty="0"/>
          </a:p>
        </p:txBody>
      </p:sp>
      <p:sp>
        <p:nvSpPr>
          <p:cNvPr id="9" name="Shape 4"/>
          <p:cNvSpPr/>
          <p:nvPr/>
        </p:nvSpPr>
        <p:spPr>
          <a:xfrm>
            <a:off x="822325" y="3311525"/>
            <a:ext cx="4933950" cy="1835150"/>
          </a:xfrm>
          <a:prstGeom prst="roundRect">
            <a:avLst>
              <a:gd name="adj" fmla="val 5017"/>
            </a:avLst>
          </a:prstGeom>
          <a:solidFill>
            <a:srgbClr val="FBFAF7"/>
          </a:solidFill>
          <a:ln w="19050">
            <a:solidFill>
              <a:srgbClr val="00697B"/>
            </a:solidFill>
            <a:prstDash val="solid"/>
          </a:ln>
        </p:spPr>
      </p:sp>
      <p:sp>
        <p:nvSpPr>
          <p:cNvPr id="10" name="Text 5"/>
          <p:cNvSpPr/>
          <p:nvPr/>
        </p:nvSpPr>
        <p:spPr>
          <a:xfrm>
            <a:off x="1009650" y="3498850"/>
            <a:ext cx="46960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697B"/>
                </a:solidFill>
                <a:latin typeface="JetBrains Mono" pitchFamily="49" charset="0"/>
                <a:ea typeface="JetBrains Mono" pitchFamily="49" charset="-122"/>
                <a:cs typeface="JetBrains Mono" pitchFamily="49" charset="-120"/>
              </a:rPr>
              <a:t>INDIA DEPLOYMENT</a:t>
            </a:r>
            <a:endParaRPr lang="en-US" sz="1300" dirty="0"/>
          </a:p>
        </p:txBody>
      </p:sp>
      <p:sp>
        <p:nvSpPr>
          <p:cNvPr id="11" name="Text 6"/>
          <p:cNvSpPr/>
          <p:nvPr/>
        </p:nvSpPr>
        <p:spPr>
          <a:xfrm>
            <a:off x="1009650" y="3793430"/>
            <a:ext cx="469607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App:</a:t>
            </a:r>
            <a:r>
              <a:rPr lang="en-US" sz="1250" dirty="0">
                <a:solidFill>
                  <a:srgbClr val="3B424C"/>
                </a:solidFill>
                <a:latin typeface="IBM Plex Sans" pitchFamily="34" charset="0"/>
                <a:ea typeface="IBM Plex Sans" pitchFamily="34" charset="-122"/>
                <a:cs typeface="IBM Plex Sans" pitchFamily="34" charset="-120"/>
              </a:rPr>
              <a:t> web UI, API Management, orchestrator</a:t>
            </a:r>
            <a:endParaRPr lang="en-US" sz="1250" dirty="0"/>
          </a:p>
        </p:txBody>
      </p:sp>
      <p:sp>
        <p:nvSpPr>
          <p:cNvPr id="12" name="Text 7"/>
          <p:cNvSpPr/>
          <p:nvPr/>
        </p:nvSpPr>
        <p:spPr>
          <a:xfrm>
            <a:off x="1009650" y="4079180"/>
            <a:ext cx="4696079"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Models:</a:t>
            </a:r>
            <a:r>
              <a:rPr lang="en-US" sz="1250" dirty="0">
                <a:solidFill>
                  <a:srgbClr val="3B424C"/>
                </a:solidFill>
                <a:latin typeface="IBM Plex Sans" pitchFamily="34" charset="0"/>
                <a:ea typeface="IBM Plex Sans" pitchFamily="34" charset="-122"/>
                <a:cs typeface="IBM Plex Sans" pitchFamily="34" charset="-120"/>
              </a:rPr>
              <a:t> GPT-5 as Standard or Regional Provisioned in an India region, if offered there</a:t>
            </a:r>
            <a:endParaRPr lang="en-US" sz="1250" dirty="0"/>
          </a:p>
        </p:txBody>
      </p:sp>
      <p:sp>
        <p:nvSpPr>
          <p:cNvPr id="13" name="Text 8"/>
          <p:cNvSpPr/>
          <p:nvPr/>
        </p:nvSpPr>
        <p:spPr>
          <a:xfrm>
            <a:off x="1009650" y="4587180"/>
            <a:ext cx="469607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Data:</a:t>
            </a:r>
            <a:r>
              <a:rPr lang="en-US" sz="1250" dirty="0">
                <a:solidFill>
                  <a:srgbClr val="3B424C"/>
                </a:solidFill>
                <a:latin typeface="IBM Plex Sans" pitchFamily="34" charset="0"/>
                <a:ea typeface="IBM Plex Sans" pitchFamily="34" charset="-122"/>
                <a:cs typeface="IBM Plex Sans" pitchFamily="34" charset="-120"/>
              </a:rPr>
              <a:t> AI Search, Cosmos DB, Blob in India</a:t>
            </a:r>
            <a:endParaRPr lang="en-US" sz="1250" dirty="0"/>
          </a:p>
        </p:txBody>
      </p:sp>
      <p:sp>
        <p:nvSpPr>
          <p:cNvPr id="14" name="Shape 9"/>
          <p:cNvSpPr/>
          <p:nvPr/>
        </p:nvSpPr>
        <p:spPr>
          <a:xfrm>
            <a:off x="6435725" y="3311525"/>
            <a:ext cx="4933950" cy="1835150"/>
          </a:xfrm>
          <a:prstGeom prst="roundRect">
            <a:avLst>
              <a:gd name="adj" fmla="val 5017"/>
            </a:avLst>
          </a:prstGeom>
          <a:solidFill>
            <a:srgbClr val="FBFAF7"/>
          </a:solidFill>
          <a:ln w="19050">
            <a:solidFill>
              <a:srgbClr val="00697B"/>
            </a:solidFill>
            <a:prstDash val="solid"/>
          </a:ln>
        </p:spPr>
      </p:sp>
      <p:sp>
        <p:nvSpPr>
          <p:cNvPr id="15" name="Text 10"/>
          <p:cNvSpPr/>
          <p:nvPr/>
        </p:nvSpPr>
        <p:spPr>
          <a:xfrm>
            <a:off x="6623050" y="3498850"/>
            <a:ext cx="46960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697B"/>
                </a:solidFill>
                <a:latin typeface="JetBrains Mono" pitchFamily="49" charset="0"/>
                <a:ea typeface="JetBrains Mono" pitchFamily="49" charset="-122"/>
                <a:cs typeface="JetBrains Mono" pitchFamily="49" charset="-120"/>
              </a:rPr>
              <a:t>EUROPE DEPLOYMENT</a:t>
            </a:r>
            <a:endParaRPr lang="en-US" sz="1300" dirty="0"/>
          </a:p>
        </p:txBody>
      </p:sp>
      <p:sp>
        <p:nvSpPr>
          <p:cNvPr id="16" name="Text 11"/>
          <p:cNvSpPr/>
          <p:nvPr/>
        </p:nvSpPr>
        <p:spPr>
          <a:xfrm>
            <a:off x="6623050" y="3793430"/>
            <a:ext cx="469607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App:</a:t>
            </a:r>
            <a:r>
              <a:rPr lang="en-US" sz="1250" dirty="0">
                <a:solidFill>
                  <a:srgbClr val="3B424C"/>
                </a:solidFill>
                <a:latin typeface="IBM Plex Sans" pitchFamily="34" charset="0"/>
                <a:ea typeface="IBM Plex Sans" pitchFamily="34" charset="-122"/>
                <a:cs typeface="IBM Plex Sans" pitchFamily="34" charset="-120"/>
              </a:rPr>
              <a:t> web UI, API Management, orchestrator</a:t>
            </a:r>
            <a:endParaRPr lang="en-US" sz="1250" dirty="0"/>
          </a:p>
        </p:txBody>
      </p:sp>
      <p:sp>
        <p:nvSpPr>
          <p:cNvPr id="17" name="Text 12"/>
          <p:cNvSpPr/>
          <p:nvPr/>
        </p:nvSpPr>
        <p:spPr>
          <a:xfrm>
            <a:off x="6623050" y="4079180"/>
            <a:ext cx="469607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Models:</a:t>
            </a:r>
            <a:r>
              <a:rPr lang="en-US" sz="1250" dirty="0">
                <a:solidFill>
                  <a:srgbClr val="3B424C"/>
                </a:solidFill>
                <a:latin typeface="IBM Plex Sans" pitchFamily="34" charset="0"/>
                <a:ea typeface="IBM Plex Sans" pitchFamily="34" charset="-122"/>
                <a:cs typeface="IBM Plex Sans" pitchFamily="34" charset="-120"/>
              </a:rPr>
              <a:t> GPT-5 and gpt-image-2 as Data Zone Standard (EU)</a:t>
            </a:r>
            <a:endParaRPr lang="en-US" sz="1250" dirty="0"/>
          </a:p>
        </p:txBody>
      </p:sp>
      <p:sp>
        <p:nvSpPr>
          <p:cNvPr id="18" name="Text 13"/>
          <p:cNvSpPr/>
          <p:nvPr/>
        </p:nvSpPr>
        <p:spPr>
          <a:xfrm>
            <a:off x="6623050" y="4364930"/>
            <a:ext cx="4696079"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Data:</a:t>
            </a:r>
            <a:r>
              <a:rPr lang="en-US" sz="1250" dirty="0">
                <a:solidFill>
                  <a:srgbClr val="3B424C"/>
                </a:solidFill>
                <a:latin typeface="IBM Plex Sans" pitchFamily="34" charset="0"/>
                <a:ea typeface="IBM Plex Sans" pitchFamily="34" charset="-122"/>
                <a:cs typeface="IBM Plex Sans" pitchFamily="34" charset="-120"/>
              </a:rPr>
              <a:t> AI Search, Cosmos DB, Blob in an approved EU region</a:t>
            </a:r>
            <a:endParaRPr lang="en-US" sz="1250" dirty="0"/>
          </a:p>
        </p:txBody>
      </p:sp>
      <p:sp>
        <p:nvSpPr>
          <p:cNvPr id="19" name="Shape 14"/>
          <p:cNvSpPr/>
          <p:nvPr/>
        </p:nvSpPr>
        <p:spPr>
          <a:xfrm>
            <a:off x="812800" y="5257800"/>
            <a:ext cx="10566400" cy="533400"/>
          </a:xfrm>
          <a:prstGeom prst="roundRect">
            <a:avLst>
              <a:gd name="adj" fmla="val 14286"/>
            </a:avLst>
          </a:prstGeom>
          <a:solidFill>
            <a:srgbClr val="14181F"/>
          </a:solidFill>
          <a:ln/>
        </p:spPr>
      </p:sp>
      <p:sp>
        <p:nvSpPr>
          <p:cNvPr id="20" name="Text 15"/>
          <p:cNvSpPr/>
          <p:nvPr/>
        </p:nvSpPr>
        <p:spPr>
          <a:xfrm>
            <a:off x="990600" y="5334000"/>
            <a:ext cx="10517124" cy="210245"/>
          </a:xfrm>
          <a:prstGeom prst="rect">
            <a:avLst/>
          </a:prstGeom>
          <a:noFill/>
          <a:ln/>
        </p:spPr>
        <p:txBody>
          <a:bodyPr wrap="square" lIns="0" tIns="0" rIns="0" bIns="0" rtlCol="0" anchor="t">
            <a:normAutofit/>
          </a:bodyPr>
          <a:lstStyle/>
          <a:p>
            <a:pPr algn="l" indent="0" marL="0">
              <a:lnSpc>
                <a:spcPts val="1473"/>
              </a:lnSpc>
              <a:buNone/>
            </a:pPr>
            <a:r>
              <a:rPr lang="en-US" sz="1052" b="1" dirty="0">
                <a:solidFill>
                  <a:srgbClr val="F4F2EE"/>
                </a:solidFill>
                <a:latin typeface="IBM Plex Sans" pitchFamily="34" charset="0"/>
                <a:ea typeface="IBM Plex Sans" pitchFamily="34" charset="-122"/>
                <a:cs typeface="IBM Plex Sans" pitchFamily="34" charset="-120"/>
              </a:rPr>
              <a:t>Common global governance</a:t>
            </a:r>
            <a:endParaRPr lang="en-US" sz="1052" dirty="0"/>
          </a:p>
        </p:txBody>
      </p:sp>
      <p:sp>
        <p:nvSpPr>
          <p:cNvPr id="21" name="Text 16"/>
          <p:cNvSpPr/>
          <p:nvPr/>
        </p:nvSpPr>
        <p:spPr>
          <a:xfrm>
            <a:off x="990600" y="5544245"/>
            <a:ext cx="10517124" cy="196155"/>
          </a:xfrm>
          <a:prstGeom prst="rect">
            <a:avLst/>
          </a:prstGeom>
          <a:noFill/>
          <a:ln/>
        </p:spPr>
        <p:txBody>
          <a:bodyPr wrap="square" lIns="0" tIns="0" rIns="0" bIns="0" rtlCol="0" anchor="t">
            <a:normAutofit/>
          </a:bodyPr>
          <a:lstStyle/>
          <a:p>
            <a:pPr algn="l" indent="0" marL="0">
              <a:lnSpc>
                <a:spcPts val="1370"/>
              </a:lnSpc>
              <a:buNone/>
            </a:pPr>
            <a:r>
              <a:rPr lang="en-US" sz="979" dirty="0">
                <a:solidFill>
                  <a:srgbClr val="D4D9E0"/>
                </a:solidFill>
                <a:latin typeface="IBM Plex Sans" pitchFamily="34" charset="0"/>
                <a:ea typeface="IBM Plex Sans" pitchFamily="34" charset="-122"/>
                <a:cs typeface="IBM Plex Sans" pitchFamily="34" charset="-120"/>
              </a:rPr>
              <a:t>Identity · security policy · IaC modules and CI/CD · monitoring · architecture standards</a:t>
            </a:r>
            <a:endParaRPr lang="en-US" sz="979"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04 · CHOOSING A DEPLOYMENT TYPE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181F"/>
                </a:solidFill>
                <a:latin typeface="IBM Plex Sans" pitchFamily="34" charset="0"/>
                <a:ea typeface="IBM Plex Sans" pitchFamily="34" charset="-122"/>
                <a:cs typeface="IBM Plex Sans" pitchFamily="34" charset="-120"/>
              </a:rPr>
              <a:t>Residency first, then load</a:t>
            </a:r>
            <a:endParaRPr lang="en-US" sz="3000" dirty="0"/>
          </a:p>
        </p:txBody>
      </p:sp>
      <p:pic>
        <p:nvPicPr>
          <p:cNvPr id="4" name="Image 0" descr="connector">    </p:cNvPr>
          <p:cNvPicPr>
            <a:picLocks noChangeAspect="1"/>
          </p:cNvPicPr>
          <p:nvPr/>
        </p:nvPicPr>
        <p:blipFill>
          <a:blip r:embed="rId1"/>
          <a:srcRect l="0" r="0" t="0" b="0"/>
          <a:stretch/>
        </p:blipFill>
        <p:spPr>
          <a:xfrm>
            <a:off x="5588000" y="2203450"/>
            <a:ext cx="1016000" cy="101600"/>
          </a:xfrm>
          <a:prstGeom prst="rect">
            <a:avLst/>
          </a:prstGeom>
        </p:spPr>
      </p:pic>
      <p:pic>
        <p:nvPicPr>
          <p:cNvPr id="5" name="Image 1" descr="connector">    </p:cNvPr>
          <p:cNvPicPr>
            <a:picLocks noChangeAspect="1"/>
          </p:cNvPicPr>
          <p:nvPr/>
        </p:nvPicPr>
        <p:blipFill>
          <a:blip r:embed="rId2"/>
          <a:srcRect l="0" r="0" t="0" b="0"/>
          <a:stretch/>
        </p:blipFill>
        <p:spPr>
          <a:xfrm>
            <a:off x="3175000" y="2552700"/>
            <a:ext cx="101600" cy="482600"/>
          </a:xfrm>
          <a:prstGeom prst="rect">
            <a:avLst/>
          </a:prstGeom>
        </p:spPr>
      </p:pic>
      <p:pic>
        <p:nvPicPr>
          <p:cNvPr id="6" name="Image 2" descr="connector">    </p:cNvPr>
          <p:cNvPicPr>
            <a:picLocks noChangeAspect="1"/>
          </p:cNvPicPr>
          <p:nvPr/>
        </p:nvPicPr>
        <p:blipFill>
          <a:blip r:embed="rId3"/>
          <a:srcRect l="0" r="0" t="0" b="0"/>
          <a:stretch/>
        </p:blipFill>
        <p:spPr>
          <a:xfrm>
            <a:off x="5588000" y="3282950"/>
            <a:ext cx="1016000" cy="101600"/>
          </a:xfrm>
          <a:prstGeom prst="rect">
            <a:avLst/>
          </a:prstGeom>
        </p:spPr>
      </p:pic>
      <p:pic>
        <p:nvPicPr>
          <p:cNvPr id="7" name="Image 3" descr="connector">    </p:cNvPr>
          <p:cNvPicPr>
            <a:picLocks noChangeAspect="1"/>
          </p:cNvPicPr>
          <p:nvPr/>
        </p:nvPicPr>
        <p:blipFill>
          <a:blip r:embed="rId4"/>
          <a:srcRect l="0" r="0" t="0" b="0"/>
          <a:stretch/>
        </p:blipFill>
        <p:spPr>
          <a:xfrm>
            <a:off x="3175000" y="3632200"/>
            <a:ext cx="101600" cy="482600"/>
          </a:xfrm>
          <a:prstGeom prst="rect">
            <a:avLst/>
          </a:prstGeom>
        </p:spPr>
      </p:pic>
      <p:sp>
        <p:nvSpPr>
          <p:cNvPr id="8" name="Text 2"/>
          <p:cNvSpPr/>
          <p:nvPr/>
        </p:nvSpPr>
        <p:spPr>
          <a:xfrm>
            <a:off x="5842000" y="193675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IBM Plex Sans" pitchFamily="34" charset="0"/>
                <a:ea typeface="IBM Plex Sans" pitchFamily="34" charset="-122"/>
                <a:cs typeface="IBM Plex Sans" pitchFamily="34" charset="-120"/>
              </a:rPr>
              <a:t>Yes</a:t>
            </a:r>
            <a:endParaRPr lang="en-US" sz="1200" dirty="0"/>
          </a:p>
        </p:txBody>
      </p:sp>
      <p:sp>
        <p:nvSpPr>
          <p:cNvPr id="9" name="Text 3"/>
          <p:cNvSpPr/>
          <p:nvPr/>
        </p:nvSpPr>
        <p:spPr>
          <a:xfrm>
            <a:off x="5842000" y="301625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IBM Plex Sans" pitchFamily="34" charset="0"/>
                <a:ea typeface="IBM Plex Sans" pitchFamily="34" charset="-122"/>
                <a:cs typeface="IBM Plex Sans" pitchFamily="34" charset="-120"/>
              </a:rPr>
              <a:t>Yes</a:t>
            </a:r>
            <a:endParaRPr lang="en-US" sz="1200" dirty="0"/>
          </a:p>
        </p:txBody>
      </p:sp>
      <p:sp>
        <p:nvSpPr>
          <p:cNvPr id="10" name="Text 4"/>
          <p:cNvSpPr/>
          <p:nvPr/>
        </p:nvSpPr>
        <p:spPr>
          <a:xfrm>
            <a:off x="3352800" y="266700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IBM Plex Sans" pitchFamily="34" charset="0"/>
                <a:ea typeface="IBM Plex Sans" pitchFamily="34" charset="-122"/>
                <a:cs typeface="IBM Plex Sans" pitchFamily="34" charset="-120"/>
              </a:rPr>
              <a:t>No</a:t>
            </a:r>
            <a:endParaRPr lang="en-US" sz="1200" dirty="0"/>
          </a:p>
        </p:txBody>
      </p:sp>
      <p:sp>
        <p:nvSpPr>
          <p:cNvPr id="11" name="Text 5"/>
          <p:cNvSpPr/>
          <p:nvPr/>
        </p:nvSpPr>
        <p:spPr>
          <a:xfrm>
            <a:off x="3352800" y="374650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24C"/>
                </a:solidFill>
                <a:latin typeface="IBM Plex Sans" pitchFamily="34" charset="0"/>
                <a:ea typeface="IBM Plex Sans" pitchFamily="34" charset="-122"/>
                <a:cs typeface="IBM Plex Sans" pitchFamily="34" charset="-120"/>
              </a:rPr>
              <a:t>No</a:t>
            </a:r>
            <a:endParaRPr lang="en-US" sz="1200" dirty="0"/>
          </a:p>
        </p:txBody>
      </p:sp>
      <p:sp>
        <p:nvSpPr>
          <p:cNvPr id="12" name="Text 6"/>
          <p:cNvSpPr/>
          <p:nvPr/>
        </p:nvSpPr>
        <p:spPr>
          <a:xfrm>
            <a:off x="819150" y="1911350"/>
            <a:ext cx="4813300" cy="685800"/>
          </a:xfrm>
          <a:prstGeom prst="roundRect">
            <a:avLst>
              <a:gd name="adj" fmla="val 10185"/>
            </a:avLst>
          </a:prstGeom>
          <a:solidFill>
            <a:srgbClr val="F1EEE8"/>
          </a:solidFill>
          <a:ln w="12700">
            <a:solidFill>
              <a:srgbClr val="C9C4BB"/>
            </a:solidFill>
            <a:prstDash val="solid"/>
          </a:ln>
        </p:spPr>
        <p:txBody>
          <a:bodyPr wrap="square" lIns="163692" tIns="87492" rIns="163692" bIns="87492" rtlCol="0" anchor="ctr">
            <a:normAutofit/>
          </a:bodyPr>
          <a:lstStyle/>
          <a:p>
            <a:pPr algn="l" indent="0" marL="0">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May prompts be processed in any Azure region?</a:t>
            </a:r>
            <a:endParaRPr lang="en-US" sz="1350" dirty="0"/>
          </a:p>
        </p:txBody>
      </p:sp>
      <p:sp>
        <p:nvSpPr>
          <p:cNvPr id="13" name="Shape 7"/>
          <p:cNvSpPr/>
          <p:nvPr/>
        </p:nvSpPr>
        <p:spPr>
          <a:xfrm>
            <a:off x="6559550" y="1911350"/>
            <a:ext cx="4813300" cy="685800"/>
          </a:xfrm>
          <a:prstGeom prst="roundRect">
            <a:avLst>
              <a:gd name="adj" fmla="val 10185"/>
            </a:avLst>
          </a:prstGeom>
          <a:solidFill>
            <a:srgbClr val="FDECEC"/>
          </a:solidFill>
          <a:ln w="12700">
            <a:solidFill>
              <a:srgbClr val="E60000"/>
            </a:solidFill>
            <a:prstDash val="solid"/>
          </a:ln>
        </p:spPr>
      </p:sp>
      <p:sp>
        <p:nvSpPr>
          <p:cNvPr id="14" name="Text 8"/>
          <p:cNvSpPr/>
          <p:nvPr/>
        </p:nvSpPr>
        <p:spPr>
          <a:xfrm>
            <a:off x="6743700" y="2019300"/>
            <a:ext cx="4578350" cy="260747"/>
          </a:xfrm>
          <a:prstGeom prst="rect">
            <a:avLst/>
          </a:prstGeom>
          <a:noFill/>
          <a:ln/>
        </p:spPr>
        <p:txBody>
          <a:bodyPr wrap="square" lIns="0" tIns="0" rIns="0" bIns="0" rtlCol="0" anchor="t">
            <a:normAutofit/>
          </a:bodyPr>
          <a:lstStyle/>
          <a:p>
            <a:pPr algn="l" indent="0" marL="0">
              <a:lnSpc>
                <a:spcPts val="1872"/>
              </a:lnSpc>
              <a:buNone/>
            </a:pPr>
            <a:r>
              <a:rPr lang="en-US" sz="1337" b="1" dirty="0">
                <a:solidFill>
                  <a:srgbClr val="14181F"/>
                </a:solidFill>
                <a:latin typeface="IBM Plex Sans" pitchFamily="34" charset="0"/>
                <a:ea typeface="IBM Plex Sans" pitchFamily="34" charset="-122"/>
                <a:cs typeface="IBM Plex Sans" pitchFamily="34" charset="-120"/>
              </a:rPr>
              <a:t>Global Standard</a:t>
            </a:r>
            <a:endParaRPr lang="en-US" sz="1337" dirty="0"/>
          </a:p>
        </p:txBody>
      </p:sp>
      <p:sp>
        <p:nvSpPr>
          <p:cNvPr id="15" name="Text 9"/>
          <p:cNvSpPr/>
          <p:nvPr/>
        </p:nvSpPr>
        <p:spPr>
          <a:xfrm>
            <a:off x="6743700" y="2280047"/>
            <a:ext cx="4578350" cy="234553"/>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3B424C"/>
                </a:solidFill>
                <a:latin typeface="IBM Plex Sans" pitchFamily="34" charset="0"/>
                <a:ea typeface="IBM Plex Sans" pitchFamily="34" charset="-122"/>
                <a:cs typeface="IBM Plex Sans" pitchFamily="34" charset="-120"/>
              </a:rPr>
              <a:t>Most quota, newest models, lowest price</a:t>
            </a:r>
            <a:endParaRPr lang="en-US" sz="1196" dirty="0"/>
          </a:p>
        </p:txBody>
      </p:sp>
      <p:sp>
        <p:nvSpPr>
          <p:cNvPr id="16" name="Text 10"/>
          <p:cNvSpPr/>
          <p:nvPr/>
        </p:nvSpPr>
        <p:spPr>
          <a:xfrm>
            <a:off x="819150" y="2990850"/>
            <a:ext cx="4813300" cy="685800"/>
          </a:xfrm>
          <a:prstGeom prst="roundRect">
            <a:avLst>
              <a:gd name="adj" fmla="val 10185"/>
            </a:avLst>
          </a:prstGeom>
          <a:solidFill>
            <a:srgbClr val="F1EEE8"/>
          </a:solidFill>
          <a:ln w="12700">
            <a:solidFill>
              <a:srgbClr val="C9C4BB"/>
            </a:solidFill>
            <a:prstDash val="solid"/>
          </a:ln>
        </p:spPr>
        <p:txBody>
          <a:bodyPr wrap="square" lIns="163692" tIns="87492" rIns="163692" bIns="87492" rtlCol="0" anchor="ctr">
            <a:normAutofit/>
          </a:bodyPr>
          <a:lstStyle/>
          <a:p>
            <a:pPr algn="l" indent="0" marL="0">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Is processing inside the EU, US or APAC zone enough?</a:t>
            </a:r>
            <a:endParaRPr lang="en-US" sz="1350" dirty="0"/>
          </a:p>
        </p:txBody>
      </p:sp>
      <p:sp>
        <p:nvSpPr>
          <p:cNvPr id="17" name="Shape 11"/>
          <p:cNvSpPr/>
          <p:nvPr/>
        </p:nvSpPr>
        <p:spPr>
          <a:xfrm>
            <a:off x="6559550" y="2990850"/>
            <a:ext cx="4813300" cy="685800"/>
          </a:xfrm>
          <a:prstGeom prst="roundRect">
            <a:avLst>
              <a:gd name="adj" fmla="val 10185"/>
            </a:avLst>
          </a:prstGeom>
          <a:solidFill>
            <a:srgbClr val="E3F1F3"/>
          </a:solidFill>
          <a:ln w="12700">
            <a:solidFill>
              <a:srgbClr val="00697B"/>
            </a:solidFill>
            <a:prstDash val="solid"/>
          </a:ln>
        </p:spPr>
      </p:sp>
      <p:sp>
        <p:nvSpPr>
          <p:cNvPr id="18" name="Text 12"/>
          <p:cNvSpPr/>
          <p:nvPr/>
        </p:nvSpPr>
        <p:spPr>
          <a:xfrm>
            <a:off x="6743700" y="3098800"/>
            <a:ext cx="4578350" cy="260747"/>
          </a:xfrm>
          <a:prstGeom prst="rect">
            <a:avLst/>
          </a:prstGeom>
          <a:noFill/>
          <a:ln/>
        </p:spPr>
        <p:txBody>
          <a:bodyPr wrap="square" lIns="0" tIns="0" rIns="0" bIns="0" rtlCol="0" anchor="t">
            <a:normAutofit/>
          </a:bodyPr>
          <a:lstStyle/>
          <a:p>
            <a:pPr algn="l" indent="0" marL="0">
              <a:lnSpc>
                <a:spcPts val="1872"/>
              </a:lnSpc>
              <a:buNone/>
            </a:pPr>
            <a:r>
              <a:rPr lang="en-US" sz="1337" b="1" dirty="0">
                <a:solidFill>
                  <a:srgbClr val="14181F"/>
                </a:solidFill>
                <a:latin typeface="IBM Plex Sans" pitchFamily="34" charset="0"/>
                <a:ea typeface="IBM Plex Sans" pitchFamily="34" charset="-122"/>
                <a:cs typeface="IBM Plex Sans" pitchFamily="34" charset="-120"/>
              </a:rPr>
              <a:t>Data Zone Standard</a:t>
            </a:r>
            <a:endParaRPr lang="en-US" sz="1337" dirty="0"/>
          </a:p>
        </p:txBody>
      </p:sp>
      <p:sp>
        <p:nvSpPr>
          <p:cNvPr id="19" name="Text 13"/>
          <p:cNvSpPr/>
          <p:nvPr/>
        </p:nvSpPr>
        <p:spPr>
          <a:xfrm>
            <a:off x="6743700" y="3359547"/>
            <a:ext cx="4578350" cy="234553"/>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3B424C"/>
                </a:solidFill>
                <a:latin typeface="IBM Plex Sans" pitchFamily="34" charset="0"/>
                <a:ea typeface="IBM Plex Sans" pitchFamily="34" charset="-122"/>
                <a:cs typeface="IBM Plex Sans" pitchFamily="34" charset="-120"/>
              </a:rPr>
              <a:t>Zone-bound processing, good quota</a:t>
            </a:r>
            <a:endParaRPr lang="en-US" sz="1196" dirty="0"/>
          </a:p>
        </p:txBody>
      </p:sp>
      <p:sp>
        <p:nvSpPr>
          <p:cNvPr id="20" name="Shape 14"/>
          <p:cNvSpPr/>
          <p:nvPr/>
        </p:nvSpPr>
        <p:spPr>
          <a:xfrm>
            <a:off x="812800" y="4064000"/>
            <a:ext cx="10566400" cy="698500"/>
          </a:xfrm>
          <a:prstGeom prst="roundRect">
            <a:avLst>
              <a:gd name="adj" fmla="val 10909"/>
            </a:avLst>
          </a:prstGeom>
          <a:solidFill>
            <a:srgbClr val="14181F"/>
          </a:solidFill>
          <a:ln/>
        </p:spPr>
      </p:sp>
      <p:sp>
        <p:nvSpPr>
          <p:cNvPr id="21" name="Text 15"/>
          <p:cNvSpPr/>
          <p:nvPr/>
        </p:nvSpPr>
        <p:spPr>
          <a:xfrm>
            <a:off x="990600" y="4173835"/>
            <a:ext cx="10517124"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4F2EE"/>
                </a:solidFill>
                <a:latin typeface="IBM Plex Sans" pitchFamily="34" charset="0"/>
                <a:ea typeface="IBM Plex Sans" pitchFamily="34" charset="-122"/>
                <a:cs typeface="IBM Plex Sans" pitchFamily="34" charset="-120"/>
              </a:rPr>
              <a:t>Standard (regional) or Regional Provisioned in the required geography</a:t>
            </a:r>
            <a:endParaRPr lang="en-US" sz="1350" dirty="0"/>
          </a:p>
        </p:txBody>
      </p:sp>
      <p:sp>
        <p:nvSpPr>
          <p:cNvPr id="22" name="Text 16"/>
          <p:cNvSpPr/>
          <p:nvPr/>
        </p:nvSpPr>
        <p:spPr>
          <a:xfrm>
            <a:off x="990600" y="4439245"/>
            <a:ext cx="105171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9E0"/>
                </a:solidFill>
                <a:latin typeface="IBM Plex Sans" pitchFamily="34" charset="0"/>
                <a:ea typeface="IBM Plex Sans" pitchFamily="34" charset="-122"/>
                <a:cs typeface="IBM Plex Sans" pitchFamily="34" charset="-120"/>
              </a:rPr>
              <a:t>Check the model is offered there; plan a compliant fallback if not</a:t>
            </a:r>
            <a:endParaRPr lang="en-US" sz="1200" dirty="0"/>
          </a:p>
        </p:txBody>
      </p:sp>
      <p:sp>
        <p:nvSpPr>
          <p:cNvPr id="23" name="Text 17"/>
          <p:cNvSpPr/>
          <p:nvPr/>
        </p:nvSpPr>
        <p:spPr>
          <a:xfrm>
            <a:off x="838200" y="5259090"/>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00000"/>
                </a:solidFill>
                <a:latin typeface="JetBrains Mono" pitchFamily="49" charset="0"/>
                <a:ea typeface="JetBrains Mono" pitchFamily="49" charset="-122"/>
                <a:cs typeface="JetBrains Mono" pitchFamily="49" charset="-120"/>
              </a:rPr>
              <a:t>THEN SIZE IT</a:t>
            </a:r>
            <a:endParaRPr lang="en-US" sz="1200" dirty="0"/>
          </a:p>
        </p:txBody>
      </p:sp>
      <p:sp>
        <p:nvSpPr>
          <p:cNvPr id="24" name="Text 18"/>
          <p:cNvSpPr/>
          <p:nvPr/>
        </p:nvSpPr>
        <p:spPr>
          <a:xfrm>
            <a:off x="2870200" y="5143500"/>
            <a:ext cx="274701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Steady, high volume</a:t>
            </a:r>
            <a:r>
              <a:rPr lang="en-US" sz="1250" dirty="0">
                <a:solidFill>
                  <a:srgbClr val="3B424C"/>
                </a:solidFill>
                <a:latin typeface="IBM Plex Sans" pitchFamily="34" charset="0"/>
                <a:ea typeface="IBM Plex Sans" pitchFamily="34" charset="-122"/>
                <a:cs typeface="IBM Plex Sans" pitchFamily="34" charset="-120"/>
              </a:rPr>
              <a:t> → Provisioned (PTU)</a:t>
            </a:r>
            <a:endParaRPr lang="en-US" sz="1250" dirty="0"/>
          </a:p>
        </p:txBody>
      </p:sp>
      <p:sp>
        <p:nvSpPr>
          <p:cNvPr id="25" name="Text 19"/>
          <p:cNvSpPr/>
          <p:nvPr/>
        </p:nvSpPr>
        <p:spPr>
          <a:xfrm>
            <a:off x="5791200" y="5143500"/>
            <a:ext cx="274701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Bursty, variable</a:t>
            </a:r>
            <a:r>
              <a:rPr lang="en-US" sz="1250" dirty="0">
                <a:solidFill>
                  <a:srgbClr val="3B424C"/>
                </a:solidFill>
                <a:latin typeface="IBM Plex Sans" pitchFamily="34" charset="0"/>
                <a:ea typeface="IBM Plex Sans" pitchFamily="34" charset="-122"/>
                <a:cs typeface="IBM Plex Sans" pitchFamily="34" charset="-120"/>
              </a:rPr>
              <a:t> → Standard, pay per token</a:t>
            </a:r>
            <a:endParaRPr lang="en-US" sz="1250" dirty="0"/>
          </a:p>
        </p:txBody>
      </p:sp>
      <p:sp>
        <p:nvSpPr>
          <p:cNvPr id="26" name="Text 20"/>
          <p:cNvSpPr/>
          <p:nvPr/>
        </p:nvSpPr>
        <p:spPr>
          <a:xfrm>
            <a:off x="8712200" y="5254625"/>
            <a:ext cx="274701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B424C"/>
                </a:solidFill>
                <a:latin typeface="IBM Plex Sans" pitchFamily="34" charset="0"/>
                <a:ea typeface="IBM Plex Sans" pitchFamily="34" charset="-122"/>
                <a:cs typeface="IBM Plex Sans" pitchFamily="34" charset="-120"/>
              </a:rPr>
              <a:t>Async, large jobs</a:t>
            </a:r>
            <a:r>
              <a:rPr lang="en-US" sz="1250" dirty="0">
                <a:solidFill>
                  <a:srgbClr val="3B424C"/>
                </a:solidFill>
                <a:latin typeface="IBM Plex Sans" pitchFamily="34" charset="0"/>
                <a:ea typeface="IBM Plex Sans" pitchFamily="34" charset="-122"/>
                <a:cs typeface="IBM Plex Sans" pitchFamily="34" charset="-120"/>
              </a:rPr>
              <a:t> → Batch</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070"/>
                </a:solidFill>
                <a:latin typeface="JetBrains Mono" pitchFamily="49" charset="0"/>
                <a:ea typeface="JetBrains Mono" pitchFamily="49" charset="-122"/>
                <a:cs typeface="JetBrains Mono" pitchFamily="49" charset="-120"/>
              </a:rPr>
              <a:t>04 · WHEN REQUIREMENTS CONFLICT</a:t>
            </a:r>
            <a:endParaRPr lang="en-US" sz="1200" dirty="0"/>
          </a:p>
        </p:txBody>
      </p:sp>
      <p:sp>
        <p:nvSpPr>
          <p:cNvPr id="3" name="Text 1"/>
          <p:cNvSpPr/>
          <p:nvPr>
            <p:ph type="title"/>
          </p:nvPr>
        </p:nvSpPr>
        <p:spPr>
          <a:xfrm>
            <a:off x="812800" y="11277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2EE"/>
                </a:solidFill>
                <a:latin typeface="IBM Plex Sans" pitchFamily="34" charset="0"/>
                <a:ea typeface="IBM Plex Sans" pitchFamily="34" charset="-122"/>
                <a:cs typeface="IBM Plex Sans" pitchFamily="34" charset="-120"/>
              </a:rPr>
              <a:t>Europe peaks at 10,000 req/s, and EU records cannot go to India</a:t>
            </a:r>
            <a:endParaRPr lang="en-US" sz="3000" dirty="0"/>
          </a:p>
        </p:txBody>
      </p:sp>
      <p:sp>
        <p:nvSpPr>
          <p:cNvPr id="4" name="Shape 2"/>
          <p:cNvSpPr/>
          <p:nvPr/>
        </p:nvSpPr>
        <p:spPr>
          <a:xfrm>
            <a:off x="812800" y="2245320"/>
            <a:ext cx="5207000" cy="1146175"/>
          </a:xfrm>
          <a:prstGeom prst="roundRect">
            <a:avLst>
              <a:gd name="adj" fmla="val 8864"/>
            </a:avLst>
          </a:prstGeom>
          <a:solidFill>
            <a:srgbClr val="222831"/>
          </a:solidFill>
          <a:ln/>
        </p:spPr>
      </p:sp>
      <p:sp>
        <p:nvSpPr>
          <p:cNvPr id="5" name="Text 3"/>
          <p:cNvSpPr/>
          <p:nvPr/>
        </p:nvSpPr>
        <p:spPr>
          <a:xfrm>
            <a:off x="1016000" y="2448520"/>
            <a:ext cx="1782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070"/>
                </a:solidFill>
                <a:latin typeface="JetBrains Mono" pitchFamily="49" charset="0"/>
                <a:ea typeface="JetBrains Mono" pitchFamily="49" charset="-122"/>
                <a:cs typeface="JetBrains Mono" pitchFamily="49" charset="-120"/>
              </a:rPr>
              <a:t>1</a:t>
            </a:r>
            <a:endParaRPr lang="en-US" sz="2000" dirty="0"/>
          </a:p>
        </p:txBody>
      </p:sp>
      <p:sp>
        <p:nvSpPr>
          <p:cNvPr id="6" name="Text 4"/>
          <p:cNvSpPr/>
          <p:nvPr/>
        </p:nvSpPr>
        <p:spPr>
          <a:xfrm>
            <a:off x="1295896" y="2448520"/>
            <a:ext cx="46563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Preserve residency</a:t>
            </a:r>
            <a:endParaRPr lang="en-US" sz="1500" dirty="0"/>
          </a:p>
        </p:txBody>
      </p:sp>
      <p:sp>
        <p:nvSpPr>
          <p:cNvPr id="7" name="Text 5"/>
          <p:cNvSpPr/>
          <p:nvPr/>
        </p:nvSpPr>
        <p:spPr>
          <a:xfrm>
            <a:off x="1295896" y="2727920"/>
            <a:ext cx="4656325"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4D9E0"/>
                </a:solidFill>
                <a:latin typeface="IBM Plex Sans" pitchFamily="34" charset="0"/>
                <a:ea typeface="IBM Plex Sans" pitchFamily="34" charset="-122"/>
                <a:cs typeface="IBM Plex Sans" pitchFamily="34" charset="-120"/>
              </a:rPr>
              <a:t>Keep restricted records and their AI processing inside approved boundaries.</a:t>
            </a:r>
            <a:endParaRPr lang="en-US" sz="1250" dirty="0"/>
          </a:p>
        </p:txBody>
      </p:sp>
      <p:sp>
        <p:nvSpPr>
          <p:cNvPr id="8" name="Shape 6"/>
          <p:cNvSpPr/>
          <p:nvPr/>
        </p:nvSpPr>
        <p:spPr>
          <a:xfrm>
            <a:off x="6172200" y="2245320"/>
            <a:ext cx="5207000" cy="1146175"/>
          </a:xfrm>
          <a:prstGeom prst="roundRect">
            <a:avLst>
              <a:gd name="adj" fmla="val 8864"/>
            </a:avLst>
          </a:prstGeom>
          <a:solidFill>
            <a:srgbClr val="222831"/>
          </a:solidFill>
          <a:ln/>
        </p:spPr>
      </p:sp>
      <p:sp>
        <p:nvSpPr>
          <p:cNvPr id="9" name="Text 7"/>
          <p:cNvSpPr/>
          <p:nvPr/>
        </p:nvSpPr>
        <p:spPr>
          <a:xfrm>
            <a:off x="6375400" y="2448520"/>
            <a:ext cx="18196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070"/>
                </a:solidFill>
                <a:latin typeface="JetBrains Mono" pitchFamily="49" charset="0"/>
                <a:ea typeface="JetBrains Mono" pitchFamily="49" charset="-122"/>
                <a:cs typeface="JetBrains Mono" pitchFamily="49" charset="-120"/>
              </a:rPr>
              <a:t>2</a:t>
            </a:r>
            <a:endParaRPr lang="en-US" sz="2000" dirty="0"/>
          </a:p>
        </p:txBody>
      </p:sp>
      <p:sp>
        <p:nvSpPr>
          <p:cNvPr id="10" name="Text 8"/>
          <p:cNvSpPr/>
          <p:nvPr/>
        </p:nvSpPr>
        <p:spPr>
          <a:xfrm>
            <a:off x="6658967" y="2448520"/>
            <a:ext cx="465254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Scale locally</a:t>
            </a:r>
            <a:endParaRPr lang="en-US" sz="1500" dirty="0"/>
          </a:p>
        </p:txBody>
      </p:sp>
      <p:sp>
        <p:nvSpPr>
          <p:cNvPr id="11" name="Text 9"/>
          <p:cNvSpPr/>
          <p:nvPr/>
        </p:nvSpPr>
        <p:spPr>
          <a:xfrm>
            <a:off x="6658967" y="2727920"/>
            <a:ext cx="4652544"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4D9E0"/>
                </a:solidFill>
                <a:latin typeface="IBM Plex Sans" pitchFamily="34" charset="0"/>
                <a:ea typeface="IBM Plex Sans" pitchFamily="34" charset="-122"/>
                <a:cs typeface="IBM Plex Sans" pitchFamily="34" charset="-120"/>
              </a:rPr>
              <a:t>More app instances, more EU model quota or PTUs, caching inside the EU.</a:t>
            </a:r>
            <a:endParaRPr lang="en-US" sz="1250" dirty="0"/>
          </a:p>
        </p:txBody>
      </p:sp>
      <p:sp>
        <p:nvSpPr>
          <p:cNvPr id="12" name="Shape 10"/>
          <p:cNvSpPr/>
          <p:nvPr/>
        </p:nvSpPr>
        <p:spPr>
          <a:xfrm>
            <a:off x="812800" y="3543895"/>
            <a:ext cx="5207000" cy="1146175"/>
          </a:xfrm>
          <a:prstGeom prst="roundRect">
            <a:avLst>
              <a:gd name="adj" fmla="val 8864"/>
            </a:avLst>
          </a:prstGeom>
          <a:solidFill>
            <a:srgbClr val="222831"/>
          </a:solidFill>
          <a:ln/>
        </p:spPr>
      </p:sp>
      <p:sp>
        <p:nvSpPr>
          <p:cNvPr id="13" name="Text 11"/>
          <p:cNvSpPr/>
          <p:nvPr/>
        </p:nvSpPr>
        <p:spPr>
          <a:xfrm>
            <a:off x="1016000" y="3747095"/>
            <a:ext cx="17819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070"/>
                </a:solidFill>
                <a:latin typeface="JetBrains Mono" pitchFamily="49" charset="0"/>
                <a:ea typeface="JetBrains Mono" pitchFamily="49" charset="-122"/>
                <a:cs typeface="JetBrains Mono" pitchFamily="49" charset="-120"/>
              </a:rPr>
              <a:t>3</a:t>
            </a:r>
            <a:endParaRPr lang="en-US" sz="2000" dirty="0"/>
          </a:p>
        </p:txBody>
      </p:sp>
      <p:sp>
        <p:nvSpPr>
          <p:cNvPr id="14" name="Text 12"/>
          <p:cNvSpPr/>
          <p:nvPr/>
        </p:nvSpPr>
        <p:spPr>
          <a:xfrm>
            <a:off x="1295797" y="3747095"/>
            <a:ext cx="46564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Share carefully</a:t>
            </a:r>
            <a:endParaRPr lang="en-US" sz="1500" dirty="0"/>
          </a:p>
        </p:txBody>
      </p:sp>
      <p:sp>
        <p:nvSpPr>
          <p:cNvPr id="15" name="Text 13"/>
          <p:cNvSpPr/>
          <p:nvPr/>
        </p:nvSpPr>
        <p:spPr>
          <a:xfrm>
            <a:off x="1295797" y="4026495"/>
            <a:ext cx="4656427"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4D9E0"/>
                </a:solidFill>
                <a:latin typeface="IBM Plex Sans" pitchFamily="34" charset="0"/>
                <a:ea typeface="IBM Plex Sans" pitchFamily="34" charset="-122"/>
                <a:cs typeface="IBM Plex Sans" pitchFamily="34" charset="-120"/>
              </a:rPr>
              <a:t>Share code, IaC modules and non-sensitive metadata, never restricted data.</a:t>
            </a:r>
            <a:endParaRPr lang="en-US" sz="1250" dirty="0"/>
          </a:p>
        </p:txBody>
      </p:sp>
      <p:sp>
        <p:nvSpPr>
          <p:cNvPr id="16" name="Shape 14"/>
          <p:cNvSpPr/>
          <p:nvPr/>
        </p:nvSpPr>
        <p:spPr>
          <a:xfrm>
            <a:off x="6172200" y="3543895"/>
            <a:ext cx="5207000" cy="1146175"/>
          </a:xfrm>
          <a:prstGeom prst="roundRect">
            <a:avLst>
              <a:gd name="adj" fmla="val 8864"/>
            </a:avLst>
          </a:prstGeom>
          <a:solidFill>
            <a:srgbClr val="222831"/>
          </a:solidFill>
          <a:ln/>
        </p:spPr>
      </p:sp>
      <p:sp>
        <p:nvSpPr>
          <p:cNvPr id="17" name="Text 15"/>
          <p:cNvSpPr/>
          <p:nvPr/>
        </p:nvSpPr>
        <p:spPr>
          <a:xfrm>
            <a:off x="6375400" y="3747095"/>
            <a:ext cx="17859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070"/>
                </a:solidFill>
                <a:latin typeface="JetBrains Mono" pitchFamily="49" charset="0"/>
                <a:ea typeface="JetBrains Mono" pitchFamily="49" charset="-122"/>
                <a:cs typeface="JetBrains Mono" pitchFamily="49" charset="-120"/>
              </a:rPr>
              <a:t>4</a:t>
            </a:r>
            <a:endParaRPr lang="en-US" sz="2000" dirty="0"/>
          </a:p>
        </p:txBody>
      </p:sp>
      <p:sp>
        <p:nvSpPr>
          <p:cNvPr id="18" name="Text 16"/>
          <p:cNvSpPr/>
          <p:nvPr/>
        </p:nvSpPr>
        <p:spPr>
          <a:xfrm>
            <a:off x="6655594" y="3747095"/>
            <a:ext cx="46560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2EE"/>
                </a:solidFill>
                <a:latin typeface="IBM Plex Sans" pitchFamily="34" charset="0"/>
                <a:ea typeface="IBM Plex Sans" pitchFamily="34" charset="-122"/>
                <a:cs typeface="IBM Plex Sans" pitchFamily="34" charset="-120"/>
              </a:rPr>
              <a:t>Fail over compliantly</a:t>
            </a:r>
            <a:endParaRPr lang="en-US" sz="1500" dirty="0"/>
          </a:p>
        </p:txBody>
      </p:sp>
      <p:sp>
        <p:nvSpPr>
          <p:cNvPr id="19" name="Text 17"/>
          <p:cNvSpPr/>
          <p:nvPr/>
        </p:nvSpPr>
        <p:spPr>
          <a:xfrm>
            <a:off x="6655594" y="4026495"/>
            <a:ext cx="4656018"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4D9E0"/>
                </a:solidFill>
                <a:latin typeface="IBM Plex Sans" pitchFamily="34" charset="0"/>
                <a:ea typeface="IBM Plex Sans" pitchFamily="34" charset="-122"/>
                <a:cs typeface="IBM Plex Sans" pitchFamily="34" charset="-120"/>
              </a:rPr>
              <a:t>On an outage, fail over only to a location that meets data and recovery rules.</a:t>
            </a:r>
            <a:endParaRPr lang="en-US" sz="1250" dirty="0"/>
          </a:p>
        </p:txBody>
      </p:sp>
      <p:sp>
        <p:nvSpPr>
          <p:cNvPr id="20" name="Text 18"/>
          <p:cNvSpPr/>
          <p:nvPr/>
        </p:nvSpPr>
        <p:spPr>
          <a:xfrm>
            <a:off x="812800" y="49694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2EE"/>
                </a:solidFill>
                <a:latin typeface="IBM Plex Sans" pitchFamily="34" charset="0"/>
                <a:ea typeface="IBM Plex Sans" pitchFamily="34" charset="-122"/>
                <a:cs typeface="IBM Plex Sans" pitchFamily="34" charset="-120"/>
              </a:rPr>
              <a:t>Higher throughput must never be bought by breaking a data restriction.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00000"/>
                </a:solidFill>
                <a:latin typeface="JetBrains Mono" pitchFamily="49" charset="0"/>
                <a:ea typeface="JetBrains Mono" pitchFamily="49" charset="-122"/>
                <a:cs typeface="JetBrains Mono" pitchFamily="49" charset="-120"/>
              </a:rPr>
              <a:t>04 · DESIGN DECISIONS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How each concern shapes the same design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130326"/>
        </p:xfrm>
        <a:graphic>
          <a:graphicData uri="http://schemas.openxmlformats.org/drawingml/2006/table">
            <a:tbl>
              <a:tblPr/>
              <a:tblGrid>
                <a:gridCol w="1899666"/>
                <a:gridCol w="3166110"/>
                <a:gridCol w="3377184"/>
                <a:gridCol w="2110740"/>
              </a:tblGrid>
              <a:tr h="359271">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Concern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Application decision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AI model decision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indent="0" marL="0">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Achieves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r>
              <a:tr h="590352">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Throughput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Scale app instances, cache, tune databases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Size TPM; PTUs for steady load; retry on 429; separate image quota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Handles more requests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Data residency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Store restricted data in approved regions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Data Zone or regional deployment; logs and images kept in region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Meets location rules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590352">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Global standard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Reuse security policy, IaC modules, monitoring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Same orchestrator, prompts, safety filters and evaluation in every region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indent="0" marL="0">
                        <a:lnSpc>
                          <a:spcPts val="1820"/>
                        </a:lnSpc>
                        <a:buNone/>
                      </a:pPr>
                      <a:r>
                        <a:rPr lang="en-US" sz="1300" dirty="0">
                          <a:solidFill>
                            <a:srgbClr val="14181F"/>
                          </a:solidFill>
                          <a:latin typeface="IBM Plex Sans" pitchFamily="34" charset="0"/>
                          <a:ea typeface="IBM Plex Sans" pitchFamily="34" charset="-122"/>
                          <a:cs typeface="IBM Plex Sans" pitchFamily="34" charset="-120"/>
                        </a:rPr>
                        <a:t>Consistent operations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r>
            </a:tbl>
          </a:graphicData>
        </a:graphic>
      </p:graphicFrame>
      <p:sp>
        <p:nvSpPr>
          <p:cNvPr id="5" name="Shape 2"/>
          <p:cNvSpPr/>
          <p:nvPr/>
        </p:nvSpPr>
        <p:spPr>
          <a:xfrm>
            <a:off x="812800" y="4225727"/>
            <a:ext cx="5207000" cy="1080095"/>
          </a:xfrm>
          <a:prstGeom prst="roundRect">
            <a:avLst>
              <a:gd name="adj" fmla="val 7055"/>
            </a:avLst>
          </a:prstGeom>
          <a:solidFill>
            <a:srgbClr val="FBFAF7"/>
          </a:solidFill>
          <a:ln/>
        </p:spPr>
      </p:sp>
      <p:sp>
        <p:nvSpPr>
          <p:cNvPr id="6" name="Shape 3"/>
          <p:cNvSpPr/>
          <p:nvPr/>
        </p:nvSpPr>
        <p:spPr>
          <a:xfrm>
            <a:off x="812800" y="4225727"/>
            <a:ext cx="5207000" cy="1080095"/>
          </a:xfrm>
          <a:custGeom>
            <a:avLst/>
            <a:gdLst/>
            <a:ahLst/>
            <a:cxnLst/>
            <a:rect l="l" t="t" r="r" b="b"/>
            <a:pathLst>
              <a:path w="5207000" h="1080095">
                <a:moveTo>
                  <a:pt x="76200" y="1080095"/>
                </a:moveTo>
                <a:lnTo>
                  <a:pt x="76200" y="1080095"/>
                </a:lnTo>
                <a:arcTo hR="76200" wR="76200" stAng="5400000" swAng="5400000"/>
                <a:lnTo>
                  <a:pt x="0" y="76200"/>
                </a:lnTo>
                <a:arcTo hR="76200" wR="76200" stAng="10800000" swAng="5400000"/>
                <a:lnTo>
                  <a:pt x="76200" y="0"/>
                </a:lnTo>
                <a:arcTo hR="76200" wR="25400" stAng="16200000" swAng="-5400000"/>
                <a:lnTo>
                  <a:pt x="50800" y="1003895"/>
                </a:lnTo>
                <a:arcTo hR="76200" wR="25400" stAng="10800000" swAng="-5400000"/>
                <a:close/>
              </a:path>
            </a:pathLst>
          </a:custGeom>
          <a:solidFill>
            <a:srgbClr val="00697B"/>
          </a:solidFill>
          <a:ln/>
        </p:spPr>
      </p:sp>
      <p:sp>
        <p:nvSpPr>
          <p:cNvPr id="7" name="Text 4"/>
          <p:cNvSpPr/>
          <p:nvPr/>
        </p:nvSpPr>
        <p:spPr>
          <a:xfrm>
            <a:off x="1041400" y="4403527"/>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81F"/>
                </a:solidFill>
                <a:latin typeface="IBM Plex Sans" pitchFamily="34" charset="0"/>
                <a:ea typeface="IBM Plex Sans" pitchFamily="34" charset="-122"/>
                <a:cs typeface="IBM Plex Sans" pitchFamily="34" charset="-120"/>
              </a:rPr>
              <a:t>Pilot (one region)</a:t>
            </a:r>
            <a:endParaRPr lang="en-US" sz="1400" dirty="0"/>
          </a:p>
        </p:txBody>
      </p:sp>
      <p:sp>
        <p:nvSpPr>
          <p:cNvPr id="8" name="Text 5"/>
          <p:cNvSpPr/>
          <p:nvPr/>
        </p:nvSpPr>
        <p:spPr>
          <a:xfrm>
            <a:off x="1041400" y="4667647"/>
            <a:ext cx="4944618"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Single approved region; deployment type matched to the pilot data classification.</a:t>
            </a:r>
            <a:endParaRPr lang="en-US" sz="1250" dirty="0"/>
          </a:p>
        </p:txBody>
      </p:sp>
      <p:sp>
        <p:nvSpPr>
          <p:cNvPr id="9" name="Shape 6"/>
          <p:cNvSpPr/>
          <p:nvPr/>
        </p:nvSpPr>
        <p:spPr>
          <a:xfrm>
            <a:off x="6172200" y="4225727"/>
            <a:ext cx="5207000" cy="1080095"/>
          </a:xfrm>
          <a:prstGeom prst="roundRect">
            <a:avLst>
              <a:gd name="adj" fmla="val 7055"/>
            </a:avLst>
          </a:prstGeom>
          <a:solidFill>
            <a:srgbClr val="FBFAF7"/>
          </a:solidFill>
          <a:ln/>
        </p:spPr>
      </p:sp>
      <p:sp>
        <p:nvSpPr>
          <p:cNvPr id="10" name="Shape 7"/>
          <p:cNvSpPr/>
          <p:nvPr/>
        </p:nvSpPr>
        <p:spPr>
          <a:xfrm>
            <a:off x="6172200" y="4225727"/>
            <a:ext cx="5207000" cy="1080095"/>
          </a:xfrm>
          <a:custGeom>
            <a:avLst/>
            <a:gdLst/>
            <a:ahLst/>
            <a:cxnLst/>
            <a:rect l="l" t="t" r="r" b="b"/>
            <a:pathLst>
              <a:path w="5207000" h="1080095">
                <a:moveTo>
                  <a:pt x="76200" y="1080095"/>
                </a:moveTo>
                <a:lnTo>
                  <a:pt x="76200" y="1080095"/>
                </a:lnTo>
                <a:arcTo hR="76200" wR="76200" stAng="5400000" swAng="5400000"/>
                <a:lnTo>
                  <a:pt x="0" y="76200"/>
                </a:lnTo>
                <a:arcTo hR="76200" wR="76200" stAng="10800000" swAng="5400000"/>
                <a:lnTo>
                  <a:pt x="76200" y="0"/>
                </a:lnTo>
                <a:arcTo hR="76200" wR="25400" stAng="16200000" swAng="-5400000"/>
                <a:lnTo>
                  <a:pt x="50800" y="1003895"/>
                </a:lnTo>
                <a:arcTo hR="76200" wR="25400" stAng="10800000" swAng="-5400000"/>
                <a:close/>
              </a:path>
            </a:pathLst>
          </a:custGeom>
          <a:solidFill>
            <a:srgbClr val="E60000"/>
          </a:solidFill>
          <a:ln/>
        </p:spPr>
      </p:sp>
      <p:sp>
        <p:nvSpPr>
          <p:cNvPr id="11" name="Text 8"/>
          <p:cNvSpPr/>
          <p:nvPr/>
        </p:nvSpPr>
        <p:spPr>
          <a:xfrm>
            <a:off x="6400800" y="4403527"/>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81F"/>
                </a:solidFill>
                <a:latin typeface="IBM Plex Sans" pitchFamily="34" charset="0"/>
                <a:ea typeface="IBM Plex Sans" pitchFamily="34" charset="-122"/>
                <a:cs typeface="IBM Plex Sans" pitchFamily="34" charset="-120"/>
              </a:rPr>
              <a:t>Phase 2 (multi-region)</a:t>
            </a:r>
            <a:endParaRPr lang="en-US" sz="1400" dirty="0"/>
          </a:p>
        </p:txBody>
      </p:sp>
      <p:sp>
        <p:nvSpPr>
          <p:cNvPr id="12" name="Text 9"/>
          <p:cNvSpPr/>
          <p:nvPr/>
        </p:nvSpPr>
        <p:spPr>
          <a:xfrm>
            <a:off x="6400800" y="4667647"/>
            <a:ext cx="4944618"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B424C"/>
                </a:solidFill>
                <a:latin typeface="IBM Plex Sans" pitchFamily="34" charset="0"/>
                <a:ea typeface="IBM Plex Sans" pitchFamily="34" charset="-122"/>
                <a:cs typeface="IBM Plex Sans" pitchFamily="34" charset="-120"/>
              </a:rPr>
              <a:t>Regional stacks per country rules, built from the same modules and governance.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6000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E1DC"/>
                </a:solidFill>
                <a:latin typeface="JetBrains Mono" pitchFamily="49" charset="0"/>
                <a:ea typeface="JetBrains Mono" pitchFamily="49" charset="-122"/>
                <a:cs typeface="JetBrains Mono" pitchFamily="49" charset="-120"/>
              </a:rPr>
              <a:t>REMEMBER THREE THINGS</a:t>
            </a:r>
            <a:endParaRPr lang="en-US" sz="1400" dirty="0"/>
          </a:p>
        </p:txBody>
      </p:sp>
      <p:sp>
        <p:nvSpPr>
          <p:cNvPr id="3" name="Text 1"/>
          <p:cNvSpPr/>
          <p:nvPr/>
        </p:nvSpPr>
        <p:spPr>
          <a:xfrm>
            <a:off x="812800" y="2035870"/>
            <a:ext cx="457835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FF7F5"/>
                </a:solidFill>
                <a:latin typeface="IBM Plex Sans" pitchFamily="34" charset="0"/>
                <a:ea typeface="IBM Plex Sans" pitchFamily="34" charset="-122"/>
                <a:cs typeface="IBM Plex Sans" pitchFamily="34" charset="-120"/>
              </a:rPr>
              <a:t>Throughput</a:t>
            </a:r>
            <a:endParaRPr lang="en-US" sz="3600" dirty="0"/>
          </a:p>
        </p:txBody>
      </p:sp>
      <p:sp>
        <p:nvSpPr>
          <p:cNvPr id="4" name="Text 2"/>
          <p:cNvSpPr/>
          <p:nvPr/>
        </p:nvSpPr>
        <p:spPr>
          <a:xfrm>
            <a:off x="5562600" y="2207320"/>
            <a:ext cx="5262086"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FE1DC"/>
                </a:solidFill>
                <a:latin typeface="IBM Plex Sans" pitchFamily="34" charset="0"/>
                <a:ea typeface="IBM Plex Sans" pitchFamily="34" charset="-122"/>
                <a:cs typeface="IBM Plex Sans" pitchFamily="34" charset="-120"/>
              </a:rPr>
              <a:t>= capacity. Size by tokens, design for 429s.</a:t>
            </a:r>
            <a:endParaRPr lang="en-US" sz="1800" dirty="0"/>
          </a:p>
        </p:txBody>
      </p:sp>
      <p:sp>
        <p:nvSpPr>
          <p:cNvPr id="5" name="Text 3"/>
          <p:cNvSpPr/>
          <p:nvPr/>
        </p:nvSpPr>
        <p:spPr>
          <a:xfrm>
            <a:off x="812800" y="2769890"/>
            <a:ext cx="457835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FF7F5"/>
                </a:solidFill>
                <a:latin typeface="IBM Plex Sans" pitchFamily="34" charset="0"/>
                <a:ea typeface="IBM Plex Sans" pitchFamily="34" charset="-122"/>
                <a:cs typeface="IBM Plex Sans" pitchFamily="34" charset="-120"/>
              </a:rPr>
              <a:t>Data residency</a:t>
            </a:r>
            <a:endParaRPr lang="en-US" sz="3600" dirty="0"/>
          </a:p>
        </p:txBody>
      </p:sp>
      <p:sp>
        <p:nvSpPr>
          <p:cNvPr id="6" name="Text 4"/>
          <p:cNvSpPr/>
          <p:nvPr/>
        </p:nvSpPr>
        <p:spPr>
          <a:xfrm>
            <a:off x="5562600" y="2941340"/>
            <a:ext cx="5991098"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FE1DC"/>
                </a:solidFill>
                <a:latin typeface="IBM Plex Sans" pitchFamily="34" charset="0"/>
                <a:ea typeface="IBM Plex Sans" pitchFamily="34" charset="-122"/>
                <a:cs typeface="IBM Plex Sans" pitchFamily="34" charset="-120"/>
              </a:rPr>
              <a:t>= location. The deployment type decides where inference runs.</a:t>
            </a:r>
            <a:endParaRPr lang="en-US" sz="1800" dirty="0"/>
          </a:p>
        </p:txBody>
      </p:sp>
      <p:sp>
        <p:nvSpPr>
          <p:cNvPr id="7" name="Text 5"/>
          <p:cNvSpPr/>
          <p:nvPr/>
        </p:nvSpPr>
        <p:spPr>
          <a:xfrm>
            <a:off x="812800" y="3812480"/>
            <a:ext cx="457835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FF7F5"/>
                </a:solidFill>
                <a:latin typeface="IBM Plex Sans" pitchFamily="34" charset="0"/>
                <a:ea typeface="IBM Plex Sans" pitchFamily="34" charset="-122"/>
                <a:cs typeface="IBM Plex Sans" pitchFamily="34" charset="-120"/>
              </a:rPr>
              <a:t>Global standard</a:t>
            </a:r>
            <a:endParaRPr lang="en-US" sz="3600" dirty="0"/>
          </a:p>
        </p:txBody>
      </p:sp>
      <p:sp>
        <p:nvSpPr>
          <p:cNvPr id="8" name="Text 6"/>
          <p:cNvSpPr/>
          <p:nvPr/>
        </p:nvSpPr>
        <p:spPr>
          <a:xfrm>
            <a:off x="5562600" y="3983930"/>
            <a:ext cx="5991098"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FE1DC"/>
                </a:solidFill>
                <a:latin typeface="IBM Plex Sans" pitchFamily="34" charset="0"/>
                <a:ea typeface="IBM Plex Sans" pitchFamily="34" charset="-122"/>
                <a:cs typeface="IBM Plex Sans" pitchFamily="34" charset="-120"/>
              </a:rPr>
              <a:t>= consistency. Same rules everywhere, not one deployment.</a:t>
            </a:r>
            <a:endParaRPr lang="en-US" sz="1800" dirty="0"/>
          </a:p>
        </p:txBody>
      </p:sp>
      <p:sp>
        <p:nvSpPr>
          <p:cNvPr id="9" name="Text 7"/>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7F5"/>
                </a:solidFill>
                <a:latin typeface="IBM Plex Sans" pitchFamily="34" charset="0"/>
                <a:ea typeface="IBM Plex Sans" pitchFamily="34" charset="-122"/>
                <a:cs typeface="IBM Plex Sans" pitchFamily="34" charset="-120"/>
              </a:rPr>
              <a:t>And never confuse an enterprise global standard with an Azure Global Standard deployment.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60000"/>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070"/>
                </a:solidFill>
                <a:latin typeface="JetBrains Mono" pitchFamily="49" charset="0"/>
                <a:ea typeface="JetBrains Mono" pitchFamily="49" charset="-122"/>
                <a:cs typeface="JetBrains Mono" pitchFamily="49" charset="-120"/>
              </a:rPr>
              <a:t>QUESTIONS</a:t>
            </a:r>
            <a:endParaRPr lang="en-US" sz="1400" dirty="0"/>
          </a:p>
        </p:txBody>
      </p:sp>
      <p:sp>
        <p:nvSpPr>
          <p:cNvPr id="4" name="Text 2"/>
          <p:cNvSpPr/>
          <p:nvPr>
            <p:ph type="title"/>
          </p:nvPr>
        </p:nvSpPr>
        <p:spPr>
          <a:xfrm>
            <a:off x="812800" y="1264841"/>
            <a:ext cx="981075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4F2EE"/>
                </a:solidFill>
                <a:latin typeface="IBM Plex Sans" pitchFamily="34" charset="0"/>
                <a:ea typeface="IBM Plex Sans" pitchFamily="34" charset="-122"/>
                <a:cs typeface="IBM Plex Sans" pitchFamily="34" charset="-120"/>
              </a:rPr>
              <a:t>Discussion</a:t>
            </a:r>
            <a:endParaRPr lang="en-US" sz="4800" dirty="0"/>
          </a:p>
        </p:txBody>
      </p:sp>
      <p:sp>
        <p:nvSpPr>
          <p:cNvPr id="5" name="Text 3"/>
          <p:cNvSpPr/>
          <p:nvPr/>
        </p:nvSpPr>
        <p:spPr>
          <a:xfrm>
            <a:off x="812800" y="2108101"/>
            <a:ext cx="9156700" cy="65147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B8C0CA"/>
                </a:solidFill>
                <a:latin typeface="IBM Plex Sans" pitchFamily="34" charset="0"/>
                <a:ea typeface="IBM Plex Sans" pitchFamily="34" charset="-122"/>
                <a:cs typeface="IBM Plex Sans" pitchFamily="34" charset="-120"/>
              </a:rPr>
              <a:t>Next step: confirm data classification per country, then lock the deployment type for GPT-5 and gpt-image-2 in each region.</a:t>
            </a:r>
            <a:endParaRPr lang="en-US" sz="1700" dirty="0"/>
          </a:p>
        </p:txBody>
      </p:sp>
      <p:sp>
        <p:nvSpPr>
          <p:cNvPr id="6" name="Shape 4"/>
          <p:cNvSpPr/>
          <p:nvPr/>
        </p:nvSpPr>
        <p:spPr>
          <a:xfrm>
            <a:off x="812800" y="5066109"/>
            <a:ext cx="10566400" cy="0"/>
          </a:xfrm>
          <a:prstGeom prst="line">
            <a:avLst/>
          </a:prstGeom>
          <a:noFill/>
          <a:ln w="12700">
            <a:solidFill>
              <a:srgbClr val="3A414B"/>
            </a:solidFill>
            <a:prstDash val="solid"/>
          </a:ln>
        </p:spPr>
      </p:sp>
      <p:sp>
        <p:nvSpPr>
          <p:cNvPr id="7" name="Text 5"/>
          <p:cNvSpPr/>
          <p:nvPr/>
        </p:nvSpPr>
        <p:spPr>
          <a:xfrm>
            <a:off x="812800" y="527565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2EE"/>
                </a:solidFill>
                <a:latin typeface="IBM Plex Sans" pitchFamily="34" charset="0"/>
                <a:ea typeface="IBM Plex Sans" pitchFamily="34" charset="-122"/>
                <a:cs typeface="IBM Plex Sans" pitchFamily="34" charset="-120"/>
              </a:rPr>
              <a:t>Bipeen Sinha · Shruti Sinha</a:t>
            </a:r>
            <a:endParaRPr lang="en-US" sz="1500" dirty="0"/>
          </a:p>
        </p:txBody>
      </p:sp>
      <p:sp>
        <p:nvSpPr>
          <p:cNvPr id="8" name="Text 6"/>
          <p:cNvSpPr/>
          <p:nvPr/>
        </p:nvSpPr>
        <p:spPr>
          <a:xfrm>
            <a:off x="812800" y="56185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4B0"/>
                </a:solidFill>
                <a:latin typeface="IBM Plex Sans" pitchFamily="34" charset="0"/>
                <a:ea typeface="IBM Plex Sans" pitchFamily="34" charset="-122"/>
                <a:cs typeface="IBM Plex Sans" pitchFamily="34" charset="-120"/>
              </a:rPr>
              <a:t>Source for deployment types: Microsoft Learn, "Deployment types in Microsoft Foundry Models". Model availability changes often; verify before design sign-off.</a:t>
            </a:r>
            <a:endParaRPr lang="en-US" sz="1200" dirty="0"/>
          </a:p>
        </p:txBody>
      </p:sp>
    </p:spTree>
  </p:cSld>
  <p:clrMapOvr>
    <a:masterClrMapping/>
  </p:clrMapOvr>
</p:sld>
</file>

<file path=ppt/theme/theme1.xml><?xml version="1.0" encoding="utf-8"?>
<a:theme xmlns:a="http://schemas.openxmlformats.org/drawingml/2006/main" name="Architect's View — Azure AI Foundry Chat App">
  <a:themeElements>
    <a:clrScheme name="Architect's View — Azure AI Foundry Chat App">
      <a:dk1>
        <a:srgbClr val="14181F"/>
      </a:dk1>
      <a:lt1>
        <a:srgbClr val="FBFAF7"/>
      </a:lt1>
      <a:dk2>
        <a:srgbClr val="4E5155"/>
      </a:dk2>
      <a:lt2>
        <a:srgbClr val="E4E3E1"/>
      </a:lt2>
      <a:accent1>
        <a:srgbClr val="FF7070"/>
      </a:accent1>
      <a:accent2>
        <a:srgbClr val="C00000"/>
      </a:accent2>
      <a:accent3>
        <a:srgbClr val="E60000"/>
      </a:accent3>
      <a:accent4>
        <a:srgbClr val="00697B"/>
      </a:accent4>
      <a:accent5>
        <a:srgbClr val="5FC7D6"/>
      </a:accent5>
      <a:accent6>
        <a:srgbClr val="3B424C"/>
      </a:accent6>
      <a:hlink>
        <a:srgbClr val="0563C1"/>
      </a:hlink>
      <a:folHlink>
        <a:srgbClr val="954F72"/>
      </a:folHlink>
    </a:clrScheme>
    <a:fontScheme name="Architect's View — Azure AI Foundry Chat Ap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Architect's View — Azure AI Foundry Chat App</dc:title>
  <dc:subject/>
  <dc:creator/>
  <cp:lastModifiedBy/>
  <cp:revision>1</cp:revision>
  <dcterms:created xsi:type="dcterms:W3CDTF">2026-10-11T16:29:31Z</dcterms:created>
  <dcterms:modified xsi:type="dcterms:W3CDTF">2026-10-11T16:29:31Z</dcterms:modified>
</cp:coreProperties>
</file>