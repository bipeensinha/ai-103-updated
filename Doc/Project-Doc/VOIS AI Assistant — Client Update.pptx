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15122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 cover four things: a quick recap of the project brief, where we are at Week 13, what we have learned so far, and two decisions we need from the Steering Committee.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spend most of the time on status and the two decisions at the end.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of the charter. The pilot is deliberately bounded: read-only tools, approved documents, non-production systems. Full enterprise rollout is Phase 2.</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 is unchanged since the charter was signed. Any write capability or added application goes through change control.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Users sign in with Entra ID; the orchestrator decides whether to retrieve from Foundry IQ, call a read-only MCP tool, or both; the answer comes back with sources. Nothing leaves the VOIS tenant.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M3 slipped because Oracle sandbox access arrived about two weeks late. Phase 4 has absorbed most of it: M4 is forecast 2 working days late and M5 still holds at 12 March.</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SPI and CPI are both just under our 0.95 threshold, which is why we are AMBER rather than GREEN. Neither is below the 0.90 escalation trigger.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Until Week 10 earned value sat on the plan line. The gap opened in Weeks 11 to 13, when the holiday weeks and the Oracle access delay hit at the same time. Actual cost has run slightly above earned value since Week 7.</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Actual and plan moved together until Week 10. The three-activity gap is the Oracle integration, the resilience layer that depends on it, and the end-to-end tests.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the benchmark: we can now measure answer quality objectively every sprint, which de-risks the Month 4 evaluation gate.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M1 came in under budget and M2 slightly over. M3 is where the pressure is: the custom SAP wrapper and extra Oracle effort. M4 has only just started.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overrun is concentrated in M3: a custom SAP wrapper and extra Oracle effort. Our recovery plan in Month 4 targets CPI back to 0.97 without touching the reserve.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KPI is at 80% of target or better. Groundedness and citations get a dedicated tuning sprint; lookup-effort reduction will be measured properly in the pilot.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Groundedness and citations get a dedicated tuning sprint (S7). Tool-call success will rise once the Oracle connector moves off the mock service.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two items are rated High. The Oracle issue is the one where we need sponsor help, covered in the decisions slide.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lessons also shape the Phase 2 estimate: integrations get a buffer and access requests start before mobilisation.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recommend option 1: accept the one-week M3 slip. It protects the Oracle proof of concept and does not move the pilot date.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confirming the two decisions and the date of the next Steering Committee.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3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20"/>
            <a:ext cx="10566400" cy="446980"/>
          </a:xfrm>
          <a:prstGeom prst="rect">
            <a:avLst/>
          </a:prstGeom>
          <a:noFill/>
          <a:ln/>
        </p:spPr>
        <p:txBody>
          <a:bodyPr wrap="square" lIns="0" tIns="0" rIns="0" bIns="0" rtlCol="0" anchor="t"/>
          <a:lstStyle>
            <a:lvl1pPr marL="0" indent="0" algn="l">
              <a:lnSpc>
                <a:spcPct val="115000"/>
              </a:lnSpc>
              <a:buNone/>
              <a:defRPr lang="en-US" sz="3200" dirty="0">
                <a:solidFill>
                  <a:srgbClr val="1F2226"/>
                </a:solidFill>
                <a:latin typeface="Rubik" pitchFamily="34" charset="0"/>
                <a:ea typeface="Rubik" pitchFamily="34" charset="-122"/>
                <a:cs typeface="Rubik"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79501"/>
            <a:ext cx="10566400" cy="4165699"/>
          </a:xfrm>
          <a:prstGeom prst="rect">
            <a:avLst/>
          </a:prstGeom>
          <a:noFill/>
          <a:ln/>
        </p:spPr>
        <p:txBody>
          <a:bodyPr wrap="square" lIns="0" tIns="0" rIns="0" bIns="0" rtlCol="0" anchor="t"/>
          <a:lstStyle>
            <a:lvl1pPr marL="0" indent="0" algn="l">
              <a:lnSpc>
                <a:spcPct val="140000"/>
              </a:lnSpc>
              <a:buNone/>
              <a:defRPr lang="en-US" sz="1600" dirty="0">
                <a:solidFill>
                  <a:srgbClr val="1F2226"/>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3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20"/>
            <a:ext cx="10566400" cy="446980"/>
          </a:xfrm>
          <a:prstGeom prst="rect">
            <a:avLst/>
          </a:prstGeom>
          <a:noFill/>
          <a:ln/>
        </p:spPr>
        <p:txBody>
          <a:bodyPr wrap="square" lIns="0" tIns="0" rIns="0" bIns="0" rtlCol="0" anchor="t"/>
          <a:lstStyle>
            <a:lvl1pPr marL="0" indent="0" algn="l">
              <a:lnSpc>
                <a:spcPct val="115000"/>
              </a:lnSpc>
              <a:buNone/>
              <a:defRPr lang="en-US" sz="3200" dirty="0">
                <a:solidFill>
                  <a:srgbClr val="1F2226"/>
                </a:solidFill>
                <a:latin typeface="Rubik" pitchFamily="34" charset="0"/>
                <a:ea typeface="Rubik" pitchFamily="34" charset="-122"/>
                <a:cs typeface="Rubik"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79501"/>
            <a:ext cx="10566400" cy="4165699"/>
          </a:xfrm>
          <a:prstGeom prst="rect">
            <a:avLst/>
          </a:prstGeom>
          <a:noFill/>
          <a:ln/>
        </p:spPr>
        <p:txBody>
          <a:bodyPr wrap="square" lIns="0" tIns="0" rIns="0" bIns="0" rtlCol="0" anchor="t"/>
          <a:lstStyle>
            <a:lvl1pPr marL="0" indent="0" algn="l">
              <a:lnSpc>
                <a:spcPct val="140000"/>
              </a:lnSpc>
              <a:buNone/>
              <a:defRPr lang="en-US" sz="1600" dirty="0">
                <a:solidFill>
                  <a:srgbClr val="1F2226"/>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226"/>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60000"/>
          </a:solidFill>
          <a:ln/>
        </p:spPr>
        <p:txBody>
          <a:bodyPr/>
          <a:lstStyle/>
          <a:p>
            <a:endParaRPr lang="en-US"/>
          </a:p>
        </p:txBody>
      </p:sp>
      <p:sp>
        <p:nvSpPr>
          <p:cNvPr id="3" name="Text 1"/>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FF6B6B"/>
                </a:solidFill>
                <a:latin typeface="IBM Plex Sans" pitchFamily="34" charset="0"/>
                <a:ea typeface="IBM Plex Sans" pitchFamily="34" charset="-122"/>
                <a:cs typeface="IBM Plex Sans" pitchFamily="34" charset="-120"/>
              </a:rPr>
              <a:t>CLIENT UPDATE · STEERING COMMITTEE</a:t>
            </a:r>
            <a:endParaRPr lang="en-US" sz="1400" dirty="0"/>
          </a:p>
        </p:txBody>
      </p:sp>
      <p:sp>
        <p:nvSpPr>
          <p:cNvPr id="4" name="Text 2"/>
          <p:cNvSpPr>
            <a:spLocks noGrp="1"/>
          </p:cNvSpPr>
          <p:nvPr>
            <p:ph type="title"/>
          </p:nvPr>
        </p:nvSpPr>
        <p:spPr>
          <a:xfrm>
            <a:off x="812800" y="1315641"/>
            <a:ext cx="9810750" cy="1412081"/>
          </a:xfrm>
          <a:prstGeom prst="rect">
            <a:avLst/>
          </a:prstGeom>
          <a:noFill/>
          <a:ln/>
        </p:spPr>
        <p:txBody>
          <a:bodyPr wrap="square" lIns="0" tIns="0" rIns="0" bIns="0" rtlCol="0" anchor="t">
            <a:normAutofit/>
          </a:bodyPr>
          <a:lstStyle/>
          <a:p>
            <a:pPr marL="0" indent="0" algn="l">
              <a:lnSpc>
                <a:spcPts val="5460"/>
              </a:lnSpc>
              <a:buNone/>
            </a:pPr>
            <a:r>
              <a:rPr lang="en-US" sz="5200" b="1" i="0" dirty="0">
                <a:solidFill>
                  <a:srgbClr val="F5F3EF"/>
                </a:solidFill>
                <a:latin typeface="Rubik" pitchFamily="34" charset="0"/>
                <a:ea typeface="Rubik" pitchFamily="34" charset="-122"/>
                <a:cs typeface="Rubik" pitchFamily="34" charset="-120"/>
              </a:rPr>
              <a:t>Vodafone–VOIS Intelligent AI Assistant</a:t>
            </a:r>
            <a:endParaRPr lang="en-US" sz="5200" dirty="0"/>
          </a:p>
        </p:txBody>
      </p:sp>
      <p:sp>
        <p:nvSpPr>
          <p:cNvPr id="5" name="Text 3"/>
          <p:cNvSpPr/>
          <p:nvPr/>
        </p:nvSpPr>
        <p:spPr>
          <a:xfrm>
            <a:off x="812800" y="2956322"/>
            <a:ext cx="9156700" cy="711200"/>
          </a:xfrm>
          <a:prstGeom prst="rect">
            <a:avLst/>
          </a:prstGeom>
          <a:noFill/>
          <a:ln/>
        </p:spPr>
        <p:txBody>
          <a:bodyPr wrap="square" lIns="0" tIns="0" rIns="0" bIns="0" rtlCol="0" anchor="t">
            <a:normAutofit/>
          </a:bodyPr>
          <a:lstStyle/>
          <a:p>
            <a:pPr marL="0" indent="0" algn="l">
              <a:lnSpc>
                <a:spcPts val="2700"/>
              </a:lnSpc>
              <a:buNone/>
            </a:pPr>
            <a:r>
              <a:rPr lang="en-US" sz="2000" dirty="0">
                <a:solidFill>
                  <a:srgbClr val="C9CDD2"/>
                </a:solidFill>
                <a:latin typeface="IBM Plex Sans" pitchFamily="34" charset="0"/>
                <a:ea typeface="IBM Plex Sans" pitchFamily="34" charset="-122"/>
                <a:cs typeface="IBM Plex Sans" pitchFamily="34" charset="-120"/>
              </a:rPr>
              <a:t>Project brief, status at Week 13, lessons learned and the decisions we need from you</a:t>
            </a:r>
            <a:endParaRPr lang="en-US" sz="2000" dirty="0"/>
          </a:p>
        </p:txBody>
      </p:sp>
      <p:sp>
        <p:nvSpPr>
          <p:cNvPr id="6" name="Shape 4"/>
          <p:cNvSpPr/>
          <p:nvPr/>
        </p:nvSpPr>
        <p:spPr>
          <a:xfrm>
            <a:off x="812800" y="5139730"/>
            <a:ext cx="10566400" cy="0"/>
          </a:xfrm>
          <a:prstGeom prst="line">
            <a:avLst/>
          </a:prstGeom>
          <a:noFill/>
          <a:ln w="12700">
            <a:solidFill>
              <a:srgbClr val="4A4F55"/>
            </a:solidFill>
            <a:prstDash val="solid"/>
          </a:ln>
        </p:spPr>
        <p:txBody>
          <a:bodyPr/>
          <a:lstStyle/>
          <a:p>
            <a:endParaRPr lang="en-US"/>
          </a:p>
        </p:txBody>
      </p:sp>
      <p:sp>
        <p:nvSpPr>
          <p:cNvPr id="7" name="Text 5"/>
          <p:cNvSpPr/>
          <p:nvPr/>
        </p:nvSpPr>
        <p:spPr>
          <a:xfrm>
            <a:off x="812800" y="5400080"/>
            <a:ext cx="4504463"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5F3EF"/>
                </a:solidFill>
                <a:latin typeface="IBM Plex Sans" pitchFamily="34" charset="0"/>
                <a:ea typeface="IBM Plex Sans" pitchFamily="34" charset="-122"/>
                <a:cs typeface="IBM Plex Sans" pitchFamily="34" charset="-120"/>
              </a:rPr>
              <a:t>Bipeen Sinha · Engagement Director</a:t>
            </a:r>
            <a:endParaRPr lang="en-US" sz="1600" dirty="0"/>
          </a:p>
        </p:txBody>
      </p:sp>
      <p:sp>
        <p:nvSpPr>
          <p:cNvPr id="8" name="Text 6"/>
          <p:cNvSpPr/>
          <p:nvPr/>
        </p:nvSpPr>
        <p:spPr>
          <a:xfrm>
            <a:off x="812800" y="5760740"/>
            <a:ext cx="5247918"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5F3EF"/>
                </a:solidFill>
                <a:latin typeface="IBM Plex Sans" pitchFamily="34" charset="0"/>
                <a:ea typeface="IBM Plex Sans" pitchFamily="34" charset="-122"/>
                <a:cs typeface="IBM Plex Sans" pitchFamily="34" charset="-120"/>
              </a:rPr>
              <a:t>Shruti Sinha · Project Lead &amp; Delivery Manager</a:t>
            </a:r>
            <a:endParaRPr lang="en-US" sz="1600" dirty="0"/>
          </a:p>
        </p:txBody>
      </p:sp>
      <p:sp>
        <p:nvSpPr>
          <p:cNvPr id="9" name="Text 7"/>
          <p:cNvSpPr/>
          <p:nvPr/>
        </p:nvSpPr>
        <p:spPr>
          <a:xfrm>
            <a:off x="9510871" y="5760740"/>
            <a:ext cx="1868329" cy="309860"/>
          </a:xfrm>
          <a:prstGeom prst="rect">
            <a:avLst/>
          </a:prstGeom>
          <a:noFill/>
          <a:ln/>
        </p:spPr>
        <p:txBody>
          <a:bodyPr wrap="square" lIns="0" tIns="0" rIns="0" bIns="0" rtlCol="0" anchor="t">
            <a:normAutofit/>
          </a:bodyPr>
          <a:lstStyle/>
          <a:p>
            <a:pPr marL="0" indent="0" algn="r">
              <a:lnSpc>
                <a:spcPts val="2240"/>
              </a:lnSpc>
              <a:buNone/>
            </a:pPr>
            <a:r>
              <a:rPr lang="en-US" sz="1600" dirty="0">
                <a:solidFill>
                  <a:srgbClr val="C9CDD2"/>
                </a:solidFill>
                <a:latin typeface="IBM Plex Sans" pitchFamily="34" charset="0"/>
                <a:ea typeface="IBM Plex Sans" pitchFamily="34" charset="-122"/>
                <a:cs typeface="IBM Plex Sans" pitchFamily="34" charset="-120"/>
              </a:rPr>
              <a:t>15 Sep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00000"/>
                </a:solidFill>
                <a:latin typeface="IBM Plex Sans" pitchFamily="34" charset="0"/>
                <a:ea typeface="IBM Plex Sans" pitchFamily="34" charset="-122"/>
                <a:cs typeface="IBM Plex Sans" pitchFamily="34" charset="-120"/>
              </a:rPr>
              <a:t>AGENDA</a:t>
            </a:r>
            <a:endParaRPr lang="en-US" sz="1200" dirty="0"/>
          </a:p>
        </p:txBody>
      </p:sp>
      <p:sp>
        <p:nvSpPr>
          <p:cNvPr id="3" name="Text 1"/>
          <p:cNvSpPr>
            <a:spLocks noGrp="1"/>
          </p:cNvSpPr>
          <p:nvPr>
            <p:ph type="title"/>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F2226"/>
                </a:solidFill>
                <a:latin typeface="Rubik" pitchFamily="34" charset="0"/>
                <a:ea typeface="Rubik" pitchFamily="34" charset="-122"/>
                <a:cs typeface="Rubik" pitchFamily="34" charset="-120"/>
              </a:rPr>
              <a:t>Four things to cover in 45 minutes</a:t>
            </a:r>
            <a:endParaRPr lang="en-US" sz="3200" dirty="0"/>
          </a:p>
        </p:txBody>
      </p:sp>
      <p:sp>
        <p:nvSpPr>
          <p:cNvPr id="4" name="Shape 2"/>
          <p:cNvSpPr/>
          <p:nvPr/>
        </p:nvSpPr>
        <p:spPr>
          <a:xfrm>
            <a:off x="815975" y="1984276"/>
            <a:ext cx="5175250" cy="1118791"/>
          </a:xfrm>
          <a:prstGeom prst="roundRect">
            <a:avLst>
              <a:gd name="adj" fmla="val 8797"/>
            </a:avLst>
          </a:prstGeom>
          <a:solidFill>
            <a:srgbClr val="FBFAF8"/>
          </a:solidFill>
          <a:ln w="6350">
            <a:solidFill>
              <a:srgbClr val="DEDAD3"/>
            </a:solidFill>
            <a:prstDash val="solid"/>
          </a:ln>
        </p:spPr>
        <p:txBody>
          <a:bodyPr/>
          <a:lstStyle/>
          <a:p>
            <a:endParaRPr lang="en-US"/>
          </a:p>
        </p:txBody>
      </p:sp>
      <p:sp>
        <p:nvSpPr>
          <p:cNvPr id="5" name="Text 3"/>
          <p:cNvSpPr/>
          <p:nvPr/>
        </p:nvSpPr>
        <p:spPr>
          <a:xfrm>
            <a:off x="1073150" y="2241451"/>
            <a:ext cx="559475"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E60000"/>
                </a:solidFill>
                <a:latin typeface="Rubik" pitchFamily="34" charset="0"/>
                <a:ea typeface="Rubik" pitchFamily="34" charset="-122"/>
                <a:cs typeface="Rubik" pitchFamily="34" charset="-120"/>
              </a:rPr>
              <a:t>01</a:t>
            </a:r>
            <a:endParaRPr lang="en-US" sz="3200" dirty="0"/>
          </a:p>
        </p:txBody>
      </p:sp>
      <p:sp>
        <p:nvSpPr>
          <p:cNvPr id="6" name="Text 4"/>
          <p:cNvSpPr/>
          <p:nvPr/>
        </p:nvSpPr>
        <p:spPr>
          <a:xfrm>
            <a:off x="1742579" y="2241451"/>
            <a:ext cx="3159879"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F2226"/>
                </a:solidFill>
                <a:latin typeface="Rubik" pitchFamily="34" charset="0"/>
                <a:ea typeface="Rubik" pitchFamily="34" charset="-122"/>
                <a:cs typeface="Rubik" pitchFamily="34" charset="-120"/>
              </a:rPr>
              <a:t>Project brief</a:t>
            </a:r>
            <a:endParaRPr lang="en-US" sz="2000" dirty="0"/>
          </a:p>
        </p:txBody>
      </p:sp>
      <p:sp>
        <p:nvSpPr>
          <p:cNvPr id="7" name="Text 5"/>
          <p:cNvSpPr/>
          <p:nvPr/>
        </p:nvSpPr>
        <p:spPr>
          <a:xfrm>
            <a:off x="1742579" y="2597051"/>
            <a:ext cx="3681413"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F55"/>
                </a:solidFill>
                <a:latin typeface="IBM Plex Sans" pitchFamily="34" charset="0"/>
                <a:ea typeface="IBM Plex Sans" pitchFamily="34" charset="-122"/>
                <a:cs typeface="IBM Plex Sans" pitchFamily="34" charset="-120"/>
              </a:rPr>
              <a:t>Problem, scope, solution and roadmap</a:t>
            </a:r>
            <a:endParaRPr lang="en-US" sz="1400" dirty="0"/>
          </a:p>
        </p:txBody>
      </p:sp>
      <p:sp>
        <p:nvSpPr>
          <p:cNvPr id="8" name="Shape 6"/>
          <p:cNvSpPr/>
          <p:nvPr/>
        </p:nvSpPr>
        <p:spPr>
          <a:xfrm>
            <a:off x="6200775" y="1984276"/>
            <a:ext cx="5175250" cy="1118791"/>
          </a:xfrm>
          <a:prstGeom prst="roundRect">
            <a:avLst>
              <a:gd name="adj" fmla="val 8797"/>
            </a:avLst>
          </a:prstGeom>
          <a:solidFill>
            <a:srgbClr val="FBFAF8"/>
          </a:solidFill>
          <a:ln w="6350">
            <a:solidFill>
              <a:srgbClr val="DEDAD3"/>
            </a:solidFill>
            <a:prstDash val="solid"/>
          </a:ln>
        </p:spPr>
        <p:txBody>
          <a:bodyPr/>
          <a:lstStyle/>
          <a:p>
            <a:endParaRPr lang="en-US"/>
          </a:p>
        </p:txBody>
      </p:sp>
      <p:sp>
        <p:nvSpPr>
          <p:cNvPr id="9" name="Text 7"/>
          <p:cNvSpPr/>
          <p:nvPr/>
        </p:nvSpPr>
        <p:spPr>
          <a:xfrm>
            <a:off x="6457950" y="2241451"/>
            <a:ext cx="634960"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E60000"/>
                </a:solidFill>
                <a:latin typeface="Rubik" pitchFamily="34" charset="0"/>
                <a:ea typeface="Rubik" pitchFamily="34" charset="-122"/>
                <a:cs typeface="Rubik" pitchFamily="34" charset="-120"/>
              </a:rPr>
              <a:t>02</a:t>
            </a:r>
            <a:endParaRPr lang="en-US" sz="3200" dirty="0"/>
          </a:p>
        </p:txBody>
      </p:sp>
      <p:sp>
        <p:nvSpPr>
          <p:cNvPr id="10" name="Text 8"/>
          <p:cNvSpPr/>
          <p:nvPr/>
        </p:nvSpPr>
        <p:spPr>
          <a:xfrm>
            <a:off x="7190284" y="2241451"/>
            <a:ext cx="3322983"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F2226"/>
                </a:solidFill>
                <a:latin typeface="Rubik" pitchFamily="34" charset="0"/>
                <a:ea typeface="Rubik" pitchFamily="34" charset="-122"/>
                <a:cs typeface="Rubik" pitchFamily="34" charset="-120"/>
              </a:rPr>
              <a:t>Status at Week 13</a:t>
            </a:r>
            <a:endParaRPr lang="en-US" sz="2000" dirty="0"/>
          </a:p>
        </p:txBody>
      </p:sp>
      <p:sp>
        <p:nvSpPr>
          <p:cNvPr id="11" name="Text 9"/>
          <p:cNvSpPr/>
          <p:nvPr/>
        </p:nvSpPr>
        <p:spPr>
          <a:xfrm>
            <a:off x="7190284" y="2597051"/>
            <a:ext cx="3871436"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F55"/>
                </a:solidFill>
                <a:latin typeface="IBM Plex Sans" pitchFamily="34" charset="0"/>
                <a:ea typeface="IBM Plex Sans" pitchFamily="34" charset="-122"/>
                <a:cs typeface="IBM Plex Sans" pitchFamily="34" charset="-120"/>
              </a:rPr>
              <a:t>Schedule, cost, achievements, AI quality</a:t>
            </a:r>
            <a:endParaRPr lang="en-US" sz="1400" dirty="0"/>
          </a:p>
        </p:txBody>
      </p:sp>
      <p:sp>
        <p:nvSpPr>
          <p:cNvPr id="12" name="Shape 10"/>
          <p:cNvSpPr/>
          <p:nvPr/>
        </p:nvSpPr>
        <p:spPr>
          <a:xfrm>
            <a:off x="815975" y="3312616"/>
            <a:ext cx="5175250" cy="1118791"/>
          </a:xfrm>
          <a:prstGeom prst="roundRect">
            <a:avLst>
              <a:gd name="adj" fmla="val 8797"/>
            </a:avLst>
          </a:prstGeom>
          <a:solidFill>
            <a:srgbClr val="FBFAF8"/>
          </a:solidFill>
          <a:ln w="6350">
            <a:solidFill>
              <a:srgbClr val="DEDAD3"/>
            </a:solidFill>
            <a:prstDash val="solid"/>
          </a:ln>
        </p:spPr>
        <p:txBody>
          <a:bodyPr/>
          <a:lstStyle/>
          <a:p>
            <a:endParaRPr lang="en-US"/>
          </a:p>
        </p:txBody>
      </p:sp>
      <p:sp>
        <p:nvSpPr>
          <p:cNvPr id="13" name="Text 11"/>
          <p:cNvSpPr/>
          <p:nvPr/>
        </p:nvSpPr>
        <p:spPr>
          <a:xfrm>
            <a:off x="1073150" y="3569791"/>
            <a:ext cx="639842"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E60000"/>
                </a:solidFill>
                <a:latin typeface="Rubik" pitchFamily="34" charset="0"/>
                <a:ea typeface="Rubik" pitchFamily="34" charset="-122"/>
                <a:cs typeface="Rubik" pitchFamily="34" charset="-120"/>
              </a:rPr>
              <a:t>03</a:t>
            </a:r>
            <a:endParaRPr lang="en-US" sz="3200" dirty="0"/>
          </a:p>
        </p:txBody>
      </p:sp>
      <p:sp>
        <p:nvSpPr>
          <p:cNvPr id="14" name="Text 12"/>
          <p:cNvSpPr/>
          <p:nvPr/>
        </p:nvSpPr>
        <p:spPr>
          <a:xfrm>
            <a:off x="1809552" y="3569791"/>
            <a:ext cx="3881557"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F2226"/>
                </a:solidFill>
                <a:latin typeface="Rubik" pitchFamily="34" charset="0"/>
                <a:ea typeface="Rubik" pitchFamily="34" charset="-122"/>
                <a:cs typeface="Rubik" pitchFamily="34" charset="-120"/>
              </a:rPr>
              <a:t>Risks and lessons learned</a:t>
            </a:r>
            <a:endParaRPr lang="en-US" sz="2000" dirty="0"/>
          </a:p>
        </p:txBody>
      </p:sp>
      <p:sp>
        <p:nvSpPr>
          <p:cNvPr id="15" name="Text 13"/>
          <p:cNvSpPr/>
          <p:nvPr/>
        </p:nvSpPr>
        <p:spPr>
          <a:xfrm>
            <a:off x="1809552" y="3925391"/>
            <a:ext cx="3881557"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F55"/>
                </a:solidFill>
                <a:latin typeface="IBM Plex Sans" pitchFamily="34" charset="0"/>
                <a:ea typeface="IBM Plex Sans" pitchFamily="34" charset="-122"/>
                <a:cs typeface="IBM Plex Sans" pitchFamily="34" charset="-120"/>
              </a:rPr>
              <a:t>What is at risk and what we are changing</a:t>
            </a:r>
            <a:endParaRPr lang="en-US" sz="1400" dirty="0"/>
          </a:p>
        </p:txBody>
      </p:sp>
      <p:sp>
        <p:nvSpPr>
          <p:cNvPr id="16" name="Shape 14"/>
          <p:cNvSpPr/>
          <p:nvPr/>
        </p:nvSpPr>
        <p:spPr>
          <a:xfrm>
            <a:off x="6200775" y="3312616"/>
            <a:ext cx="5175250" cy="1118791"/>
          </a:xfrm>
          <a:prstGeom prst="roundRect">
            <a:avLst>
              <a:gd name="adj" fmla="val 8797"/>
            </a:avLst>
          </a:prstGeom>
          <a:solidFill>
            <a:srgbClr val="FBFAF8"/>
          </a:solidFill>
          <a:ln w="6350">
            <a:solidFill>
              <a:srgbClr val="DEDAD3"/>
            </a:solidFill>
            <a:prstDash val="solid"/>
          </a:ln>
        </p:spPr>
        <p:txBody>
          <a:bodyPr/>
          <a:lstStyle/>
          <a:p>
            <a:endParaRPr lang="en-US"/>
          </a:p>
        </p:txBody>
      </p:sp>
      <p:sp>
        <p:nvSpPr>
          <p:cNvPr id="17" name="Text 15"/>
          <p:cNvSpPr/>
          <p:nvPr/>
        </p:nvSpPr>
        <p:spPr>
          <a:xfrm>
            <a:off x="6457950" y="3569791"/>
            <a:ext cx="651153"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E60000"/>
                </a:solidFill>
                <a:latin typeface="Rubik" pitchFamily="34" charset="0"/>
                <a:ea typeface="Rubik" pitchFamily="34" charset="-122"/>
                <a:cs typeface="Rubik" pitchFamily="34" charset="-120"/>
              </a:rPr>
              <a:t>04</a:t>
            </a:r>
            <a:endParaRPr lang="en-US" sz="3200" dirty="0"/>
          </a:p>
        </p:txBody>
      </p:sp>
      <p:sp>
        <p:nvSpPr>
          <p:cNvPr id="18" name="Text 16"/>
          <p:cNvSpPr/>
          <p:nvPr/>
        </p:nvSpPr>
        <p:spPr>
          <a:xfrm>
            <a:off x="7203777" y="3569791"/>
            <a:ext cx="3718679"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F2226"/>
                </a:solidFill>
                <a:latin typeface="Rubik" pitchFamily="34" charset="0"/>
                <a:ea typeface="Rubik" pitchFamily="34" charset="-122"/>
                <a:cs typeface="Rubik" pitchFamily="34" charset="-120"/>
              </a:rPr>
              <a:t>Decisions and next steps</a:t>
            </a:r>
            <a:endParaRPr lang="en-US" sz="2000" dirty="0"/>
          </a:p>
        </p:txBody>
      </p:sp>
      <p:sp>
        <p:nvSpPr>
          <p:cNvPr id="19" name="Text 17"/>
          <p:cNvSpPr/>
          <p:nvPr/>
        </p:nvSpPr>
        <p:spPr>
          <a:xfrm>
            <a:off x="7203777" y="3925391"/>
            <a:ext cx="3191866"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F55"/>
                </a:solidFill>
                <a:latin typeface="IBM Plex Sans" pitchFamily="34" charset="0"/>
                <a:ea typeface="IBM Plex Sans" pitchFamily="34" charset="-122"/>
                <a:cs typeface="IBM Plex Sans" pitchFamily="34" charset="-120"/>
              </a:rPr>
              <a:t>Two approvals needed today</a:t>
            </a:r>
            <a:endParaRPr lang="en-US" sz="1400" dirty="0"/>
          </a:p>
        </p:txBody>
      </p:sp>
      <p:sp>
        <p:nvSpPr>
          <p:cNvPr id="20" name="Text 18"/>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076"/>
                </a:solidFill>
                <a:latin typeface="IBM Plex Sans" pitchFamily="34" charset="0"/>
                <a:ea typeface="IBM Plex Sans" pitchFamily="34" charset="-122"/>
                <a:cs typeface="IBM Plex Sans" pitchFamily="34" charset="-120"/>
              </a:rPr>
              <a:t>VOIS AI Assistant · Client update · Week 13 of 21</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3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00000"/>
                </a:solidFill>
                <a:latin typeface="IBM Plex Sans" pitchFamily="34" charset="0"/>
                <a:ea typeface="IBM Plex Sans" pitchFamily="34" charset="-122"/>
                <a:cs typeface="IBM Plex Sans" pitchFamily="34" charset="-120"/>
              </a:rPr>
              <a:t>01 · PROJECT BRIEF</a:t>
            </a:r>
            <a:endParaRPr lang="en-US" sz="1200" dirty="0"/>
          </a:p>
        </p:txBody>
      </p:sp>
      <p:sp>
        <p:nvSpPr>
          <p:cNvPr id="3" name="Text 1"/>
          <p:cNvSpPr>
            <a:spLocks noGrp="1"/>
          </p:cNvSpPr>
          <p:nvPr>
            <p:ph type="title"/>
          </p:nvPr>
        </p:nvSpPr>
        <p:spPr>
          <a:xfrm>
            <a:off x="812800" y="1127720"/>
            <a:ext cx="10883392" cy="919361"/>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F2226"/>
                </a:solidFill>
                <a:latin typeface="Rubik" pitchFamily="34" charset="0"/>
                <a:ea typeface="Rubik" pitchFamily="34" charset="-122"/>
                <a:cs typeface="Rubik" pitchFamily="34" charset="-120"/>
              </a:rPr>
              <a:t>A governed AI assistant for SAP, Oracle and QA knowledge</a:t>
            </a:r>
            <a:endParaRPr lang="en-US" sz="3200" dirty="0"/>
          </a:p>
        </p:txBody>
      </p:sp>
      <p:sp>
        <p:nvSpPr>
          <p:cNvPr id="4" name="Shape 2"/>
          <p:cNvSpPr/>
          <p:nvPr/>
        </p:nvSpPr>
        <p:spPr>
          <a:xfrm>
            <a:off x="815975" y="2380456"/>
            <a:ext cx="3380284" cy="3458369"/>
          </a:xfrm>
          <a:prstGeom prst="roundRect">
            <a:avLst>
              <a:gd name="adj" fmla="val 2912"/>
            </a:avLst>
          </a:prstGeom>
          <a:solidFill>
            <a:srgbClr val="FBFAF8"/>
          </a:solidFill>
          <a:ln w="6350">
            <a:solidFill>
              <a:srgbClr val="DEDAD3"/>
            </a:solidFill>
            <a:prstDash val="solid"/>
          </a:ln>
        </p:spPr>
        <p:txBody>
          <a:bodyPr/>
          <a:lstStyle/>
          <a:p>
            <a:endParaRPr lang="en-US"/>
          </a:p>
        </p:txBody>
      </p:sp>
      <p:sp>
        <p:nvSpPr>
          <p:cNvPr id="5" name="Text 3"/>
          <p:cNvSpPr/>
          <p:nvPr/>
        </p:nvSpPr>
        <p:spPr>
          <a:xfrm>
            <a:off x="1073150" y="2637631"/>
            <a:ext cx="2951912"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F2226"/>
                </a:solidFill>
                <a:latin typeface="Rubik" pitchFamily="34" charset="0"/>
                <a:ea typeface="Rubik" pitchFamily="34" charset="-122"/>
                <a:cs typeface="Rubik" pitchFamily="34" charset="-120"/>
              </a:rPr>
              <a:t>The problem</a:t>
            </a:r>
            <a:endParaRPr lang="en-US" sz="1800" dirty="0"/>
          </a:p>
        </p:txBody>
      </p:sp>
      <p:sp>
        <p:nvSpPr>
          <p:cNvPr id="6" name="Text 4"/>
          <p:cNvSpPr/>
          <p:nvPr/>
        </p:nvSpPr>
        <p:spPr>
          <a:xfrm>
            <a:off x="1073150" y="3038872"/>
            <a:ext cx="2951912" cy="1572022"/>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3A3E43"/>
                </a:solidFill>
                <a:latin typeface="IBM Plex Sans" pitchFamily="34" charset="0"/>
                <a:ea typeface="IBM Plex Sans" pitchFamily="34" charset="-122"/>
                <a:cs typeface="IBM Plex Sans" pitchFamily="34" charset="-120"/>
              </a:rPr>
              <a:t>Application knowledge is scattered across wikis, SharePoint, tickets and experts. QA and IT support staff search by hand, answers vary, and SMEs answer the same questions again and again.</a:t>
            </a:r>
            <a:endParaRPr lang="en-US" sz="1400" dirty="0"/>
          </a:p>
        </p:txBody>
      </p:sp>
      <p:sp>
        <p:nvSpPr>
          <p:cNvPr id="7" name="Shape 5"/>
          <p:cNvSpPr/>
          <p:nvPr/>
        </p:nvSpPr>
        <p:spPr>
          <a:xfrm>
            <a:off x="4405809" y="2380456"/>
            <a:ext cx="3380383" cy="3458369"/>
          </a:xfrm>
          <a:prstGeom prst="roundRect">
            <a:avLst>
              <a:gd name="adj" fmla="val 2912"/>
            </a:avLst>
          </a:prstGeom>
          <a:solidFill>
            <a:srgbClr val="FBFAF8"/>
          </a:solidFill>
          <a:ln w="6350">
            <a:solidFill>
              <a:srgbClr val="DEDAD3"/>
            </a:solidFill>
            <a:prstDash val="solid"/>
          </a:ln>
        </p:spPr>
        <p:txBody>
          <a:bodyPr/>
          <a:lstStyle/>
          <a:p>
            <a:endParaRPr lang="en-US"/>
          </a:p>
        </p:txBody>
      </p:sp>
      <p:sp>
        <p:nvSpPr>
          <p:cNvPr id="8" name="Text 6"/>
          <p:cNvSpPr/>
          <p:nvPr/>
        </p:nvSpPr>
        <p:spPr>
          <a:xfrm>
            <a:off x="4662984" y="2637631"/>
            <a:ext cx="2952014"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F2226"/>
                </a:solidFill>
                <a:latin typeface="Rubik" pitchFamily="34" charset="0"/>
                <a:ea typeface="Rubik" pitchFamily="34" charset="-122"/>
                <a:cs typeface="Rubik" pitchFamily="34" charset="-120"/>
              </a:rPr>
              <a:t>What we are building</a:t>
            </a:r>
            <a:endParaRPr lang="en-US" sz="1800" dirty="0"/>
          </a:p>
        </p:txBody>
      </p:sp>
      <p:sp>
        <p:nvSpPr>
          <p:cNvPr id="9" name="Text 7"/>
          <p:cNvSpPr/>
          <p:nvPr/>
        </p:nvSpPr>
        <p:spPr>
          <a:xfrm>
            <a:off x="4662984" y="3038872"/>
            <a:ext cx="2952014" cy="1314252"/>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3A3E43"/>
                </a:solidFill>
                <a:latin typeface="IBM Plex Sans" pitchFamily="34" charset="0"/>
                <a:ea typeface="IBM Plex Sans" pitchFamily="34" charset="-122"/>
                <a:cs typeface="IBM Plex Sans" pitchFamily="34" charset="-120"/>
              </a:rPr>
              <a:t>An assistant on Azure AI Foundry: GPT-5 and Foundry IQ answer from approved documents with citations, and read-only MCP tools query SAP, Oracle and QA test systems.</a:t>
            </a:r>
            <a:endParaRPr lang="en-US" sz="1400" dirty="0"/>
          </a:p>
        </p:txBody>
      </p:sp>
      <p:sp>
        <p:nvSpPr>
          <p:cNvPr id="10" name="Shape 8"/>
          <p:cNvSpPr/>
          <p:nvPr/>
        </p:nvSpPr>
        <p:spPr>
          <a:xfrm>
            <a:off x="7995741" y="2380456"/>
            <a:ext cx="3380284" cy="3458369"/>
          </a:xfrm>
          <a:prstGeom prst="roundRect">
            <a:avLst>
              <a:gd name="adj" fmla="val 2912"/>
            </a:avLst>
          </a:prstGeom>
          <a:solidFill>
            <a:srgbClr val="FBFAF8"/>
          </a:solidFill>
          <a:ln w="6350">
            <a:solidFill>
              <a:srgbClr val="DEDAD3"/>
            </a:solidFill>
            <a:prstDash val="solid"/>
          </a:ln>
        </p:spPr>
        <p:txBody>
          <a:bodyPr/>
          <a:lstStyle/>
          <a:p>
            <a:endParaRPr lang="en-US"/>
          </a:p>
        </p:txBody>
      </p:sp>
      <p:sp>
        <p:nvSpPr>
          <p:cNvPr id="11" name="Text 9"/>
          <p:cNvSpPr/>
          <p:nvPr/>
        </p:nvSpPr>
        <p:spPr>
          <a:xfrm>
            <a:off x="8252916" y="2637631"/>
            <a:ext cx="2951912"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F2226"/>
                </a:solidFill>
                <a:latin typeface="Rubik" pitchFamily="34" charset="0"/>
                <a:ea typeface="Rubik" pitchFamily="34" charset="-122"/>
                <a:cs typeface="Rubik" pitchFamily="34" charset="-120"/>
              </a:rPr>
              <a:t>The outcome</a:t>
            </a:r>
            <a:endParaRPr lang="en-US" sz="1800" dirty="0"/>
          </a:p>
        </p:txBody>
      </p:sp>
      <p:sp>
        <p:nvSpPr>
          <p:cNvPr id="12" name="Text 10"/>
          <p:cNvSpPr/>
          <p:nvPr/>
        </p:nvSpPr>
        <p:spPr>
          <a:xfrm>
            <a:off x="8252916" y="3038872"/>
            <a:ext cx="2951912" cy="1314252"/>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3A3E43"/>
                </a:solidFill>
                <a:latin typeface="IBM Plex Sans" pitchFamily="34" charset="0"/>
                <a:ea typeface="IBM Plex Sans" pitchFamily="34" charset="-122"/>
                <a:cs typeface="IBM Plex Sans" pitchFamily="34" charset="-120"/>
              </a:rPr>
              <a:t>A security-reviewed pilot for about 150 users by 12 Mar 2027, targeting a 40% cut in lookup effort. It leads with a QA &amp; Testing Assistant use case.</a:t>
            </a:r>
            <a:endParaRPr lang="en-US" sz="14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076"/>
                </a:solidFill>
                <a:latin typeface="IBM Plex Sans" pitchFamily="34" charset="0"/>
                <a:ea typeface="IBM Plex Sans" pitchFamily="34" charset="-122"/>
                <a:cs typeface="IBM Plex Sans" pitchFamily="34" charset="-120"/>
              </a:rPr>
              <a:t>VOIS AI Assistant · Client update · Week 13 of 21</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00000"/>
                </a:solidFill>
                <a:latin typeface="IBM Plex Sans" pitchFamily="34" charset="0"/>
                <a:ea typeface="IBM Plex Sans" pitchFamily="34" charset="-122"/>
                <a:cs typeface="IBM Plex Sans" pitchFamily="34" charset="-120"/>
              </a:rPr>
              <a:t>01 · PROJECT BRIEF</a:t>
            </a:r>
            <a:endParaRPr lang="en-US" sz="1200" dirty="0"/>
          </a:p>
        </p:txBody>
      </p:sp>
      <p:sp>
        <p:nvSpPr>
          <p:cNvPr id="3" name="Text 1"/>
          <p:cNvSpPr>
            <a:spLocks noGrp="1"/>
          </p:cNvSpPr>
          <p:nvPr>
            <p:ph type="title"/>
          </p:nvPr>
        </p:nvSpPr>
        <p:spPr>
          <a:xfrm>
            <a:off x="812800" y="1127720"/>
            <a:ext cx="10883392" cy="919361"/>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F2226"/>
                </a:solidFill>
                <a:latin typeface="Rubik" pitchFamily="34" charset="0"/>
                <a:ea typeface="Rubik" pitchFamily="34" charset="-122"/>
                <a:cs typeface="Rubik" pitchFamily="34" charset="-120"/>
              </a:rPr>
              <a:t>A bounded pilot: read-only, approved content, non-production</a:t>
            </a:r>
            <a:endParaRPr lang="en-US" sz="3200" dirty="0"/>
          </a:p>
        </p:txBody>
      </p:sp>
      <p:sp>
        <p:nvSpPr>
          <p:cNvPr id="4" name="Shape 2"/>
          <p:cNvSpPr/>
          <p:nvPr/>
        </p:nvSpPr>
        <p:spPr>
          <a:xfrm>
            <a:off x="815975" y="2329656"/>
            <a:ext cx="5175250" cy="2490391"/>
          </a:xfrm>
          <a:prstGeom prst="roundRect">
            <a:avLst>
              <a:gd name="adj" fmla="val 3952"/>
            </a:avLst>
          </a:prstGeom>
          <a:solidFill>
            <a:srgbClr val="FBFAF8"/>
          </a:solidFill>
          <a:ln w="6350">
            <a:solidFill>
              <a:srgbClr val="DEDAD3"/>
            </a:solidFill>
            <a:prstDash val="solid"/>
          </a:ln>
        </p:spPr>
        <p:txBody>
          <a:bodyPr/>
          <a:lstStyle/>
          <a:p>
            <a:endParaRPr lang="en-US"/>
          </a:p>
        </p:txBody>
      </p:sp>
      <p:sp>
        <p:nvSpPr>
          <p:cNvPr id="5" name="Text 3"/>
          <p:cNvSpPr/>
          <p:nvPr/>
        </p:nvSpPr>
        <p:spPr>
          <a:xfrm>
            <a:off x="1073150" y="2586831"/>
            <a:ext cx="4800727"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0697B"/>
                </a:solidFill>
                <a:latin typeface="Rubik" pitchFamily="34" charset="0"/>
                <a:ea typeface="Rubik" pitchFamily="34" charset="-122"/>
                <a:cs typeface="Rubik" pitchFamily="34" charset="-120"/>
              </a:rPr>
              <a:t>In scope</a:t>
            </a:r>
            <a:endParaRPr lang="en-US" sz="1800" dirty="0"/>
          </a:p>
        </p:txBody>
      </p:sp>
      <p:sp>
        <p:nvSpPr>
          <p:cNvPr id="6" name="Text 4"/>
          <p:cNvSpPr/>
          <p:nvPr/>
        </p:nvSpPr>
        <p:spPr>
          <a:xfrm>
            <a:off x="1151382" y="2962672"/>
            <a:ext cx="4714875" cy="1625600"/>
          </a:xfrm>
          <a:prstGeom prst="rect">
            <a:avLst/>
          </a:prstGeom>
          <a:noFill/>
          <a:ln/>
        </p:spPr>
        <p:txBody>
          <a:bodyPr wrap="square" lIns="0" tIns="0" rIns="0" bIns="0" rtlCol="0" anchor="t">
            <a:normAutofit/>
          </a:bodyPr>
          <a:lstStyle/>
          <a:p>
            <a:pPr marL="175768" indent="-175768" algn="l">
              <a:lnSpc>
                <a:spcPts val="2100"/>
              </a:lnSpc>
              <a:buSzPct val="100000"/>
              <a:buChar char="•"/>
            </a:pPr>
            <a:r>
              <a:rPr lang="en-US" sz="1400" dirty="0">
                <a:solidFill>
                  <a:srgbClr val="3A3E43"/>
                </a:solidFill>
                <a:latin typeface="IBM Plex Sans" pitchFamily="34" charset="0"/>
                <a:ea typeface="IBM Plex Sans" pitchFamily="34" charset="-122"/>
                <a:cs typeface="IBM Plex Sans" pitchFamily="34" charset="-120"/>
              </a:rPr>
              <a:t>Grounded answers with citations from ~1,200 approved documents</a:t>
            </a:r>
            <a:endParaRPr lang="en-US" sz="1400" dirty="0"/>
          </a:p>
          <a:p>
            <a:pPr marL="175768" indent="-175768" algn="l">
              <a:lnSpc>
                <a:spcPts val="2100"/>
              </a:lnSpc>
              <a:buSzPct val="100000"/>
              <a:buChar char="•"/>
            </a:pPr>
            <a:r>
              <a:rPr lang="en-US" sz="1400" dirty="0">
                <a:solidFill>
                  <a:srgbClr val="3A3E43"/>
                </a:solidFill>
                <a:latin typeface="IBM Plex Sans" pitchFamily="34" charset="0"/>
                <a:ea typeface="IBM Plex Sans" pitchFamily="34" charset="-122"/>
                <a:cs typeface="IBM Plex Sans" pitchFamily="34" charset="-120"/>
              </a:rPr>
              <a:t>Read-only MCP tools: SAP, Oracle, QA test systems</a:t>
            </a:r>
            <a:endParaRPr lang="en-US" sz="1400" dirty="0"/>
          </a:p>
          <a:p>
            <a:pPr marL="175768" indent="-175768" algn="l">
              <a:lnSpc>
                <a:spcPts val="2100"/>
              </a:lnSpc>
              <a:buSzPct val="100000"/>
              <a:buChar char="•"/>
            </a:pPr>
            <a:r>
              <a:rPr lang="en-US" sz="1400" dirty="0">
                <a:solidFill>
                  <a:srgbClr val="3A3E43"/>
                </a:solidFill>
                <a:latin typeface="IBM Plex Sans" pitchFamily="34" charset="0"/>
                <a:ea typeface="IBM Plex Sans" pitchFamily="34" charset="-122"/>
                <a:cs typeface="IBM Plex Sans" pitchFamily="34" charset="-120"/>
              </a:rPr>
              <a:t>Entra ID, role-based access, audit logging</a:t>
            </a:r>
            <a:endParaRPr lang="en-US" sz="1400" dirty="0"/>
          </a:p>
          <a:p>
            <a:pPr marL="175768" indent="-175768" algn="l">
              <a:lnSpc>
                <a:spcPts val="2100"/>
              </a:lnSpc>
              <a:buSzPct val="100000"/>
              <a:buChar char="•"/>
            </a:pPr>
            <a:r>
              <a:rPr lang="en-US" sz="1400" dirty="0">
                <a:solidFill>
                  <a:srgbClr val="3A3E43"/>
                </a:solidFill>
                <a:latin typeface="IBM Plex Sans" pitchFamily="34" charset="0"/>
                <a:ea typeface="IBM Plex Sans" pitchFamily="34" charset="-122"/>
                <a:cs typeface="IBM Plex Sans" pitchFamily="34" charset="-120"/>
              </a:rPr>
              <a:t>AI security, evaluation, performance testing</a:t>
            </a:r>
            <a:endParaRPr lang="en-US" sz="1400" dirty="0"/>
          </a:p>
          <a:p>
            <a:pPr marL="175768" indent="-175768" algn="l">
              <a:lnSpc>
                <a:spcPts val="2100"/>
              </a:lnSpc>
              <a:buSzPct val="100000"/>
              <a:buChar char="•"/>
            </a:pPr>
            <a:r>
              <a:rPr lang="en-US" sz="1400" dirty="0">
                <a:solidFill>
                  <a:srgbClr val="3A3E43"/>
                </a:solidFill>
                <a:latin typeface="IBM Plex Sans" pitchFamily="34" charset="0"/>
                <a:ea typeface="IBM Plex Sans" pitchFamily="34" charset="-122"/>
                <a:cs typeface="IBM Plex Sans" pitchFamily="34" charset="-120"/>
              </a:rPr>
              <a:t>UAT, pilot for ~150 users, training, handover</a:t>
            </a:r>
            <a:endParaRPr lang="en-US" sz="1400" dirty="0"/>
          </a:p>
        </p:txBody>
      </p:sp>
      <p:sp>
        <p:nvSpPr>
          <p:cNvPr id="7" name="Shape 5"/>
          <p:cNvSpPr/>
          <p:nvPr/>
        </p:nvSpPr>
        <p:spPr>
          <a:xfrm>
            <a:off x="6200775" y="2329656"/>
            <a:ext cx="5175250" cy="2490391"/>
          </a:xfrm>
          <a:prstGeom prst="roundRect">
            <a:avLst>
              <a:gd name="adj" fmla="val 3952"/>
            </a:avLst>
          </a:prstGeom>
          <a:solidFill>
            <a:srgbClr val="FBFAF8"/>
          </a:solidFill>
          <a:ln w="6350">
            <a:solidFill>
              <a:srgbClr val="DEDAD3"/>
            </a:solidFill>
            <a:prstDash val="solid"/>
          </a:ln>
        </p:spPr>
        <p:txBody>
          <a:bodyPr/>
          <a:lstStyle/>
          <a:p>
            <a:endParaRPr lang="en-US"/>
          </a:p>
        </p:txBody>
      </p:sp>
      <p:sp>
        <p:nvSpPr>
          <p:cNvPr id="8" name="Text 6"/>
          <p:cNvSpPr/>
          <p:nvPr/>
        </p:nvSpPr>
        <p:spPr>
          <a:xfrm>
            <a:off x="6457950" y="2586831"/>
            <a:ext cx="4800727"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6B7076"/>
                </a:solidFill>
                <a:latin typeface="Rubik" pitchFamily="34" charset="0"/>
                <a:ea typeface="Rubik" pitchFamily="34" charset="-122"/>
                <a:cs typeface="Rubik" pitchFamily="34" charset="-120"/>
              </a:rPr>
              <a:t>Out of scope (Phase 2)</a:t>
            </a:r>
            <a:endParaRPr lang="en-US" sz="1800" dirty="0"/>
          </a:p>
        </p:txBody>
      </p:sp>
      <p:sp>
        <p:nvSpPr>
          <p:cNvPr id="9" name="Text 7"/>
          <p:cNvSpPr/>
          <p:nvPr/>
        </p:nvSpPr>
        <p:spPr>
          <a:xfrm>
            <a:off x="6536182" y="2962672"/>
            <a:ext cx="4714875" cy="1358900"/>
          </a:xfrm>
          <a:prstGeom prst="rect">
            <a:avLst/>
          </a:prstGeom>
          <a:noFill/>
          <a:ln/>
        </p:spPr>
        <p:txBody>
          <a:bodyPr wrap="square" lIns="0" tIns="0" rIns="0" bIns="0" rtlCol="0" anchor="t">
            <a:normAutofit/>
          </a:bodyPr>
          <a:lstStyle/>
          <a:p>
            <a:pPr marL="175768" indent="-175768" algn="l">
              <a:lnSpc>
                <a:spcPts val="2100"/>
              </a:lnSpc>
              <a:buSzPct val="100000"/>
              <a:buChar char="•"/>
            </a:pPr>
            <a:r>
              <a:rPr lang="en-US" sz="1400" dirty="0">
                <a:solidFill>
                  <a:srgbClr val="3A3E43"/>
                </a:solidFill>
                <a:latin typeface="IBM Plex Sans" pitchFamily="34" charset="0"/>
                <a:ea typeface="IBM Plex Sans" pitchFamily="34" charset="-122"/>
                <a:cs typeface="IBM Plex Sans" pitchFamily="34" charset="-120"/>
              </a:rPr>
              <a:t>Write or transactional actions in any system</a:t>
            </a:r>
            <a:endParaRPr lang="en-US" sz="1400" dirty="0"/>
          </a:p>
          <a:p>
            <a:pPr marL="175768" indent="-175768" algn="l">
              <a:lnSpc>
                <a:spcPts val="2100"/>
              </a:lnSpc>
              <a:buSzPct val="100000"/>
              <a:buChar char="•"/>
            </a:pPr>
            <a:r>
              <a:rPr lang="en-US" sz="1400" dirty="0">
                <a:solidFill>
                  <a:srgbClr val="3A3E43"/>
                </a:solidFill>
                <a:latin typeface="IBM Plex Sans" pitchFamily="34" charset="0"/>
                <a:ea typeface="IBM Plex Sans" pitchFamily="34" charset="-122"/>
                <a:cs typeface="IBM Plex Sans" pitchFamily="34" charset="-120"/>
              </a:rPr>
              <a:t>Confidential production data</a:t>
            </a:r>
            <a:endParaRPr lang="en-US" sz="1400" dirty="0"/>
          </a:p>
          <a:p>
            <a:pPr marL="175768" indent="-175768" algn="l">
              <a:lnSpc>
                <a:spcPts val="2100"/>
              </a:lnSpc>
              <a:buSzPct val="100000"/>
              <a:buChar char="•"/>
            </a:pPr>
            <a:r>
              <a:rPr lang="en-US" sz="1400" dirty="0">
                <a:solidFill>
                  <a:srgbClr val="3A3E43"/>
                </a:solidFill>
                <a:latin typeface="IBM Plex Sans" pitchFamily="34" charset="0"/>
                <a:ea typeface="IBM Plex Sans" pitchFamily="34" charset="-122"/>
                <a:cs typeface="IBM Plex Sans" pitchFamily="34" charset="-120"/>
              </a:rPr>
              <a:t>Enterprise-wide rollout to all applications</a:t>
            </a:r>
            <a:endParaRPr lang="en-US" sz="1400" dirty="0"/>
          </a:p>
          <a:p>
            <a:pPr marL="175768" indent="-175768" algn="l">
              <a:lnSpc>
                <a:spcPts val="2100"/>
              </a:lnSpc>
              <a:buSzPct val="100000"/>
              <a:buChar char="•"/>
            </a:pPr>
            <a:r>
              <a:rPr lang="en-US" sz="1400" dirty="0">
                <a:solidFill>
                  <a:srgbClr val="3A3E43"/>
                </a:solidFill>
                <a:latin typeface="IBM Plex Sans" pitchFamily="34" charset="0"/>
                <a:ea typeface="IBM Plex Sans" pitchFamily="34" charset="-122"/>
                <a:cs typeface="IBM Plex Sans" pitchFamily="34" charset="-120"/>
              </a:rPr>
              <a:t>Production hosting and 24×7 support</a:t>
            </a:r>
            <a:endParaRPr lang="en-US" sz="1400" dirty="0"/>
          </a:p>
          <a:p>
            <a:pPr marL="175768" indent="-175768" algn="l">
              <a:lnSpc>
                <a:spcPts val="2100"/>
              </a:lnSpc>
              <a:buSzPct val="100000"/>
              <a:buChar char="•"/>
            </a:pPr>
            <a:r>
              <a:rPr lang="en-US" sz="1400" dirty="0">
                <a:solidFill>
                  <a:srgbClr val="3A3E43"/>
                </a:solidFill>
                <a:latin typeface="IBM Plex Sans" pitchFamily="34" charset="0"/>
                <a:ea typeface="IBM Plex Sans" pitchFamily="34" charset="-122"/>
                <a:cs typeface="IBM Plex Sans" pitchFamily="34" charset="-120"/>
              </a:rPr>
              <a:t>Changes to SAP or Oracle themselves</a:t>
            </a:r>
            <a:endParaRPr lang="en-US" sz="1400" dirty="0"/>
          </a:p>
        </p:txBody>
      </p:sp>
      <p:sp>
        <p:nvSpPr>
          <p:cNvPr id="10" name="Text 8"/>
          <p:cNvSpPr/>
          <p:nvPr/>
        </p:nvSpPr>
        <p:spPr>
          <a:xfrm>
            <a:off x="812800" y="5128022"/>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A3E43"/>
                </a:solidFill>
                <a:latin typeface="IBM Plex Sans" pitchFamily="34" charset="0"/>
                <a:ea typeface="IBM Plex Sans" pitchFamily="34" charset="-122"/>
                <a:cs typeface="IBM Plex Sans" pitchFamily="34" charset="-120"/>
              </a:rPr>
              <a:t>Budget</a:t>
            </a:r>
            <a:r>
              <a:rPr lang="en-US" sz="1400" dirty="0">
                <a:solidFill>
                  <a:srgbClr val="3A3E43"/>
                </a:solidFill>
                <a:latin typeface="IBM Plex Sans" pitchFamily="34" charset="0"/>
                <a:ea typeface="IBM Plex Sans" pitchFamily="34" charset="-122"/>
                <a:cs typeface="IBM Plex Sans" pitchFamily="34" charset="-120"/>
              </a:rPr>
              <a:t> ₹131.7 L incl. 10% reserve · </a:t>
            </a:r>
            <a:r>
              <a:rPr lang="en-US" sz="1400" b="1" dirty="0">
                <a:solidFill>
                  <a:srgbClr val="3A3E43"/>
                </a:solidFill>
                <a:latin typeface="IBM Plex Sans" pitchFamily="34" charset="0"/>
                <a:ea typeface="IBM Plex Sans" pitchFamily="34" charset="-122"/>
                <a:cs typeface="IBM Plex Sans" pitchFamily="34" charset="-120"/>
              </a:rPr>
              <a:t>Timeline</a:t>
            </a:r>
            <a:r>
              <a:rPr lang="en-US" sz="1400" dirty="0">
                <a:solidFill>
                  <a:srgbClr val="3A3E43"/>
                </a:solidFill>
                <a:latin typeface="IBM Plex Sans" pitchFamily="34" charset="0"/>
                <a:ea typeface="IBM Plex Sans" pitchFamily="34" charset="-122"/>
                <a:cs typeface="IBM Plex Sans" pitchFamily="34" charset="-120"/>
              </a:rPr>
              <a:t> 19 Aug 2026 – 12 Mar 2027 · </a:t>
            </a:r>
            <a:r>
              <a:rPr lang="en-US" sz="1400" b="1" dirty="0">
                <a:solidFill>
                  <a:srgbClr val="3A3E43"/>
                </a:solidFill>
                <a:latin typeface="IBM Plex Sans" pitchFamily="34" charset="0"/>
                <a:ea typeface="IBM Plex Sans" pitchFamily="34" charset="-122"/>
                <a:cs typeface="IBM Plex Sans" pitchFamily="34" charset="-120"/>
              </a:rPr>
              <a:t>Platform</a:t>
            </a:r>
            <a:r>
              <a:rPr lang="en-US" sz="1400" dirty="0">
                <a:solidFill>
                  <a:srgbClr val="3A3E43"/>
                </a:solidFill>
                <a:latin typeface="IBM Plex Sans" pitchFamily="34" charset="0"/>
                <a:ea typeface="IBM Plex Sans" pitchFamily="34" charset="-122"/>
                <a:cs typeface="IBM Plex Sans" pitchFamily="34" charset="-120"/>
              </a:rPr>
              <a:t> Microsoft Azure AI Foundry</a:t>
            </a:r>
            <a:endParaRPr lang="en-US" sz="14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076"/>
                </a:solidFill>
                <a:latin typeface="IBM Plex Sans" pitchFamily="34" charset="0"/>
                <a:ea typeface="IBM Plex Sans" pitchFamily="34" charset="-122"/>
                <a:cs typeface="IBM Plex Sans" pitchFamily="34" charset="-120"/>
              </a:rPr>
              <a:t>VOIS AI Assistant · Client update · Week 13 of 21</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A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00000"/>
                </a:solidFill>
                <a:latin typeface="IBM Plex Sans" pitchFamily="34" charset="0"/>
                <a:ea typeface="IBM Plex Sans" pitchFamily="34" charset="-122"/>
                <a:cs typeface="IBM Plex Sans" pitchFamily="34" charset="-120"/>
              </a:rPr>
              <a:t>01 · PROJECT BRIEF</a:t>
            </a:r>
            <a:endParaRPr lang="en-US" sz="1200" dirty="0"/>
          </a:p>
        </p:txBody>
      </p:sp>
      <p:sp>
        <p:nvSpPr>
          <p:cNvPr id="3" name="Text 1"/>
          <p:cNvSpPr>
            <a:spLocks noGrp="1"/>
          </p:cNvSpPr>
          <p:nvPr>
            <p:ph type="title"/>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F2226"/>
                </a:solidFill>
                <a:latin typeface="Rubik" pitchFamily="34" charset="0"/>
                <a:ea typeface="Rubik" pitchFamily="34" charset="-122"/>
                <a:cs typeface="Rubik" pitchFamily="34" charset="-120"/>
              </a:rPr>
              <a:t>How a question is answered, end to end</a:t>
            </a:r>
            <a:endParaRPr lang="en-US" sz="3200" dirty="0"/>
          </a:p>
        </p:txBody>
      </p:sp>
      <p:pic>
        <p:nvPicPr>
          <p:cNvPr id="4" name="Image 0" descr="connector"/>
          <p:cNvPicPr>
            <a:picLocks noChangeAspect="1"/>
          </p:cNvPicPr>
          <p:nvPr/>
        </p:nvPicPr>
        <p:blipFill>
          <a:blip r:embed="rId3"/>
          <a:srcRect/>
          <a:stretch/>
        </p:blipFill>
        <p:spPr>
          <a:xfrm>
            <a:off x="2413000" y="3378200"/>
            <a:ext cx="482600" cy="101600"/>
          </a:xfrm>
          <a:prstGeom prst="rect">
            <a:avLst/>
          </a:prstGeom>
        </p:spPr>
      </p:pic>
      <p:pic>
        <p:nvPicPr>
          <p:cNvPr id="5" name="Image 1" descr="connector"/>
          <p:cNvPicPr>
            <a:picLocks noChangeAspect="1"/>
          </p:cNvPicPr>
          <p:nvPr/>
        </p:nvPicPr>
        <p:blipFill>
          <a:blip r:embed="rId3"/>
          <a:srcRect/>
          <a:stretch/>
        </p:blipFill>
        <p:spPr>
          <a:xfrm>
            <a:off x="4699000" y="3378200"/>
            <a:ext cx="482600" cy="101600"/>
          </a:xfrm>
          <a:prstGeom prst="rect">
            <a:avLst/>
          </a:prstGeom>
        </p:spPr>
      </p:pic>
      <p:pic>
        <p:nvPicPr>
          <p:cNvPr id="6" name="Image 2" descr="connector"/>
          <p:cNvPicPr>
            <a:picLocks noChangeAspect="1"/>
          </p:cNvPicPr>
          <p:nvPr/>
        </p:nvPicPr>
        <p:blipFill>
          <a:blip r:embed="rId4"/>
          <a:srcRect/>
          <a:stretch/>
        </p:blipFill>
        <p:spPr>
          <a:xfrm>
            <a:off x="7239000" y="2489200"/>
            <a:ext cx="482600" cy="609600"/>
          </a:xfrm>
          <a:prstGeom prst="rect">
            <a:avLst/>
          </a:prstGeom>
        </p:spPr>
      </p:pic>
      <p:pic>
        <p:nvPicPr>
          <p:cNvPr id="7" name="Image 3" descr="connector"/>
          <p:cNvPicPr>
            <a:picLocks noChangeAspect="1"/>
          </p:cNvPicPr>
          <p:nvPr/>
        </p:nvPicPr>
        <p:blipFill>
          <a:blip r:embed="rId5"/>
          <a:srcRect/>
          <a:stretch/>
        </p:blipFill>
        <p:spPr>
          <a:xfrm>
            <a:off x="7239000" y="3759200"/>
            <a:ext cx="482600" cy="609600"/>
          </a:xfrm>
          <a:prstGeom prst="rect">
            <a:avLst/>
          </a:prstGeom>
        </p:spPr>
      </p:pic>
      <p:pic>
        <p:nvPicPr>
          <p:cNvPr id="8" name="Image 4" descr="connector"/>
          <p:cNvPicPr>
            <a:picLocks noChangeAspect="1"/>
          </p:cNvPicPr>
          <p:nvPr/>
        </p:nvPicPr>
        <p:blipFill>
          <a:blip r:embed="rId6"/>
          <a:srcRect/>
          <a:stretch/>
        </p:blipFill>
        <p:spPr>
          <a:xfrm>
            <a:off x="9525000" y="2489200"/>
            <a:ext cx="482600" cy="101600"/>
          </a:xfrm>
          <a:prstGeom prst="rect">
            <a:avLst/>
          </a:prstGeom>
        </p:spPr>
      </p:pic>
      <p:pic>
        <p:nvPicPr>
          <p:cNvPr id="9" name="Image 5" descr="connector"/>
          <p:cNvPicPr>
            <a:picLocks noChangeAspect="1"/>
          </p:cNvPicPr>
          <p:nvPr/>
        </p:nvPicPr>
        <p:blipFill>
          <a:blip r:embed="rId3"/>
          <a:srcRect/>
          <a:stretch/>
        </p:blipFill>
        <p:spPr>
          <a:xfrm>
            <a:off x="9525000" y="4267200"/>
            <a:ext cx="482600" cy="101600"/>
          </a:xfrm>
          <a:prstGeom prst="rect">
            <a:avLst/>
          </a:prstGeom>
        </p:spPr>
      </p:pic>
      <p:sp>
        <p:nvSpPr>
          <p:cNvPr id="10" name="Shape 2"/>
          <p:cNvSpPr/>
          <p:nvPr/>
        </p:nvSpPr>
        <p:spPr>
          <a:xfrm>
            <a:off x="819150" y="2927350"/>
            <a:ext cx="1638300" cy="1003300"/>
          </a:xfrm>
          <a:prstGeom prst="roundRect">
            <a:avLst>
              <a:gd name="adj" fmla="val 9494"/>
            </a:avLst>
          </a:prstGeom>
          <a:solidFill>
            <a:srgbClr val="F5F3EF"/>
          </a:solidFill>
          <a:ln w="12700">
            <a:solidFill>
              <a:srgbClr val="B9B4AB"/>
            </a:solidFill>
            <a:prstDash val="solid"/>
          </a:ln>
        </p:spPr>
        <p:txBody>
          <a:bodyPr/>
          <a:lstStyle/>
          <a:p>
            <a:endParaRPr lang="en-US"/>
          </a:p>
        </p:txBody>
      </p:sp>
      <p:sp>
        <p:nvSpPr>
          <p:cNvPr id="11" name="Text 3"/>
          <p:cNvSpPr/>
          <p:nvPr/>
        </p:nvSpPr>
        <p:spPr>
          <a:xfrm>
            <a:off x="977900" y="3086100"/>
            <a:ext cx="1371600"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F2226"/>
                </a:solidFill>
                <a:latin typeface="Rubik" pitchFamily="34" charset="0"/>
                <a:ea typeface="Rubik" pitchFamily="34" charset="-122"/>
                <a:cs typeface="Rubik" pitchFamily="34" charset="-120"/>
              </a:rPr>
              <a:t>Pilot users</a:t>
            </a:r>
            <a:endParaRPr lang="en-US" sz="1400" dirty="0"/>
          </a:p>
        </p:txBody>
      </p:sp>
      <p:sp>
        <p:nvSpPr>
          <p:cNvPr id="12" name="Text 4"/>
          <p:cNvSpPr/>
          <p:nvPr/>
        </p:nvSpPr>
        <p:spPr>
          <a:xfrm>
            <a:off x="977900" y="3350220"/>
            <a:ext cx="1371600"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4F55"/>
                </a:solidFill>
                <a:latin typeface="IBM Plex Sans" pitchFamily="34" charset="0"/>
                <a:ea typeface="IBM Plex Sans" pitchFamily="34" charset="-122"/>
                <a:cs typeface="IBM Plex Sans" pitchFamily="34" charset="-120"/>
              </a:rPr>
              <a:t>QA, IT support, business users</a:t>
            </a:r>
            <a:endParaRPr lang="en-US" sz="1200" dirty="0"/>
          </a:p>
        </p:txBody>
      </p:sp>
      <p:sp>
        <p:nvSpPr>
          <p:cNvPr id="13" name="Shape 5"/>
          <p:cNvSpPr/>
          <p:nvPr/>
        </p:nvSpPr>
        <p:spPr>
          <a:xfrm>
            <a:off x="2851150" y="2800350"/>
            <a:ext cx="1892300" cy="1257300"/>
          </a:xfrm>
          <a:prstGeom prst="roundRect">
            <a:avLst>
              <a:gd name="adj" fmla="val 7576"/>
            </a:avLst>
          </a:prstGeom>
          <a:solidFill>
            <a:srgbClr val="F5F3EF"/>
          </a:solidFill>
          <a:ln w="12700">
            <a:solidFill>
              <a:srgbClr val="B9B4AB"/>
            </a:solidFill>
            <a:prstDash val="solid"/>
          </a:ln>
        </p:spPr>
        <p:txBody>
          <a:bodyPr/>
          <a:lstStyle/>
          <a:p>
            <a:endParaRPr lang="en-US"/>
          </a:p>
        </p:txBody>
      </p:sp>
      <p:sp>
        <p:nvSpPr>
          <p:cNvPr id="14" name="Text 6"/>
          <p:cNvSpPr/>
          <p:nvPr/>
        </p:nvSpPr>
        <p:spPr>
          <a:xfrm>
            <a:off x="3009900" y="2959100"/>
            <a:ext cx="1625600"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F2226"/>
                </a:solidFill>
                <a:latin typeface="Rubik" pitchFamily="34" charset="0"/>
                <a:ea typeface="Rubik" pitchFamily="34" charset="-122"/>
                <a:cs typeface="Rubik" pitchFamily="34" charset="-120"/>
              </a:rPr>
              <a:t>Web chat UI</a:t>
            </a:r>
            <a:endParaRPr lang="en-US" sz="1400" dirty="0"/>
          </a:p>
        </p:txBody>
      </p:sp>
      <p:sp>
        <p:nvSpPr>
          <p:cNvPr id="15" name="Text 7"/>
          <p:cNvSpPr/>
          <p:nvPr/>
        </p:nvSpPr>
        <p:spPr>
          <a:xfrm>
            <a:off x="3009900" y="3223220"/>
            <a:ext cx="1625600"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4F55"/>
                </a:solidFill>
                <a:latin typeface="IBM Plex Sans" pitchFamily="34" charset="0"/>
                <a:ea typeface="IBM Plex Sans" pitchFamily="34" charset="-122"/>
                <a:cs typeface="IBM Plex Sans" pitchFamily="34" charset="-120"/>
              </a:rPr>
              <a:t>Entra ID sign-in and role-based access</a:t>
            </a:r>
            <a:endParaRPr lang="en-US" sz="1200" dirty="0"/>
          </a:p>
        </p:txBody>
      </p:sp>
      <p:sp>
        <p:nvSpPr>
          <p:cNvPr id="16" name="Shape 8"/>
          <p:cNvSpPr/>
          <p:nvPr/>
        </p:nvSpPr>
        <p:spPr>
          <a:xfrm>
            <a:off x="5140325" y="2613025"/>
            <a:ext cx="2139950" cy="1631950"/>
          </a:xfrm>
          <a:prstGeom prst="roundRect">
            <a:avLst>
              <a:gd name="adj" fmla="val 5642"/>
            </a:avLst>
          </a:prstGeom>
          <a:solidFill>
            <a:srgbClr val="FDECEC"/>
          </a:solidFill>
          <a:ln w="19050">
            <a:solidFill>
              <a:srgbClr val="E60000"/>
            </a:solidFill>
            <a:prstDash val="solid"/>
          </a:ln>
        </p:spPr>
        <p:txBody>
          <a:bodyPr/>
          <a:lstStyle/>
          <a:p>
            <a:endParaRPr lang="en-US"/>
          </a:p>
        </p:txBody>
      </p:sp>
      <p:sp>
        <p:nvSpPr>
          <p:cNvPr id="17" name="Text 9"/>
          <p:cNvSpPr/>
          <p:nvPr/>
        </p:nvSpPr>
        <p:spPr>
          <a:xfrm>
            <a:off x="5302250" y="2774950"/>
            <a:ext cx="1870583" cy="452041"/>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F2226"/>
                </a:solidFill>
                <a:latin typeface="Rubik" pitchFamily="34" charset="0"/>
                <a:ea typeface="Rubik" pitchFamily="34" charset="-122"/>
                <a:cs typeface="Rubik" pitchFamily="34" charset="-120"/>
              </a:rPr>
              <a:t>Azure AI Foundry orchestration</a:t>
            </a:r>
            <a:endParaRPr lang="en-US" sz="1400" dirty="0"/>
          </a:p>
        </p:txBody>
      </p:sp>
      <p:sp>
        <p:nvSpPr>
          <p:cNvPr id="18" name="Text 10"/>
          <p:cNvSpPr/>
          <p:nvPr/>
        </p:nvSpPr>
        <p:spPr>
          <a:xfrm>
            <a:off x="5302250" y="3277791"/>
            <a:ext cx="1870583" cy="64244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A3E43"/>
                </a:solidFill>
                <a:latin typeface="IBM Plex Sans" pitchFamily="34" charset="0"/>
                <a:ea typeface="IBM Plex Sans" pitchFamily="34" charset="-122"/>
                <a:cs typeface="IBM Plex Sans" pitchFamily="34" charset="-120"/>
              </a:rPr>
              <a:t>GPT-5 reasoning, tool routing, answers with citations</a:t>
            </a:r>
            <a:endParaRPr lang="en-US" sz="1200" dirty="0"/>
          </a:p>
        </p:txBody>
      </p:sp>
      <p:sp>
        <p:nvSpPr>
          <p:cNvPr id="19" name="Shape 11"/>
          <p:cNvSpPr/>
          <p:nvPr/>
        </p:nvSpPr>
        <p:spPr>
          <a:xfrm>
            <a:off x="7677150" y="1911350"/>
            <a:ext cx="1892300" cy="1257300"/>
          </a:xfrm>
          <a:prstGeom prst="roundRect">
            <a:avLst>
              <a:gd name="adj" fmla="val 7576"/>
            </a:avLst>
          </a:prstGeom>
          <a:solidFill>
            <a:srgbClr val="F5F3EF"/>
          </a:solidFill>
          <a:ln w="12700">
            <a:solidFill>
              <a:srgbClr val="B9B4AB"/>
            </a:solidFill>
            <a:prstDash val="solid"/>
          </a:ln>
        </p:spPr>
        <p:txBody>
          <a:bodyPr/>
          <a:lstStyle/>
          <a:p>
            <a:endParaRPr lang="en-US"/>
          </a:p>
        </p:txBody>
      </p:sp>
      <p:sp>
        <p:nvSpPr>
          <p:cNvPr id="20" name="Text 12"/>
          <p:cNvSpPr/>
          <p:nvPr/>
        </p:nvSpPr>
        <p:spPr>
          <a:xfrm>
            <a:off x="7835900" y="2070100"/>
            <a:ext cx="1625600" cy="452041"/>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F2226"/>
                </a:solidFill>
                <a:latin typeface="Rubik" pitchFamily="34" charset="0"/>
                <a:ea typeface="Rubik" pitchFamily="34" charset="-122"/>
                <a:cs typeface="Rubik" pitchFamily="34" charset="-120"/>
              </a:rPr>
              <a:t>Foundry IQ knowledge</a:t>
            </a:r>
            <a:endParaRPr lang="en-US" sz="1400" dirty="0"/>
          </a:p>
        </p:txBody>
      </p:sp>
      <p:sp>
        <p:nvSpPr>
          <p:cNvPr id="21" name="Text 13"/>
          <p:cNvSpPr/>
          <p:nvPr/>
        </p:nvSpPr>
        <p:spPr>
          <a:xfrm>
            <a:off x="7835900" y="2547541"/>
            <a:ext cx="1625600"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4F55"/>
                </a:solidFill>
                <a:latin typeface="IBM Plex Sans" pitchFamily="34" charset="0"/>
                <a:ea typeface="IBM Plex Sans" pitchFamily="34" charset="-122"/>
                <a:cs typeface="IBM Plex Sans" pitchFamily="34" charset="-120"/>
              </a:rPr>
              <a:t>Hybrid search with security trimming</a:t>
            </a:r>
            <a:endParaRPr lang="en-US" sz="1200" dirty="0"/>
          </a:p>
        </p:txBody>
      </p:sp>
      <p:sp>
        <p:nvSpPr>
          <p:cNvPr id="22" name="Shape 14"/>
          <p:cNvSpPr/>
          <p:nvPr/>
        </p:nvSpPr>
        <p:spPr>
          <a:xfrm>
            <a:off x="7677150" y="3689350"/>
            <a:ext cx="1892300" cy="1257300"/>
          </a:xfrm>
          <a:prstGeom prst="roundRect">
            <a:avLst>
              <a:gd name="adj" fmla="val 7576"/>
            </a:avLst>
          </a:prstGeom>
          <a:solidFill>
            <a:srgbClr val="F5F3EF"/>
          </a:solidFill>
          <a:ln w="12700">
            <a:solidFill>
              <a:srgbClr val="B9B4AB"/>
            </a:solidFill>
            <a:prstDash val="solid"/>
          </a:ln>
        </p:spPr>
        <p:txBody>
          <a:bodyPr/>
          <a:lstStyle/>
          <a:p>
            <a:endParaRPr lang="en-US"/>
          </a:p>
        </p:txBody>
      </p:sp>
      <p:sp>
        <p:nvSpPr>
          <p:cNvPr id="23" name="Text 15"/>
          <p:cNvSpPr/>
          <p:nvPr/>
        </p:nvSpPr>
        <p:spPr>
          <a:xfrm>
            <a:off x="7835900" y="3848100"/>
            <a:ext cx="1625600" cy="452041"/>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F2226"/>
                </a:solidFill>
                <a:latin typeface="Rubik" pitchFamily="34" charset="0"/>
                <a:ea typeface="Rubik" pitchFamily="34" charset="-122"/>
                <a:cs typeface="Rubik" pitchFamily="34" charset="-120"/>
              </a:rPr>
              <a:t>MCP read-only tools</a:t>
            </a:r>
            <a:endParaRPr lang="en-US" sz="1400" dirty="0"/>
          </a:p>
        </p:txBody>
      </p:sp>
      <p:sp>
        <p:nvSpPr>
          <p:cNvPr id="24" name="Text 16"/>
          <p:cNvSpPr/>
          <p:nvPr/>
        </p:nvSpPr>
        <p:spPr>
          <a:xfrm>
            <a:off x="7835900" y="4325541"/>
            <a:ext cx="1625600"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4F55"/>
                </a:solidFill>
                <a:latin typeface="IBM Plex Sans" pitchFamily="34" charset="0"/>
                <a:ea typeface="IBM Plex Sans" pitchFamily="34" charset="-122"/>
                <a:cs typeface="IBM Plex Sans" pitchFamily="34" charset="-120"/>
              </a:rPr>
              <a:t>Every call authorised and logged</a:t>
            </a:r>
            <a:endParaRPr lang="en-US" sz="1200" dirty="0"/>
          </a:p>
        </p:txBody>
      </p:sp>
      <p:sp>
        <p:nvSpPr>
          <p:cNvPr id="25" name="Shape 17"/>
          <p:cNvSpPr/>
          <p:nvPr/>
        </p:nvSpPr>
        <p:spPr>
          <a:xfrm>
            <a:off x="9963150" y="1911350"/>
            <a:ext cx="1409700" cy="1257300"/>
          </a:xfrm>
          <a:prstGeom prst="roundRect">
            <a:avLst>
              <a:gd name="adj" fmla="val 7576"/>
            </a:avLst>
          </a:prstGeom>
          <a:solidFill>
            <a:srgbClr val="F5F3EF"/>
          </a:solidFill>
          <a:ln w="12700">
            <a:solidFill>
              <a:srgbClr val="B9B4AB"/>
            </a:solidFill>
            <a:prstDash val="dash"/>
          </a:ln>
        </p:spPr>
        <p:txBody>
          <a:bodyPr/>
          <a:lstStyle/>
          <a:p>
            <a:endParaRPr lang="en-US"/>
          </a:p>
        </p:txBody>
      </p:sp>
      <p:sp>
        <p:nvSpPr>
          <p:cNvPr id="26" name="Text 18"/>
          <p:cNvSpPr/>
          <p:nvPr/>
        </p:nvSpPr>
        <p:spPr>
          <a:xfrm>
            <a:off x="10121900" y="2070100"/>
            <a:ext cx="1143000" cy="452041"/>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F2226"/>
                </a:solidFill>
                <a:latin typeface="Rubik" pitchFamily="34" charset="0"/>
                <a:ea typeface="Rubik" pitchFamily="34" charset="-122"/>
                <a:cs typeface="Rubik" pitchFamily="34" charset="-120"/>
              </a:rPr>
              <a:t>Approved documents</a:t>
            </a:r>
            <a:endParaRPr lang="en-US" sz="1400" dirty="0"/>
          </a:p>
        </p:txBody>
      </p:sp>
      <p:sp>
        <p:nvSpPr>
          <p:cNvPr id="27" name="Text 19"/>
          <p:cNvSpPr/>
          <p:nvPr/>
        </p:nvSpPr>
        <p:spPr>
          <a:xfrm>
            <a:off x="10121900" y="2547541"/>
            <a:ext cx="1143000"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4F55"/>
                </a:solidFill>
                <a:latin typeface="IBM Plex Sans" pitchFamily="34" charset="0"/>
                <a:ea typeface="IBM Plex Sans" pitchFamily="34" charset="-122"/>
                <a:cs typeface="IBM Plex Sans" pitchFamily="34" charset="-120"/>
              </a:rPr>
              <a:t>About 1,200, curated</a:t>
            </a:r>
            <a:endParaRPr lang="en-US" sz="1200" dirty="0"/>
          </a:p>
        </p:txBody>
      </p:sp>
      <p:sp>
        <p:nvSpPr>
          <p:cNvPr id="28" name="Shape 20"/>
          <p:cNvSpPr/>
          <p:nvPr/>
        </p:nvSpPr>
        <p:spPr>
          <a:xfrm>
            <a:off x="9963150" y="3689350"/>
            <a:ext cx="1409700" cy="1257300"/>
          </a:xfrm>
          <a:prstGeom prst="roundRect">
            <a:avLst>
              <a:gd name="adj" fmla="val 7576"/>
            </a:avLst>
          </a:prstGeom>
          <a:solidFill>
            <a:srgbClr val="F5F3EF"/>
          </a:solidFill>
          <a:ln w="12700">
            <a:solidFill>
              <a:srgbClr val="B9B4AB"/>
            </a:solidFill>
            <a:prstDash val="dash"/>
          </a:ln>
        </p:spPr>
        <p:txBody>
          <a:bodyPr/>
          <a:lstStyle/>
          <a:p>
            <a:endParaRPr lang="en-US"/>
          </a:p>
        </p:txBody>
      </p:sp>
      <p:sp>
        <p:nvSpPr>
          <p:cNvPr id="29" name="Text 21"/>
          <p:cNvSpPr/>
          <p:nvPr/>
        </p:nvSpPr>
        <p:spPr>
          <a:xfrm>
            <a:off x="10121900" y="3848100"/>
            <a:ext cx="1143000" cy="452041"/>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F2226"/>
                </a:solidFill>
                <a:latin typeface="Rubik" pitchFamily="34" charset="0"/>
                <a:ea typeface="Rubik" pitchFamily="34" charset="-122"/>
                <a:cs typeface="Rubik" pitchFamily="34" charset="-120"/>
              </a:rPr>
              <a:t>SAP, Oracle, QA tools</a:t>
            </a:r>
            <a:endParaRPr lang="en-US" sz="1400" dirty="0"/>
          </a:p>
        </p:txBody>
      </p:sp>
      <p:sp>
        <p:nvSpPr>
          <p:cNvPr id="30" name="Text 22"/>
          <p:cNvSpPr/>
          <p:nvPr/>
        </p:nvSpPr>
        <p:spPr>
          <a:xfrm>
            <a:off x="10121900" y="4325541"/>
            <a:ext cx="1143000"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4F55"/>
                </a:solidFill>
                <a:latin typeface="IBM Plex Sans" pitchFamily="34" charset="0"/>
                <a:ea typeface="IBM Plex Sans" pitchFamily="34" charset="-122"/>
                <a:cs typeface="IBM Plex Sans" pitchFamily="34" charset="-120"/>
              </a:rPr>
              <a:t>Non-prod, read-only</a:t>
            </a:r>
            <a:endParaRPr lang="en-US" sz="1200" dirty="0"/>
          </a:p>
        </p:txBody>
      </p:sp>
      <p:sp>
        <p:nvSpPr>
          <p:cNvPr id="31" name="Text 23"/>
          <p:cNvSpPr/>
          <p:nvPr/>
        </p:nvSpPr>
        <p:spPr>
          <a:xfrm>
            <a:off x="812800" y="5270500"/>
            <a:ext cx="10566400" cy="508000"/>
          </a:xfrm>
          <a:prstGeom prst="roundRect">
            <a:avLst>
              <a:gd name="adj" fmla="val 20000"/>
            </a:avLst>
          </a:prstGeom>
          <a:solidFill>
            <a:srgbClr val="E9E6E0"/>
          </a:solidFill>
          <a:ln/>
        </p:spPr>
        <p:txBody>
          <a:bodyPr wrap="square" lIns="71842" tIns="71842" rIns="71842" bIns="71842" rtlCol="0" anchor="ctr">
            <a:normAutofit/>
          </a:bodyPr>
          <a:lstStyle/>
          <a:p>
            <a:pPr marL="0" indent="0" algn="ctr">
              <a:lnSpc>
                <a:spcPts val="1820"/>
              </a:lnSpc>
              <a:buNone/>
            </a:pPr>
            <a:r>
              <a:rPr lang="en-US" sz="1300" b="1" dirty="0">
                <a:solidFill>
                  <a:srgbClr val="3A3E43"/>
                </a:solidFill>
                <a:latin typeface="IBM Plex Sans" pitchFamily="34" charset="0"/>
                <a:ea typeface="IBM Plex Sans" pitchFamily="34" charset="-122"/>
                <a:cs typeface="IBM Plex Sans" pitchFamily="34" charset="-120"/>
              </a:rPr>
              <a:t>Platform:</a:t>
            </a:r>
            <a:r>
              <a:rPr lang="en-US" sz="1300" dirty="0">
                <a:solidFill>
                  <a:srgbClr val="3A3E43"/>
                </a:solidFill>
                <a:latin typeface="IBM Plex Sans" pitchFamily="34" charset="0"/>
                <a:ea typeface="IBM Plex Sans" pitchFamily="34" charset="-122"/>
                <a:cs typeface="IBM Plex Sans" pitchFamily="34" charset="-120"/>
              </a:rPr>
              <a:t> Key Vault · monitoring and tracing · audit logs · alerts · CI/CD dev → test → pilot</a:t>
            </a:r>
            <a:endParaRPr lang="en-US" sz="1300" dirty="0"/>
          </a:p>
        </p:txBody>
      </p:sp>
      <p:sp>
        <p:nvSpPr>
          <p:cNvPr id="32" name="Text 24"/>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076"/>
                </a:solidFill>
                <a:latin typeface="IBM Plex Sans" pitchFamily="34" charset="0"/>
                <a:ea typeface="IBM Plex Sans" pitchFamily="34" charset="-122"/>
                <a:cs typeface="IBM Plex Sans" pitchFamily="34" charset="-120"/>
              </a:rPr>
              <a:t>VOIS AI Assistant · Client update · Week 13 of 21</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00000"/>
                </a:solidFill>
                <a:latin typeface="IBM Plex Sans" pitchFamily="34" charset="0"/>
                <a:ea typeface="IBM Plex Sans" pitchFamily="34" charset="-122"/>
                <a:cs typeface="IBM Plex Sans" pitchFamily="34" charset="-120"/>
              </a:rPr>
              <a:t>02 · STATUS AT WEEK 13</a:t>
            </a:r>
            <a:endParaRPr lang="en-US" sz="1200" dirty="0"/>
          </a:p>
        </p:txBody>
      </p:sp>
      <p:sp>
        <p:nvSpPr>
          <p:cNvPr id="3" name="Text 1"/>
          <p:cNvSpPr>
            <a:spLocks noGrp="1"/>
          </p:cNvSpPr>
          <p:nvPr>
            <p:ph type="title"/>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F2226"/>
                </a:solidFill>
                <a:latin typeface="Rubik" pitchFamily="34" charset="0"/>
                <a:ea typeface="Rubik" pitchFamily="34" charset="-122"/>
                <a:cs typeface="Rubik" pitchFamily="34" charset="-120"/>
              </a:rPr>
              <a:t>Two gates passed; M3 is running one week late</a:t>
            </a:r>
            <a:endParaRPr lang="en-US" sz="3200" dirty="0"/>
          </a:p>
        </p:txBody>
      </p:sp>
      <p:sp>
        <p:nvSpPr>
          <p:cNvPr id="4" name="Shape 2"/>
          <p:cNvSpPr/>
          <p:nvPr/>
        </p:nvSpPr>
        <p:spPr>
          <a:xfrm>
            <a:off x="815975" y="1882676"/>
            <a:ext cx="1984970" cy="3956149"/>
          </a:xfrm>
          <a:prstGeom prst="roundRect">
            <a:avLst>
              <a:gd name="adj" fmla="val 4959"/>
            </a:avLst>
          </a:prstGeom>
          <a:solidFill>
            <a:srgbClr val="FBFAF8"/>
          </a:solidFill>
          <a:ln w="6350">
            <a:solidFill>
              <a:srgbClr val="DEDAD3"/>
            </a:solidFill>
            <a:prstDash val="solid"/>
          </a:ln>
        </p:spPr>
        <p:txBody>
          <a:bodyPr/>
          <a:lstStyle/>
          <a:p>
            <a:endParaRPr lang="en-US"/>
          </a:p>
        </p:txBody>
      </p:sp>
      <p:sp>
        <p:nvSpPr>
          <p:cNvPr id="5" name="Text 3"/>
          <p:cNvSpPr/>
          <p:nvPr/>
        </p:nvSpPr>
        <p:spPr>
          <a:xfrm>
            <a:off x="1022350" y="2089051"/>
            <a:ext cx="854075" cy="289520"/>
          </a:xfrm>
          <a:custGeom>
            <a:avLst/>
            <a:gdLst/>
            <a:ahLst/>
            <a:cxnLst/>
            <a:rect l="l" t="t" r="r" b="b"/>
            <a:pathLst>
              <a:path w="854075" h="289520">
                <a:moveTo>
                  <a:pt x="144760" y="0"/>
                </a:moveTo>
                <a:lnTo>
                  <a:pt x="709315" y="0"/>
                </a:lnTo>
                <a:arcTo wR="144760" hR="144760" stAng="16200000" swAng="5400000"/>
                <a:lnTo>
                  <a:pt x="854075" y="144760"/>
                </a:lnTo>
                <a:arcTo wR="144760" hR="144760" stAng="0" swAng="5400000"/>
                <a:lnTo>
                  <a:pt x="144760" y="289520"/>
                </a:lnTo>
                <a:arcTo wR="144760" hR="144760" stAng="5400000" swAng="5400000"/>
                <a:lnTo>
                  <a:pt x="0" y="144760"/>
                </a:lnTo>
                <a:arcTo wR="144760" hR="144760" stAng="10800000" swAng="5400000"/>
                <a:close/>
              </a:path>
            </a:pathLst>
          </a:custGeom>
          <a:solidFill>
            <a:srgbClr val="2E7D4F"/>
          </a:solidFill>
          <a:ln/>
        </p:spPr>
        <p:txBody>
          <a:bodyPr wrap="none" lIns="0" tIns="0" rIns="0" bIns="0" rtlCol="0" anchor="ctr">
            <a:normAutofit/>
          </a:bodyPr>
          <a:lstStyle/>
          <a:p>
            <a:pPr marL="0" indent="0" algn="ctr">
              <a:lnSpc>
                <a:spcPts val="1680"/>
              </a:lnSpc>
              <a:buNone/>
            </a:pPr>
            <a:r>
              <a:rPr lang="en-US" sz="1200" b="1" dirty="0">
                <a:solidFill>
                  <a:srgbClr val="FFFFFF"/>
                </a:solidFill>
                <a:latin typeface="IBM Plex Sans" pitchFamily="34" charset="0"/>
                <a:ea typeface="IBM Plex Sans" pitchFamily="34" charset="-122"/>
                <a:cs typeface="IBM Plex Sans" pitchFamily="34" charset="-120"/>
              </a:rPr>
              <a:t>Achieved</a:t>
            </a:r>
            <a:endParaRPr lang="en-US" sz="1200" dirty="0"/>
          </a:p>
        </p:txBody>
      </p:sp>
      <p:sp>
        <p:nvSpPr>
          <p:cNvPr id="6" name="Text 4"/>
          <p:cNvSpPr/>
          <p:nvPr/>
        </p:nvSpPr>
        <p:spPr>
          <a:xfrm>
            <a:off x="1022350" y="2480171"/>
            <a:ext cx="1623020" cy="756741"/>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2226"/>
                </a:solidFill>
                <a:latin typeface="Rubik" pitchFamily="34" charset="0"/>
                <a:ea typeface="Rubik" pitchFamily="34" charset="-122"/>
                <a:cs typeface="Rubik" pitchFamily="34" charset="-120"/>
              </a:rPr>
              <a:t>M1 Architecture approved</a:t>
            </a:r>
            <a:endParaRPr lang="en-US" sz="1600" dirty="0"/>
          </a:p>
        </p:txBody>
      </p:sp>
      <p:sp>
        <p:nvSpPr>
          <p:cNvPr id="7" name="Text 5"/>
          <p:cNvSpPr/>
          <p:nvPr/>
        </p:nvSpPr>
        <p:spPr>
          <a:xfrm>
            <a:off x="1022350" y="3313113"/>
            <a:ext cx="162302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F55"/>
                </a:solidFill>
                <a:latin typeface="IBM Plex Sans" pitchFamily="34" charset="0"/>
                <a:ea typeface="IBM Plex Sans" pitchFamily="34" charset="-122"/>
                <a:cs typeface="IBM Plex Sans" pitchFamily="34" charset="-120"/>
              </a:rPr>
              <a:t>Weeks 1–4</a:t>
            </a:r>
            <a:endParaRPr lang="en-US" sz="1200" dirty="0"/>
          </a:p>
        </p:txBody>
      </p:sp>
      <p:sp>
        <p:nvSpPr>
          <p:cNvPr id="8" name="Text 6"/>
          <p:cNvSpPr/>
          <p:nvPr/>
        </p:nvSpPr>
        <p:spPr>
          <a:xfrm>
            <a:off x="1022350" y="3628033"/>
            <a:ext cx="162302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F55"/>
                </a:solidFill>
                <a:latin typeface="IBM Plex Sans" pitchFamily="34" charset="0"/>
                <a:ea typeface="IBM Plex Sans" pitchFamily="34" charset="-122"/>
                <a:cs typeface="IBM Plex Sans" pitchFamily="34" charset="-120"/>
              </a:rPr>
              <a:t>Signed off 16 Nov</a:t>
            </a:r>
            <a:endParaRPr lang="en-US" sz="1200" dirty="0"/>
          </a:p>
        </p:txBody>
      </p:sp>
      <p:sp>
        <p:nvSpPr>
          <p:cNvPr id="9" name="Shape 7"/>
          <p:cNvSpPr/>
          <p:nvPr/>
        </p:nvSpPr>
        <p:spPr>
          <a:xfrm>
            <a:off x="2959695" y="1882676"/>
            <a:ext cx="1985070" cy="3956149"/>
          </a:xfrm>
          <a:prstGeom prst="roundRect">
            <a:avLst>
              <a:gd name="adj" fmla="val 4958"/>
            </a:avLst>
          </a:prstGeom>
          <a:solidFill>
            <a:srgbClr val="FBFAF8"/>
          </a:solidFill>
          <a:ln w="6350">
            <a:solidFill>
              <a:srgbClr val="DEDAD3"/>
            </a:solidFill>
            <a:prstDash val="solid"/>
          </a:ln>
        </p:spPr>
        <p:txBody>
          <a:bodyPr/>
          <a:lstStyle/>
          <a:p>
            <a:endParaRPr lang="en-US"/>
          </a:p>
        </p:txBody>
      </p:sp>
      <p:sp>
        <p:nvSpPr>
          <p:cNvPr id="10" name="Text 8"/>
          <p:cNvSpPr/>
          <p:nvPr/>
        </p:nvSpPr>
        <p:spPr>
          <a:xfrm>
            <a:off x="3166070" y="2089051"/>
            <a:ext cx="854075" cy="289520"/>
          </a:xfrm>
          <a:custGeom>
            <a:avLst/>
            <a:gdLst/>
            <a:ahLst/>
            <a:cxnLst/>
            <a:rect l="l" t="t" r="r" b="b"/>
            <a:pathLst>
              <a:path w="854075" h="289520">
                <a:moveTo>
                  <a:pt x="144760" y="0"/>
                </a:moveTo>
                <a:lnTo>
                  <a:pt x="709315" y="0"/>
                </a:lnTo>
                <a:arcTo wR="144760" hR="144760" stAng="16200000" swAng="5400000"/>
                <a:lnTo>
                  <a:pt x="854075" y="144760"/>
                </a:lnTo>
                <a:arcTo wR="144760" hR="144760" stAng="0" swAng="5400000"/>
                <a:lnTo>
                  <a:pt x="144760" y="289520"/>
                </a:lnTo>
                <a:arcTo wR="144760" hR="144760" stAng="5400000" swAng="5400000"/>
                <a:lnTo>
                  <a:pt x="0" y="144760"/>
                </a:lnTo>
                <a:arcTo wR="144760" hR="144760" stAng="10800000" swAng="5400000"/>
                <a:close/>
              </a:path>
            </a:pathLst>
          </a:custGeom>
          <a:solidFill>
            <a:srgbClr val="2E7D4F"/>
          </a:solidFill>
          <a:ln/>
        </p:spPr>
        <p:txBody>
          <a:bodyPr wrap="none" lIns="0" tIns="0" rIns="0" bIns="0" rtlCol="0" anchor="ctr">
            <a:normAutofit/>
          </a:bodyPr>
          <a:lstStyle/>
          <a:p>
            <a:pPr marL="0" indent="0" algn="ctr">
              <a:lnSpc>
                <a:spcPts val="1680"/>
              </a:lnSpc>
              <a:buNone/>
            </a:pPr>
            <a:r>
              <a:rPr lang="en-US" sz="1200" b="1" dirty="0">
                <a:solidFill>
                  <a:srgbClr val="FFFFFF"/>
                </a:solidFill>
                <a:latin typeface="IBM Plex Sans" pitchFamily="34" charset="0"/>
                <a:ea typeface="IBM Plex Sans" pitchFamily="34" charset="-122"/>
                <a:cs typeface="IBM Plex Sans" pitchFamily="34" charset="-120"/>
              </a:rPr>
              <a:t>Achieved</a:t>
            </a:r>
            <a:endParaRPr lang="en-US" sz="1200" dirty="0"/>
          </a:p>
        </p:txBody>
      </p:sp>
      <p:sp>
        <p:nvSpPr>
          <p:cNvPr id="11" name="Text 9"/>
          <p:cNvSpPr/>
          <p:nvPr/>
        </p:nvSpPr>
        <p:spPr>
          <a:xfrm>
            <a:off x="3166070" y="2480171"/>
            <a:ext cx="1623120" cy="512961"/>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2226"/>
                </a:solidFill>
                <a:latin typeface="Rubik" pitchFamily="34" charset="0"/>
                <a:ea typeface="Rubik" pitchFamily="34" charset="-122"/>
                <a:cs typeface="Rubik" pitchFamily="34" charset="-120"/>
              </a:rPr>
              <a:t>M2 AI assistant MVP</a:t>
            </a:r>
            <a:endParaRPr lang="en-US" sz="1600" dirty="0"/>
          </a:p>
        </p:txBody>
      </p:sp>
      <p:sp>
        <p:nvSpPr>
          <p:cNvPr id="12" name="Text 10"/>
          <p:cNvSpPr/>
          <p:nvPr/>
        </p:nvSpPr>
        <p:spPr>
          <a:xfrm>
            <a:off x="3166070" y="3069332"/>
            <a:ext cx="162312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F55"/>
                </a:solidFill>
                <a:latin typeface="IBM Plex Sans" pitchFamily="34" charset="0"/>
                <a:ea typeface="IBM Plex Sans" pitchFamily="34" charset="-122"/>
                <a:cs typeface="IBM Plex Sans" pitchFamily="34" charset="-120"/>
              </a:rPr>
              <a:t>Weeks 5–8</a:t>
            </a:r>
            <a:endParaRPr lang="en-US" sz="1200" dirty="0"/>
          </a:p>
        </p:txBody>
      </p:sp>
      <p:sp>
        <p:nvSpPr>
          <p:cNvPr id="13" name="Text 11"/>
          <p:cNvSpPr/>
          <p:nvPr/>
        </p:nvSpPr>
        <p:spPr>
          <a:xfrm>
            <a:off x="3166070" y="3384252"/>
            <a:ext cx="162312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F55"/>
                </a:solidFill>
                <a:latin typeface="IBM Plex Sans" pitchFamily="34" charset="0"/>
                <a:ea typeface="IBM Plex Sans" pitchFamily="34" charset="-122"/>
                <a:cs typeface="IBM Plex Sans" pitchFamily="34" charset="-120"/>
              </a:rPr>
              <a:t>Delivered 14 Dec, 1 day early</a:t>
            </a:r>
            <a:endParaRPr lang="en-US" sz="1200" dirty="0"/>
          </a:p>
        </p:txBody>
      </p:sp>
      <p:sp>
        <p:nvSpPr>
          <p:cNvPr id="14" name="Shape 12"/>
          <p:cNvSpPr/>
          <p:nvPr/>
        </p:nvSpPr>
        <p:spPr>
          <a:xfrm>
            <a:off x="5103515" y="1882676"/>
            <a:ext cx="1984970" cy="3956149"/>
          </a:xfrm>
          <a:prstGeom prst="roundRect">
            <a:avLst>
              <a:gd name="adj" fmla="val 4959"/>
            </a:avLst>
          </a:prstGeom>
          <a:solidFill>
            <a:srgbClr val="FDF3E6"/>
          </a:solidFill>
          <a:ln w="6350">
            <a:solidFill>
              <a:srgbClr val="E8CFA8"/>
            </a:solidFill>
            <a:prstDash val="solid"/>
          </a:ln>
        </p:spPr>
        <p:txBody>
          <a:bodyPr/>
          <a:lstStyle/>
          <a:p>
            <a:endParaRPr lang="en-US"/>
          </a:p>
        </p:txBody>
      </p:sp>
      <p:sp>
        <p:nvSpPr>
          <p:cNvPr id="15" name="Text 13"/>
          <p:cNvSpPr/>
          <p:nvPr/>
        </p:nvSpPr>
        <p:spPr>
          <a:xfrm>
            <a:off x="5309890" y="2089051"/>
            <a:ext cx="659904" cy="289520"/>
          </a:xfrm>
          <a:custGeom>
            <a:avLst/>
            <a:gdLst/>
            <a:ahLst/>
            <a:cxnLst/>
            <a:rect l="l" t="t" r="r" b="b"/>
            <a:pathLst>
              <a:path w="659904" h="289520">
                <a:moveTo>
                  <a:pt x="144760" y="0"/>
                </a:moveTo>
                <a:lnTo>
                  <a:pt x="515144" y="0"/>
                </a:lnTo>
                <a:arcTo wR="144760" hR="144760" stAng="16200000" swAng="5400000"/>
                <a:lnTo>
                  <a:pt x="659904" y="144760"/>
                </a:lnTo>
                <a:arcTo wR="144760" hR="144760" stAng="0" swAng="5400000"/>
                <a:lnTo>
                  <a:pt x="144760" y="289520"/>
                </a:lnTo>
                <a:arcTo wR="144760" hR="144760" stAng="5400000" swAng="5400000"/>
                <a:lnTo>
                  <a:pt x="0" y="144760"/>
                </a:lnTo>
                <a:arcTo wR="144760" hR="144760" stAng="10800000" swAng="5400000"/>
                <a:close/>
              </a:path>
            </a:pathLst>
          </a:custGeom>
          <a:solidFill>
            <a:srgbClr val="9A5205"/>
          </a:solidFill>
          <a:ln/>
        </p:spPr>
        <p:txBody>
          <a:bodyPr wrap="none" lIns="0" tIns="0" rIns="0" bIns="0" rtlCol="0" anchor="ctr">
            <a:normAutofit/>
          </a:bodyPr>
          <a:lstStyle/>
          <a:p>
            <a:pPr marL="0" indent="0" algn="ctr">
              <a:lnSpc>
                <a:spcPts val="1680"/>
              </a:lnSpc>
              <a:buNone/>
            </a:pPr>
            <a:r>
              <a:rPr lang="en-US" sz="1200" b="1" dirty="0">
                <a:solidFill>
                  <a:srgbClr val="FFFFFF"/>
                </a:solidFill>
                <a:latin typeface="IBM Plex Sans" pitchFamily="34" charset="0"/>
                <a:ea typeface="IBM Plex Sans" pitchFamily="34" charset="-122"/>
                <a:cs typeface="IBM Plex Sans" pitchFamily="34" charset="-120"/>
              </a:rPr>
              <a:t>At risk</a:t>
            </a:r>
            <a:endParaRPr lang="en-US" sz="1200" dirty="0"/>
          </a:p>
        </p:txBody>
      </p:sp>
      <p:sp>
        <p:nvSpPr>
          <p:cNvPr id="16" name="Text 14"/>
          <p:cNvSpPr/>
          <p:nvPr/>
        </p:nvSpPr>
        <p:spPr>
          <a:xfrm>
            <a:off x="5309890" y="2480171"/>
            <a:ext cx="1623020" cy="512961"/>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2226"/>
                </a:solidFill>
                <a:latin typeface="Rubik" pitchFamily="34" charset="0"/>
                <a:ea typeface="Rubik" pitchFamily="34" charset="-122"/>
                <a:cs typeface="Rubik" pitchFamily="34" charset="-120"/>
              </a:rPr>
              <a:t>M3 Application integrations</a:t>
            </a:r>
            <a:endParaRPr lang="en-US" sz="1600" dirty="0"/>
          </a:p>
        </p:txBody>
      </p:sp>
      <p:sp>
        <p:nvSpPr>
          <p:cNvPr id="17" name="Text 15"/>
          <p:cNvSpPr/>
          <p:nvPr/>
        </p:nvSpPr>
        <p:spPr>
          <a:xfrm>
            <a:off x="5309890" y="3069332"/>
            <a:ext cx="162302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F55"/>
                </a:solidFill>
                <a:latin typeface="IBM Plex Sans" pitchFamily="34" charset="0"/>
                <a:ea typeface="IBM Plex Sans" pitchFamily="34" charset="-122"/>
                <a:cs typeface="IBM Plex Sans" pitchFamily="34" charset="-120"/>
              </a:rPr>
              <a:t>Weeks 9–12</a:t>
            </a:r>
            <a:endParaRPr lang="en-US" sz="1200" dirty="0"/>
          </a:p>
        </p:txBody>
      </p:sp>
      <p:sp>
        <p:nvSpPr>
          <p:cNvPr id="18" name="Text 16"/>
          <p:cNvSpPr/>
          <p:nvPr/>
        </p:nvSpPr>
        <p:spPr>
          <a:xfrm>
            <a:off x="5309890" y="3384252"/>
            <a:ext cx="162302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F55"/>
                </a:solidFill>
                <a:latin typeface="IBM Plex Sans" pitchFamily="34" charset="0"/>
                <a:ea typeface="IBM Plex Sans" pitchFamily="34" charset="-122"/>
                <a:cs typeface="IBM Plex Sans" pitchFamily="34" charset="-120"/>
              </a:rPr>
              <a:t>Baseline 14 Jan · forecast 22 Jan</a:t>
            </a:r>
            <a:endParaRPr lang="en-US" sz="1200" dirty="0"/>
          </a:p>
        </p:txBody>
      </p:sp>
      <p:sp>
        <p:nvSpPr>
          <p:cNvPr id="19" name="Shape 17"/>
          <p:cNvSpPr/>
          <p:nvPr/>
        </p:nvSpPr>
        <p:spPr>
          <a:xfrm>
            <a:off x="7247235" y="1882676"/>
            <a:ext cx="1985070" cy="3956149"/>
          </a:xfrm>
          <a:prstGeom prst="roundRect">
            <a:avLst>
              <a:gd name="adj" fmla="val 4958"/>
            </a:avLst>
          </a:prstGeom>
          <a:solidFill>
            <a:srgbClr val="FBFAF8"/>
          </a:solidFill>
          <a:ln w="6350">
            <a:solidFill>
              <a:srgbClr val="DEDAD3"/>
            </a:solidFill>
            <a:prstDash val="solid"/>
          </a:ln>
        </p:spPr>
        <p:txBody>
          <a:bodyPr/>
          <a:lstStyle/>
          <a:p>
            <a:endParaRPr lang="en-US"/>
          </a:p>
        </p:txBody>
      </p:sp>
      <p:sp>
        <p:nvSpPr>
          <p:cNvPr id="20" name="Text 18"/>
          <p:cNvSpPr/>
          <p:nvPr/>
        </p:nvSpPr>
        <p:spPr>
          <a:xfrm>
            <a:off x="7453610" y="2089051"/>
            <a:ext cx="1007963" cy="289520"/>
          </a:xfrm>
          <a:custGeom>
            <a:avLst/>
            <a:gdLst/>
            <a:ahLst/>
            <a:cxnLst/>
            <a:rect l="l" t="t" r="r" b="b"/>
            <a:pathLst>
              <a:path w="1007963" h="289520">
                <a:moveTo>
                  <a:pt x="144760" y="0"/>
                </a:moveTo>
                <a:lnTo>
                  <a:pt x="863203" y="0"/>
                </a:lnTo>
                <a:arcTo wR="144760" hR="144760" stAng="16200000" swAng="5400000"/>
                <a:lnTo>
                  <a:pt x="1007963" y="144760"/>
                </a:lnTo>
                <a:arcTo wR="144760" hR="144760" stAng="0" swAng="5400000"/>
                <a:lnTo>
                  <a:pt x="144760" y="289520"/>
                </a:lnTo>
                <a:arcTo wR="144760" hR="144760" stAng="5400000" swAng="5400000"/>
                <a:lnTo>
                  <a:pt x="0" y="144760"/>
                </a:lnTo>
                <a:arcTo wR="144760" hR="144760" stAng="10800000" swAng="5400000"/>
                <a:close/>
              </a:path>
            </a:pathLst>
          </a:custGeom>
          <a:solidFill>
            <a:srgbClr val="E9E6E0"/>
          </a:solidFill>
          <a:ln/>
        </p:spPr>
        <p:txBody>
          <a:bodyPr wrap="none" lIns="0" tIns="0" rIns="0" bIns="0" rtlCol="0" anchor="ctr">
            <a:normAutofit/>
          </a:bodyPr>
          <a:lstStyle/>
          <a:p>
            <a:pPr marL="0" indent="0" algn="ctr">
              <a:lnSpc>
                <a:spcPts val="1680"/>
              </a:lnSpc>
              <a:buNone/>
            </a:pPr>
            <a:r>
              <a:rPr lang="en-US" sz="1200" b="1" dirty="0">
                <a:solidFill>
                  <a:srgbClr val="3A3E43"/>
                </a:solidFill>
                <a:latin typeface="IBM Plex Sans" pitchFamily="34" charset="0"/>
                <a:ea typeface="IBM Plex Sans" pitchFamily="34" charset="-122"/>
                <a:cs typeface="IBM Plex Sans" pitchFamily="34" charset="-120"/>
              </a:rPr>
              <a:t>In progress</a:t>
            </a:r>
            <a:endParaRPr lang="en-US" sz="1200" dirty="0"/>
          </a:p>
        </p:txBody>
      </p:sp>
      <p:sp>
        <p:nvSpPr>
          <p:cNvPr id="21" name="Text 19"/>
          <p:cNvSpPr/>
          <p:nvPr/>
        </p:nvSpPr>
        <p:spPr>
          <a:xfrm>
            <a:off x="7453610" y="2480171"/>
            <a:ext cx="1623120" cy="512961"/>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2226"/>
                </a:solidFill>
                <a:latin typeface="Rubik" pitchFamily="34" charset="0"/>
                <a:ea typeface="Rubik" pitchFamily="34" charset="-122"/>
                <a:cs typeface="Rubik" pitchFamily="34" charset="-120"/>
              </a:rPr>
              <a:t>M4 Release candidate</a:t>
            </a:r>
            <a:endParaRPr lang="en-US" sz="1600" dirty="0"/>
          </a:p>
        </p:txBody>
      </p:sp>
      <p:sp>
        <p:nvSpPr>
          <p:cNvPr id="22" name="Text 20"/>
          <p:cNvSpPr/>
          <p:nvPr/>
        </p:nvSpPr>
        <p:spPr>
          <a:xfrm>
            <a:off x="7453610" y="3069332"/>
            <a:ext cx="162312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F55"/>
                </a:solidFill>
                <a:latin typeface="IBM Plex Sans" pitchFamily="34" charset="0"/>
                <a:ea typeface="IBM Plex Sans" pitchFamily="34" charset="-122"/>
                <a:cs typeface="IBM Plex Sans" pitchFamily="34" charset="-120"/>
              </a:rPr>
              <a:t>Weeks 13–16</a:t>
            </a:r>
            <a:endParaRPr lang="en-US" sz="1200" dirty="0"/>
          </a:p>
        </p:txBody>
      </p:sp>
      <p:sp>
        <p:nvSpPr>
          <p:cNvPr id="23" name="Text 21"/>
          <p:cNvSpPr/>
          <p:nvPr/>
        </p:nvSpPr>
        <p:spPr>
          <a:xfrm>
            <a:off x="7453610" y="3384252"/>
            <a:ext cx="162312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F55"/>
                </a:solidFill>
                <a:latin typeface="IBM Plex Sans" pitchFamily="34" charset="0"/>
                <a:ea typeface="IBM Plex Sans" pitchFamily="34" charset="-122"/>
                <a:cs typeface="IBM Plex Sans" pitchFamily="34" charset="-120"/>
              </a:rPr>
              <a:t>Baseline 12 Feb · forecast 16 Feb</a:t>
            </a:r>
            <a:endParaRPr lang="en-US" sz="1200" dirty="0"/>
          </a:p>
        </p:txBody>
      </p:sp>
      <p:sp>
        <p:nvSpPr>
          <p:cNvPr id="24" name="Shape 22"/>
          <p:cNvSpPr/>
          <p:nvPr/>
        </p:nvSpPr>
        <p:spPr>
          <a:xfrm>
            <a:off x="9391055" y="1882676"/>
            <a:ext cx="1984970" cy="3956149"/>
          </a:xfrm>
          <a:prstGeom prst="roundRect">
            <a:avLst>
              <a:gd name="adj" fmla="val 4959"/>
            </a:avLst>
          </a:prstGeom>
          <a:solidFill>
            <a:srgbClr val="FBFAF8"/>
          </a:solidFill>
          <a:ln w="6350">
            <a:solidFill>
              <a:srgbClr val="DEDAD3"/>
            </a:solidFill>
            <a:prstDash val="solid"/>
          </a:ln>
        </p:spPr>
        <p:txBody>
          <a:bodyPr/>
          <a:lstStyle/>
          <a:p>
            <a:endParaRPr lang="en-US"/>
          </a:p>
        </p:txBody>
      </p:sp>
      <p:sp>
        <p:nvSpPr>
          <p:cNvPr id="25" name="Text 23"/>
          <p:cNvSpPr/>
          <p:nvPr/>
        </p:nvSpPr>
        <p:spPr>
          <a:xfrm>
            <a:off x="9597430" y="2089051"/>
            <a:ext cx="786606" cy="289520"/>
          </a:xfrm>
          <a:custGeom>
            <a:avLst/>
            <a:gdLst/>
            <a:ahLst/>
            <a:cxnLst/>
            <a:rect l="l" t="t" r="r" b="b"/>
            <a:pathLst>
              <a:path w="786606" h="289520">
                <a:moveTo>
                  <a:pt x="144760" y="0"/>
                </a:moveTo>
                <a:lnTo>
                  <a:pt x="641846" y="0"/>
                </a:lnTo>
                <a:arcTo wR="144760" hR="144760" stAng="16200000" swAng="5400000"/>
                <a:lnTo>
                  <a:pt x="786606" y="144760"/>
                </a:lnTo>
                <a:arcTo wR="144760" hR="144760" stAng="0" swAng="5400000"/>
                <a:lnTo>
                  <a:pt x="144760" y="289520"/>
                </a:lnTo>
                <a:arcTo wR="144760" hR="144760" stAng="5400000" swAng="5400000"/>
                <a:lnTo>
                  <a:pt x="0" y="144760"/>
                </a:lnTo>
                <a:arcTo wR="144760" hR="144760" stAng="10800000" swAng="5400000"/>
                <a:close/>
              </a:path>
            </a:pathLst>
          </a:custGeom>
          <a:solidFill>
            <a:srgbClr val="E9E6E0"/>
          </a:solidFill>
          <a:ln/>
        </p:spPr>
        <p:txBody>
          <a:bodyPr wrap="none" lIns="0" tIns="0" rIns="0" bIns="0" rtlCol="0" anchor="ctr">
            <a:normAutofit/>
          </a:bodyPr>
          <a:lstStyle/>
          <a:p>
            <a:pPr marL="0" indent="0" algn="ctr">
              <a:lnSpc>
                <a:spcPts val="1680"/>
              </a:lnSpc>
              <a:buNone/>
            </a:pPr>
            <a:r>
              <a:rPr lang="en-US" sz="1200" b="1" dirty="0">
                <a:solidFill>
                  <a:srgbClr val="3A3E43"/>
                </a:solidFill>
                <a:latin typeface="IBM Plex Sans" pitchFamily="34" charset="0"/>
                <a:ea typeface="IBM Plex Sans" pitchFamily="34" charset="-122"/>
                <a:cs typeface="IBM Plex Sans" pitchFamily="34" charset="-120"/>
              </a:rPr>
              <a:t>Planned</a:t>
            </a:r>
            <a:endParaRPr lang="en-US" sz="1200" dirty="0"/>
          </a:p>
        </p:txBody>
      </p:sp>
      <p:sp>
        <p:nvSpPr>
          <p:cNvPr id="26" name="Text 24"/>
          <p:cNvSpPr/>
          <p:nvPr/>
        </p:nvSpPr>
        <p:spPr>
          <a:xfrm>
            <a:off x="9597430" y="2480171"/>
            <a:ext cx="1623020" cy="512961"/>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2226"/>
                </a:solidFill>
                <a:latin typeface="Rubik" pitchFamily="34" charset="0"/>
                <a:ea typeface="Rubik" pitchFamily="34" charset="-122"/>
                <a:cs typeface="Rubik" pitchFamily="34" charset="-120"/>
              </a:rPr>
              <a:t>M5 Pilot accepted</a:t>
            </a:r>
            <a:endParaRPr lang="en-US" sz="1600" dirty="0"/>
          </a:p>
        </p:txBody>
      </p:sp>
      <p:sp>
        <p:nvSpPr>
          <p:cNvPr id="27" name="Text 25"/>
          <p:cNvSpPr/>
          <p:nvPr/>
        </p:nvSpPr>
        <p:spPr>
          <a:xfrm>
            <a:off x="9597430" y="3069332"/>
            <a:ext cx="162302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F55"/>
                </a:solidFill>
                <a:latin typeface="IBM Plex Sans" pitchFamily="34" charset="0"/>
                <a:ea typeface="IBM Plex Sans" pitchFamily="34" charset="-122"/>
                <a:cs typeface="IBM Plex Sans" pitchFamily="34" charset="-120"/>
              </a:rPr>
              <a:t>Weeks 17–21</a:t>
            </a:r>
            <a:endParaRPr lang="en-US" sz="1200" dirty="0"/>
          </a:p>
        </p:txBody>
      </p:sp>
      <p:sp>
        <p:nvSpPr>
          <p:cNvPr id="28" name="Text 26"/>
          <p:cNvSpPr/>
          <p:nvPr/>
        </p:nvSpPr>
        <p:spPr>
          <a:xfrm>
            <a:off x="9597430" y="3384252"/>
            <a:ext cx="162302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F55"/>
                </a:solidFill>
                <a:latin typeface="IBM Plex Sans" pitchFamily="34" charset="0"/>
                <a:ea typeface="IBM Plex Sans" pitchFamily="34" charset="-122"/>
                <a:cs typeface="IBM Plex Sans" pitchFamily="34" charset="-120"/>
              </a:rPr>
              <a:t>Still on track for 12 Mar</a:t>
            </a:r>
            <a:endParaRPr lang="en-US" sz="1200" dirty="0"/>
          </a:p>
        </p:txBody>
      </p:sp>
      <p:sp>
        <p:nvSpPr>
          <p:cNvPr id="29" name="Text 27"/>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076"/>
                </a:solidFill>
                <a:latin typeface="IBM Plex Sans" pitchFamily="34" charset="0"/>
                <a:ea typeface="IBM Plex Sans" pitchFamily="34" charset="-122"/>
                <a:cs typeface="IBM Plex Sans" pitchFamily="34" charset="-120"/>
              </a:rPr>
              <a:t>VOIS AI Assistant · Client update · Week 13 of 21</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F222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F6B6B"/>
                </a:solidFill>
                <a:latin typeface="IBM Plex Sans" pitchFamily="34" charset="0"/>
                <a:ea typeface="IBM Plex Sans" pitchFamily="34" charset="-122"/>
                <a:cs typeface="IBM Plex Sans" pitchFamily="34" charset="-120"/>
              </a:rPr>
              <a:t>02 · STATUS AT WEEK 13 · AS AT 15 JAN 2027</a:t>
            </a:r>
            <a:endParaRPr lang="en-US" sz="1200" dirty="0"/>
          </a:p>
        </p:txBody>
      </p:sp>
      <p:sp>
        <p:nvSpPr>
          <p:cNvPr id="3" name="Text 1"/>
          <p:cNvSpPr>
            <a:spLocks noGrp="1"/>
          </p:cNvSpPr>
          <p:nvPr>
            <p:ph type="title"/>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5F3EF"/>
                </a:solidFill>
                <a:latin typeface="Rubik" pitchFamily="34" charset="0"/>
                <a:ea typeface="Rubik" pitchFamily="34" charset="-122"/>
                <a:cs typeface="Rubik" pitchFamily="34" charset="-120"/>
              </a:rPr>
              <a:t>Overall AMBER: slightly behind, slightly over cost</a:t>
            </a:r>
            <a:endParaRPr lang="en-US" sz="3200" dirty="0"/>
          </a:p>
        </p:txBody>
      </p:sp>
      <p:sp>
        <p:nvSpPr>
          <p:cNvPr id="4" name="Shape 2"/>
          <p:cNvSpPr/>
          <p:nvPr/>
        </p:nvSpPr>
        <p:spPr>
          <a:xfrm>
            <a:off x="812800" y="1930301"/>
            <a:ext cx="3386634" cy="1417241"/>
          </a:xfrm>
          <a:prstGeom prst="roundRect">
            <a:avLst>
              <a:gd name="adj" fmla="val 7169"/>
            </a:avLst>
          </a:prstGeom>
          <a:solidFill>
            <a:srgbClr val="2B2F34"/>
          </a:solidFill>
          <a:ln/>
        </p:spPr>
        <p:txBody>
          <a:bodyPr/>
          <a:lstStyle/>
          <a:p>
            <a:endParaRPr lang="en-US"/>
          </a:p>
        </p:txBody>
      </p:sp>
      <p:sp>
        <p:nvSpPr>
          <p:cNvPr id="5" name="Text 3"/>
          <p:cNvSpPr/>
          <p:nvPr/>
        </p:nvSpPr>
        <p:spPr>
          <a:xfrm>
            <a:off x="1066800" y="2184301"/>
            <a:ext cx="2964993"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F5F3EF"/>
                </a:solidFill>
                <a:latin typeface="Rubik" pitchFamily="34" charset="0"/>
                <a:ea typeface="Rubik" pitchFamily="34" charset="-122"/>
                <a:cs typeface="Rubik" pitchFamily="34" charset="-120"/>
              </a:rPr>
              <a:t>53%</a:t>
            </a:r>
            <a:endParaRPr lang="en-US" sz="4800" dirty="0"/>
          </a:p>
        </p:txBody>
      </p:sp>
      <p:sp>
        <p:nvSpPr>
          <p:cNvPr id="6" name="Text 4"/>
          <p:cNvSpPr/>
          <p:nvPr/>
        </p:nvSpPr>
        <p:spPr>
          <a:xfrm>
            <a:off x="1066800" y="2844701"/>
            <a:ext cx="2964993"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CDD2"/>
                </a:solidFill>
                <a:latin typeface="IBM Plex Sans" pitchFamily="34" charset="0"/>
                <a:ea typeface="IBM Plex Sans" pitchFamily="34" charset="-122"/>
                <a:cs typeface="IBM Plex Sans" pitchFamily="34" charset="-120"/>
              </a:rPr>
              <a:t>complete vs 57% planned</a:t>
            </a:r>
            <a:endParaRPr lang="en-US" sz="1400" dirty="0"/>
          </a:p>
        </p:txBody>
      </p:sp>
      <p:sp>
        <p:nvSpPr>
          <p:cNvPr id="7" name="Shape 5"/>
          <p:cNvSpPr/>
          <p:nvPr/>
        </p:nvSpPr>
        <p:spPr>
          <a:xfrm>
            <a:off x="4402634" y="1930301"/>
            <a:ext cx="3386634" cy="1417241"/>
          </a:xfrm>
          <a:prstGeom prst="roundRect">
            <a:avLst>
              <a:gd name="adj" fmla="val 7169"/>
            </a:avLst>
          </a:prstGeom>
          <a:solidFill>
            <a:srgbClr val="2B2F34"/>
          </a:solidFill>
          <a:ln/>
        </p:spPr>
        <p:txBody>
          <a:bodyPr/>
          <a:lstStyle/>
          <a:p>
            <a:endParaRPr lang="en-US"/>
          </a:p>
        </p:txBody>
      </p:sp>
      <p:sp>
        <p:nvSpPr>
          <p:cNvPr id="8" name="Text 6"/>
          <p:cNvSpPr/>
          <p:nvPr/>
        </p:nvSpPr>
        <p:spPr>
          <a:xfrm>
            <a:off x="4656634" y="2184301"/>
            <a:ext cx="2964993"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F5B041"/>
                </a:solidFill>
                <a:latin typeface="Rubik" pitchFamily="34" charset="0"/>
                <a:ea typeface="Rubik" pitchFamily="34" charset="-122"/>
                <a:cs typeface="Rubik" pitchFamily="34" charset="-120"/>
              </a:rPr>
              <a:t>0.94</a:t>
            </a:r>
            <a:endParaRPr lang="en-US" sz="4800" dirty="0"/>
          </a:p>
        </p:txBody>
      </p:sp>
      <p:sp>
        <p:nvSpPr>
          <p:cNvPr id="9" name="Text 7"/>
          <p:cNvSpPr/>
          <p:nvPr/>
        </p:nvSpPr>
        <p:spPr>
          <a:xfrm>
            <a:off x="4656634" y="2844701"/>
            <a:ext cx="2964993"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CDD2"/>
                </a:solidFill>
                <a:latin typeface="IBM Plex Sans" pitchFamily="34" charset="0"/>
                <a:ea typeface="IBM Plex Sans" pitchFamily="34" charset="-122"/>
                <a:cs typeface="IBM Plex Sans" pitchFamily="34" charset="-120"/>
              </a:rPr>
              <a:t>SPI · schedule slightly behind</a:t>
            </a:r>
            <a:endParaRPr lang="en-US" sz="1400" dirty="0"/>
          </a:p>
        </p:txBody>
      </p:sp>
      <p:sp>
        <p:nvSpPr>
          <p:cNvPr id="10" name="Shape 8"/>
          <p:cNvSpPr/>
          <p:nvPr/>
        </p:nvSpPr>
        <p:spPr>
          <a:xfrm>
            <a:off x="7992467" y="1930301"/>
            <a:ext cx="3386634" cy="1417241"/>
          </a:xfrm>
          <a:prstGeom prst="roundRect">
            <a:avLst>
              <a:gd name="adj" fmla="val 7169"/>
            </a:avLst>
          </a:prstGeom>
          <a:solidFill>
            <a:srgbClr val="2B2F34"/>
          </a:solidFill>
          <a:ln/>
        </p:spPr>
        <p:txBody>
          <a:bodyPr/>
          <a:lstStyle/>
          <a:p>
            <a:endParaRPr lang="en-US"/>
          </a:p>
        </p:txBody>
      </p:sp>
      <p:sp>
        <p:nvSpPr>
          <p:cNvPr id="11" name="Text 9"/>
          <p:cNvSpPr/>
          <p:nvPr/>
        </p:nvSpPr>
        <p:spPr>
          <a:xfrm>
            <a:off x="8246467" y="2184301"/>
            <a:ext cx="2964993"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F5B041"/>
                </a:solidFill>
                <a:latin typeface="Rubik" pitchFamily="34" charset="0"/>
                <a:ea typeface="Rubik" pitchFamily="34" charset="-122"/>
                <a:cs typeface="Rubik" pitchFamily="34" charset="-120"/>
              </a:rPr>
              <a:t>0.96</a:t>
            </a:r>
            <a:endParaRPr lang="en-US" sz="4800" dirty="0"/>
          </a:p>
        </p:txBody>
      </p:sp>
      <p:sp>
        <p:nvSpPr>
          <p:cNvPr id="12" name="Text 10"/>
          <p:cNvSpPr/>
          <p:nvPr/>
        </p:nvSpPr>
        <p:spPr>
          <a:xfrm>
            <a:off x="8246467" y="2844701"/>
            <a:ext cx="2964993"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CDD2"/>
                </a:solidFill>
                <a:latin typeface="IBM Plex Sans" pitchFamily="34" charset="0"/>
                <a:ea typeface="IBM Plex Sans" pitchFamily="34" charset="-122"/>
                <a:cs typeface="IBM Plex Sans" pitchFamily="34" charset="-120"/>
              </a:rPr>
              <a:t>CPI · minor cost overrun</a:t>
            </a:r>
            <a:endParaRPr lang="en-US" sz="1400" dirty="0"/>
          </a:p>
        </p:txBody>
      </p:sp>
      <p:sp>
        <p:nvSpPr>
          <p:cNvPr id="13" name="Shape 11"/>
          <p:cNvSpPr/>
          <p:nvPr/>
        </p:nvSpPr>
        <p:spPr>
          <a:xfrm>
            <a:off x="812800" y="3550741"/>
            <a:ext cx="3386634" cy="1417241"/>
          </a:xfrm>
          <a:prstGeom prst="roundRect">
            <a:avLst>
              <a:gd name="adj" fmla="val 7169"/>
            </a:avLst>
          </a:prstGeom>
          <a:solidFill>
            <a:srgbClr val="2B2F34"/>
          </a:solidFill>
          <a:ln/>
        </p:spPr>
        <p:txBody>
          <a:bodyPr/>
          <a:lstStyle/>
          <a:p>
            <a:endParaRPr lang="en-US"/>
          </a:p>
        </p:txBody>
      </p:sp>
      <p:sp>
        <p:nvSpPr>
          <p:cNvPr id="14" name="Text 12"/>
          <p:cNvSpPr/>
          <p:nvPr/>
        </p:nvSpPr>
        <p:spPr>
          <a:xfrm>
            <a:off x="1066800" y="3804741"/>
            <a:ext cx="2964993"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F5F3EF"/>
                </a:solidFill>
                <a:latin typeface="Rubik" pitchFamily="34" charset="0"/>
                <a:ea typeface="Rubik" pitchFamily="34" charset="-122"/>
                <a:cs typeface="Rubik" pitchFamily="34" charset="-120"/>
              </a:rPr>
              <a:t>2 / 5</a:t>
            </a:r>
            <a:endParaRPr lang="en-US" sz="4800" dirty="0"/>
          </a:p>
        </p:txBody>
      </p:sp>
      <p:sp>
        <p:nvSpPr>
          <p:cNvPr id="15" name="Text 13"/>
          <p:cNvSpPr/>
          <p:nvPr/>
        </p:nvSpPr>
        <p:spPr>
          <a:xfrm>
            <a:off x="1066800" y="4465141"/>
            <a:ext cx="2964993"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CDD2"/>
                </a:solidFill>
                <a:latin typeface="IBM Plex Sans" pitchFamily="34" charset="0"/>
                <a:ea typeface="IBM Plex Sans" pitchFamily="34" charset="-122"/>
                <a:cs typeface="IBM Plex Sans" pitchFamily="34" charset="-120"/>
              </a:rPr>
              <a:t>milestones achieved</a:t>
            </a:r>
            <a:endParaRPr lang="en-US" sz="1400" dirty="0"/>
          </a:p>
        </p:txBody>
      </p:sp>
      <p:sp>
        <p:nvSpPr>
          <p:cNvPr id="16" name="Shape 14"/>
          <p:cNvSpPr/>
          <p:nvPr/>
        </p:nvSpPr>
        <p:spPr>
          <a:xfrm>
            <a:off x="4402634" y="3550741"/>
            <a:ext cx="3386634" cy="1417241"/>
          </a:xfrm>
          <a:prstGeom prst="roundRect">
            <a:avLst>
              <a:gd name="adj" fmla="val 7169"/>
            </a:avLst>
          </a:prstGeom>
          <a:solidFill>
            <a:srgbClr val="2B2F34"/>
          </a:solidFill>
          <a:ln/>
        </p:spPr>
        <p:txBody>
          <a:bodyPr/>
          <a:lstStyle/>
          <a:p>
            <a:endParaRPr lang="en-US"/>
          </a:p>
        </p:txBody>
      </p:sp>
      <p:sp>
        <p:nvSpPr>
          <p:cNvPr id="17" name="Text 15"/>
          <p:cNvSpPr/>
          <p:nvPr/>
        </p:nvSpPr>
        <p:spPr>
          <a:xfrm>
            <a:off x="4656634" y="3804741"/>
            <a:ext cx="2964993"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F5F3EF"/>
                </a:solidFill>
                <a:latin typeface="Rubik" pitchFamily="34" charset="0"/>
                <a:ea typeface="Rubik" pitchFamily="34" charset="-122"/>
                <a:cs typeface="Rubik" pitchFamily="34" charset="-120"/>
              </a:rPr>
              <a:t>27 / 51</a:t>
            </a:r>
            <a:endParaRPr lang="en-US" sz="4800" dirty="0"/>
          </a:p>
        </p:txBody>
      </p:sp>
      <p:sp>
        <p:nvSpPr>
          <p:cNvPr id="18" name="Text 16"/>
          <p:cNvSpPr/>
          <p:nvPr/>
        </p:nvSpPr>
        <p:spPr>
          <a:xfrm>
            <a:off x="4656634" y="4465141"/>
            <a:ext cx="2964993"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CDD2"/>
                </a:solidFill>
                <a:latin typeface="IBM Plex Sans" pitchFamily="34" charset="0"/>
                <a:ea typeface="IBM Plex Sans" pitchFamily="34" charset="-122"/>
                <a:cs typeface="IBM Plex Sans" pitchFamily="34" charset="-120"/>
              </a:rPr>
              <a:t>activities complete</a:t>
            </a:r>
            <a:endParaRPr lang="en-US" sz="1400" dirty="0"/>
          </a:p>
        </p:txBody>
      </p:sp>
      <p:sp>
        <p:nvSpPr>
          <p:cNvPr id="19" name="Shape 17"/>
          <p:cNvSpPr/>
          <p:nvPr/>
        </p:nvSpPr>
        <p:spPr>
          <a:xfrm>
            <a:off x="7992467" y="3550741"/>
            <a:ext cx="3386634" cy="1417241"/>
          </a:xfrm>
          <a:prstGeom prst="roundRect">
            <a:avLst>
              <a:gd name="adj" fmla="val 7169"/>
            </a:avLst>
          </a:prstGeom>
          <a:solidFill>
            <a:srgbClr val="2B2F34"/>
          </a:solidFill>
          <a:ln/>
        </p:spPr>
        <p:txBody>
          <a:bodyPr/>
          <a:lstStyle/>
          <a:p>
            <a:endParaRPr lang="en-US"/>
          </a:p>
        </p:txBody>
      </p:sp>
      <p:sp>
        <p:nvSpPr>
          <p:cNvPr id="20" name="Text 18"/>
          <p:cNvSpPr/>
          <p:nvPr/>
        </p:nvSpPr>
        <p:spPr>
          <a:xfrm>
            <a:off x="8246467" y="3804741"/>
            <a:ext cx="2964993"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F5F3EF"/>
                </a:solidFill>
                <a:latin typeface="Rubik" pitchFamily="34" charset="0"/>
                <a:ea typeface="Rubik" pitchFamily="34" charset="-122"/>
                <a:cs typeface="Rubik" pitchFamily="34" charset="-120"/>
              </a:rPr>
              <a:t>12 Mar</a:t>
            </a:r>
            <a:endParaRPr lang="en-US" sz="4800" dirty="0"/>
          </a:p>
        </p:txBody>
      </p:sp>
      <p:sp>
        <p:nvSpPr>
          <p:cNvPr id="21" name="Text 19"/>
          <p:cNvSpPr/>
          <p:nvPr/>
        </p:nvSpPr>
        <p:spPr>
          <a:xfrm>
            <a:off x="8246467" y="4465141"/>
            <a:ext cx="2964993"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CDD2"/>
                </a:solidFill>
                <a:latin typeface="IBM Plex Sans" pitchFamily="34" charset="0"/>
                <a:ea typeface="IBM Plex Sans" pitchFamily="34" charset="-122"/>
                <a:cs typeface="IBM Plex Sans" pitchFamily="34" charset="-120"/>
              </a:rPr>
              <a:t>pilot acceptance still forecast</a:t>
            </a:r>
            <a:endParaRPr lang="en-US" sz="1400" dirty="0"/>
          </a:p>
        </p:txBody>
      </p:sp>
      <p:sp>
        <p:nvSpPr>
          <p:cNvPr id="22" name="Text 20"/>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096"/>
                </a:solidFill>
                <a:latin typeface="IBM Plex Sans" pitchFamily="34" charset="0"/>
                <a:ea typeface="IBM Plex Sans" pitchFamily="34" charset="-122"/>
                <a:cs typeface="IBM Plex Sans" pitchFamily="34" charset="-120"/>
              </a:rPr>
              <a:t>Earned value: PV ₹59.8 L · EV ₹56.4 L · AC ₹58.6 L · Source: Week 13 status log</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AF8"/>
        </a:solidFill>
        <a:effectLst/>
      </p:bgPr>
    </p:bg>
    <p:spTree>
      <p:nvGrpSpPr>
        <p:cNvPr id="1" name=""/>
        <p:cNvGrpSpPr/>
        <p:nvPr/>
      </p:nvGrpSpPr>
      <p:grpSpPr>
        <a:xfrm>
          <a:off x="0" y="0"/>
          <a:ext cx="0" cy="0"/>
          <a:chOff x="0" y="0"/>
          <a:chExt cx="0" cy="0"/>
        </a:xfrm>
      </p:grpSpPr>
      <p:pic>
        <p:nvPicPr>
          <p:cNvPr id="2" name="Image 0" descr="Earned value S-curve: planned value, earned value and actual cost by week, in rupees lakh"/>
          <p:cNvPicPr>
            <a:picLocks noChangeAspect="1"/>
          </p:cNvPicPr>
          <p:nvPr/>
        </p:nvPicPr>
        <p:blipFill>
          <a:blip r:embed="rId3"/>
          <a:srcRect t="-31" b="-31"/>
          <a:stretch/>
        </p:blipFill>
        <p:spPr>
          <a:xfrm>
            <a:off x="812800" y="1778000"/>
            <a:ext cx="10566400" cy="3810000"/>
          </a:xfrm>
          <a:prstGeom prst="rect">
            <a:avLst/>
          </a:prstGeom>
        </p:spPr>
      </p:pic>
      <p:sp>
        <p:nvSpPr>
          <p:cNvPr id="3"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00000"/>
                </a:solidFill>
                <a:latin typeface="IBM Plex Sans" pitchFamily="34" charset="0"/>
                <a:ea typeface="IBM Plex Sans" pitchFamily="34" charset="-122"/>
                <a:cs typeface="IBM Plex Sans" pitchFamily="34" charset="-120"/>
              </a:rPr>
              <a:t>02 · STATUS AT WEEK 13</a:t>
            </a:r>
            <a:endParaRPr lang="en-US" sz="1200" dirty="0"/>
          </a:p>
        </p:txBody>
      </p:sp>
      <p:sp>
        <p:nvSpPr>
          <p:cNvPr id="4" name="Text 1"/>
          <p:cNvSpPr>
            <a:spLocks noGrp="1"/>
          </p:cNvSpPr>
          <p:nvPr>
            <p:ph type="title"/>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F2226"/>
                </a:solidFill>
                <a:latin typeface="Rubik" pitchFamily="34" charset="0"/>
                <a:ea typeface="Rubik" pitchFamily="34" charset="-122"/>
                <a:cs typeface="Rubik" pitchFamily="34" charset="-120"/>
              </a:rPr>
              <a:t>Earned value has tracked just below plan</a:t>
            </a:r>
            <a:endParaRPr lang="en-US" sz="3200" dirty="0"/>
          </a:p>
        </p:txBody>
      </p:sp>
      <p:sp>
        <p:nvSpPr>
          <p:cNvPr id="5" name="Text 2"/>
          <p:cNvSpPr/>
          <p:nvPr/>
        </p:nvSpPr>
        <p:spPr>
          <a:xfrm>
            <a:off x="762000" y="4972050"/>
            <a:ext cx="6604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076"/>
                </a:solidFill>
                <a:latin typeface="IBM Plex Sans" pitchFamily="34" charset="0"/>
                <a:ea typeface="IBM Plex Sans" pitchFamily="34" charset="-122"/>
                <a:cs typeface="IBM Plex Sans" pitchFamily="34" charset="-120"/>
              </a:rPr>
              <a:t>0</a:t>
            </a:r>
            <a:endParaRPr lang="en-US" sz="1200" dirty="0"/>
          </a:p>
        </p:txBody>
      </p:sp>
      <p:sp>
        <p:nvSpPr>
          <p:cNvPr id="6" name="Text 3"/>
          <p:cNvSpPr/>
          <p:nvPr/>
        </p:nvSpPr>
        <p:spPr>
          <a:xfrm>
            <a:off x="762000" y="4191000"/>
            <a:ext cx="6604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076"/>
                </a:solidFill>
                <a:latin typeface="IBM Plex Sans" pitchFamily="34" charset="0"/>
                <a:ea typeface="IBM Plex Sans" pitchFamily="34" charset="-122"/>
                <a:cs typeface="IBM Plex Sans" pitchFamily="34" charset="-120"/>
              </a:rPr>
              <a:t>30</a:t>
            </a:r>
            <a:endParaRPr lang="en-US" sz="1200" dirty="0"/>
          </a:p>
        </p:txBody>
      </p:sp>
      <p:sp>
        <p:nvSpPr>
          <p:cNvPr id="7" name="Text 4"/>
          <p:cNvSpPr/>
          <p:nvPr/>
        </p:nvSpPr>
        <p:spPr>
          <a:xfrm>
            <a:off x="762000" y="3416300"/>
            <a:ext cx="6604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076"/>
                </a:solidFill>
                <a:latin typeface="IBM Plex Sans" pitchFamily="34" charset="0"/>
                <a:ea typeface="IBM Plex Sans" pitchFamily="34" charset="-122"/>
                <a:cs typeface="IBM Plex Sans" pitchFamily="34" charset="-120"/>
              </a:rPr>
              <a:t>60</a:t>
            </a:r>
            <a:endParaRPr lang="en-US" sz="1200" dirty="0"/>
          </a:p>
        </p:txBody>
      </p:sp>
      <p:sp>
        <p:nvSpPr>
          <p:cNvPr id="8" name="Text 5"/>
          <p:cNvSpPr/>
          <p:nvPr/>
        </p:nvSpPr>
        <p:spPr>
          <a:xfrm>
            <a:off x="762000" y="2635250"/>
            <a:ext cx="6604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076"/>
                </a:solidFill>
                <a:latin typeface="IBM Plex Sans" pitchFamily="34" charset="0"/>
                <a:ea typeface="IBM Plex Sans" pitchFamily="34" charset="-122"/>
                <a:cs typeface="IBM Plex Sans" pitchFamily="34" charset="-120"/>
              </a:rPr>
              <a:t>90</a:t>
            </a:r>
            <a:endParaRPr lang="en-US" sz="1200" dirty="0"/>
          </a:p>
        </p:txBody>
      </p:sp>
      <p:sp>
        <p:nvSpPr>
          <p:cNvPr id="9" name="Text 6"/>
          <p:cNvSpPr/>
          <p:nvPr/>
        </p:nvSpPr>
        <p:spPr>
          <a:xfrm>
            <a:off x="762000" y="1860550"/>
            <a:ext cx="6604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076"/>
                </a:solidFill>
                <a:latin typeface="IBM Plex Sans" pitchFamily="34" charset="0"/>
                <a:ea typeface="IBM Plex Sans" pitchFamily="34" charset="-122"/>
                <a:cs typeface="IBM Plex Sans" pitchFamily="34" charset="-120"/>
              </a:rPr>
              <a:t>₹120 L</a:t>
            </a:r>
            <a:endParaRPr lang="en-US" sz="1200" dirty="0"/>
          </a:p>
        </p:txBody>
      </p:sp>
      <p:sp>
        <p:nvSpPr>
          <p:cNvPr id="10" name="Text 7"/>
          <p:cNvSpPr/>
          <p:nvPr/>
        </p:nvSpPr>
        <p:spPr>
          <a:xfrm>
            <a:off x="1168400" y="5156200"/>
            <a:ext cx="685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B7076"/>
                </a:solidFill>
                <a:latin typeface="IBM Plex Sans" pitchFamily="34" charset="0"/>
                <a:ea typeface="IBM Plex Sans" pitchFamily="34" charset="-122"/>
                <a:cs typeface="IBM Plex Sans" pitchFamily="34" charset="-120"/>
              </a:rPr>
              <a:t>W1</a:t>
            </a:r>
            <a:endParaRPr lang="en-US" sz="1200" dirty="0"/>
          </a:p>
        </p:txBody>
      </p:sp>
      <p:sp>
        <p:nvSpPr>
          <p:cNvPr id="11" name="Text 8"/>
          <p:cNvSpPr/>
          <p:nvPr/>
        </p:nvSpPr>
        <p:spPr>
          <a:xfrm>
            <a:off x="3086100" y="5156200"/>
            <a:ext cx="685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B7076"/>
                </a:solidFill>
                <a:latin typeface="IBM Plex Sans" pitchFamily="34" charset="0"/>
                <a:ea typeface="IBM Plex Sans" pitchFamily="34" charset="-122"/>
                <a:cs typeface="IBM Plex Sans" pitchFamily="34" charset="-120"/>
              </a:rPr>
              <a:t>W5</a:t>
            </a:r>
            <a:endParaRPr lang="en-US" sz="1200" dirty="0"/>
          </a:p>
        </p:txBody>
      </p:sp>
      <p:sp>
        <p:nvSpPr>
          <p:cNvPr id="12" name="Text 9"/>
          <p:cNvSpPr/>
          <p:nvPr/>
        </p:nvSpPr>
        <p:spPr>
          <a:xfrm>
            <a:off x="5003800" y="5156200"/>
            <a:ext cx="685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B7076"/>
                </a:solidFill>
                <a:latin typeface="IBM Plex Sans" pitchFamily="34" charset="0"/>
                <a:ea typeface="IBM Plex Sans" pitchFamily="34" charset="-122"/>
                <a:cs typeface="IBM Plex Sans" pitchFamily="34" charset="-120"/>
              </a:rPr>
              <a:t>W9</a:t>
            </a:r>
            <a:endParaRPr lang="en-US" sz="1200" dirty="0"/>
          </a:p>
        </p:txBody>
      </p:sp>
      <p:sp>
        <p:nvSpPr>
          <p:cNvPr id="13" name="Text 10"/>
          <p:cNvSpPr/>
          <p:nvPr/>
        </p:nvSpPr>
        <p:spPr>
          <a:xfrm>
            <a:off x="6921500" y="5156200"/>
            <a:ext cx="68580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F2226"/>
                </a:solidFill>
                <a:latin typeface="IBM Plex Sans" pitchFamily="34" charset="0"/>
                <a:ea typeface="IBM Plex Sans" pitchFamily="34" charset="-122"/>
                <a:cs typeface="IBM Plex Sans" pitchFamily="34" charset="-120"/>
              </a:rPr>
              <a:t>W13</a:t>
            </a:r>
            <a:endParaRPr lang="en-US" sz="1200" dirty="0"/>
          </a:p>
        </p:txBody>
      </p:sp>
      <p:sp>
        <p:nvSpPr>
          <p:cNvPr id="14" name="Text 11"/>
          <p:cNvSpPr/>
          <p:nvPr/>
        </p:nvSpPr>
        <p:spPr>
          <a:xfrm>
            <a:off x="8839200" y="5156200"/>
            <a:ext cx="685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B7076"/>
                </a:solidFill>
                <a:latin typeface="IBM Plex Sans" pitchFamily="34" charset="0"/>
                <a:ea typeface="IBM Plex Sans" pitchFamily="34" charset="-122"/>
                <a:cs typeface="IBM Plex Sans" pitchFamily="34" charset="-120"/>
              </a:rPr>
              <a:t>W17</a:t>
            </a:r>
            <a:endParaRPr lang="en-US" sz="1200" dirty="0"/>
          </a:p>
        </p:txBody>
      </p:sp>
      <p:sp>
        <p:nvSpPr>
          <p:cNvPr id="15" name="Text 12"/>
          <p:cNvSpPr/>
          <p:nvPr/>
        </p:nvSpPr>
        <p:spPr>
          <a:xfrm>
            <a:off x="10756900" y="5156200"/>
            <a:ext cx="685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B7076"/>
                </a:solidFill>
                <a:latin typeface="IBM Plex Sans" pitchFamily="34" charset="0"/>
                <a:ea typeface="IBM Plex Sans" pitchFamily="34" charset="-122"/>
                <a:cs typeface="IBM Plex Sans" pitchFamily="34" charset="-120"/>
              </a:rPr>
              <a:t>W21</a:t>
            </a:r>
            <a:endParaRPr lang="en-US" sz="1200" dirty="0"/>
          </a:p>
        </p:txBody>
      </p:sp>
      <p:sp>
        <p:nvSpPr>
          <p:cNvPr id="16" name="Shape 13"/>
          <p:cNvSpPr/>
          <p:nvPr/>
        </p:nvSpPr>
        <p:spPr>
          <a:xfrm>
            <a:off x="1714500" y="2122984"/>
            <a:ext cx="254000" cy="38100"/>
          </a:xfrm>
          <a:prstGeom prst="rect">
            <a:avLst/>
          </a:prstGeom>
          <a:solidFill>
            <a:srgbClr val="8A9096"/>
          </a:solidFill>
          <a:ln/>
        </p:spPr>
        <p:txBody>
          <a:bodyPr/>
          <a:lstStyle/>
          <a:p>
            <a:endParaRPr lang="en-US"/>
          </a:p>
        </p:txBody>
      </p:sp>
      <p:sp>
        <p:nvSpPr>
          <p:cNvPr id="17" name="Text 14"/>
          <p:cNvSpPr/>
          <p:nvPr/>
        </p:nvSpPr>
        <p:spPr>
          <a:xfrm>
            <a:off x="2070100" y="2026543"/>
            <a:ext cx="1676162"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A3E43"/>
                </a:solidFill>
                <a:latin typeface="IBM Plex Sans" pitchFamily="34" charset="0"/>
                <a:ea typeface="IBM Plex Sans" pitchFamily="34" charset="-122"/>
                <a:cs typeface="IBM Plex Sans" pitchFamily="34" charset="-120"/>
              </a:rPr>
              <a:t>Planned value (PV)</a:t>
            </a:r>
            <a:endParaRPr lang="en-US" sz="1300" dirty="0"/>
          </a:p>
        </p:txBody>
      </p:sp>
      <p:sp>
        <p:nvSpPr>
          <p:cNvPr id="18" name="Shape 15"/>
          <p:cNvSpPr/>
          <p:nvPr/>
        </p:nvSpPr>
        <p:spPr>
          <a:xfrm>
            <a:off x="1714500" y="2393950"/>
            <a:ext cx="254000" cy="38100"/>
          </a:xfrm>
          <a:prstGeom prst="rect">
            <a:avLst/>
          </a:prstGeom>
          <a:solidFill>
            <a:srgbClr val="E60000"/>
          </a:solidFill>
          <a:ln/>
        </p:spPr>
        <p:txBody>
          <a:bodyPr/>
          <a:lstStyle/>
          <a:p>
            <a:endParaRPr lang="en-US"/>
          </a:p>
        </p:txBody>
      </p:sp>
      <p:sp>
        <p:nvSpPr>
          <p:cNvPr id="19" name="Text 16"/>
          <p:cNvSpPr/>
          <p:nvPr/>
        </p:nvSpPr>
        <p:spPr>
          <a:xfrm>
            <a:off x="2070100" y="2297509"/>
            <a:ext cx="1571387"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A3E43"/>
                </a:solidFill>
                <a:latin typeface="IBM Plex Sans" pitchFamily="34" charset="0"/>
                <a:ea typeface="IBM Plex Sans" pitchFamily="34" charset="-122"/>
                <a:cs typeface="IBM Plex Sans" pitchFamily="34" charset="-120"/>
              </a:rPr>
              <a:t>Earned value (EV)</a:t>
            </a:r>
            <a:endParaRPr lang="en-US" sz="1300" dirty="0"/>
          </a:p>
        </p:txBody>
      </p:sp>
      <p:sp>
        <p:nvSpPr>
          <p:cNvPr id="20" name="Shape 17"/>
          <p:cNvSpPr/>
          <p:nvPr/>
        </p:nvSpPr>
        <p:spPr>
          <a:xfrm>
            <a:off x="1714500" y="2664817"/>
            <a:ext cx="254000" cy="38100"/>
          </a:xfrm>
          <a:prstGeom prst="rect">
            <a:avLst/>
          </a:prstGeom>
          <a:solidFill>
            <a:srgbClr val="00697B"/>
          </a:solidFill>
          <a:ln/>
        </p:spPr>
        <p:txBody>
          <a:bodyPr/>
          <a:lstStyle/>
          <a:p>
            <a:endParaRPr lang="en-US"/>
          </a:p>
        </p:txBody>
      </p:sp>
      <p:sp>
        <p:nvSpPr>
          <p:cNvPr id="21" name="Text 18"/>
          <p:cNvSpPr/>
          <p:nvPr/>
        </p:nvSpPr>
        <p:spPr>
          <a:xfrm>
            <a:off x="2070100" y="2568377"/>
            <a:ext cx="1415772"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A3E43"/>
                </a:solidFill>
                <a:latin typeface="IBM Plex Sans" pitchFamily="34" charset="0"/>
                <a:ea typeface="IBM Plex Sans" pitchFamily="34" charset="-122"/>
                <a:cs typeface="IBM Plex Sans" pitchFamily="34" charset="-120"/>
              </a:rPr>
              <a:t>Actual cost (AC)</a:t>
            </a:r>
            <a:endParaRPr lang="en-US" sz="1300" dirty="0"/>
          </a:p>
        </p:txBody>
      </p:sp>
      <p:sp>
        <p:nvSpPr>
          <p:cNvPr id="22" name="Text 19"/>
          <p:cNvSpPr/>
          <p:nvPr/>
        </p:nvSpPr>
        <p:spPr>
          <a:xfrm>
            <a:off x="7366000" y="3289300"/>
            <a:ext cx="196215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0697B"/>
                </a:solidFill>
                <a:latin typeface="IBM Plex Sans" pitchFamily="34" charset="0"/>
                <a:ea typeface="IBM Plex Sans" pitchFamily="34" charset="-122"/>
                <a:cs typeface="IBM Plex Sans" pitchFamily="34" charset="-120"/>
              </a:rPr>
              <a:t>AC ₹58.6 L</a:t>
            </a:r>
            <a:endParaRPr lang="en-US" sz="1300" dirty="0"/>
          </a:p>
        </p:txBody>
      </p:sp>
      <p:sp>
        <p:nvSpPr>
          <p:cNvPr id="23" name="Text 20"/>
          <p:cNvSpPr/>
          <p:nvPr/>
        </p:nvSpPr>
        <p:spPr>
          <a:xfrm>
            <a:off x="7366000" y="3670300"/>
            <a:ext cx="196215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C00000"/>
                </a:solidFill>
                <a:latin typeface="IBM Plex Sans" pitchFamily="34" charset="0"/>
                <a:ea typeface="IBM Plex Sans" pitchFamily="34" charset="-122"/>
                <a:cs typeface="IBM Plex Sans" pitchFamily="34" charset="-120"/>
              </a:rPr>
              <a:t>EV ₹56.4 L</a:t>
            </a:r>
            <a:endParaRPr lang="en-US" sz="1300" dirty="0"/>
          </a:p>
        </p:txBody>
      </p:sp>
      <p:sp>
        <p:nvSpPr>
          <p:cNvPr id="24" name="Text 21"/>
          <p:cNvSpPr/>
          <p:nvPr/>
        </p:nvSpPr>
        <p:spPr>
          <a:xfrm>
            <a:off x="7366000" y="4775200"/>
            <a:ext cx="1701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2226"/>
                </a:solidFill>
                <a:latin typeface="IBM Plex Sans" pitchFamily="34" charset="0"/>
                <a:ea typeface="IBM Plex Sans" pitchFamily="34" charset="-122"/>
                <a:cs typeface="IBM Plex Sans" pitchFamily="34" charset="-120"/>
              </a:rPr>
              <a:t>Today · Week 13</a:t>
            </a:r>
            <a:endParaRPr lang="en-US" sz="1200" dirty="0"/>
          </a:p>
        </p:txBody>
      </p:sp>
      <p:sp>
        <p:nvSpPr>
          <p:cNvPr id="25" name="Text 22"/>
          <p:cNvSpPr/>
          <p:nvPr/>
        </p:nvSpPr>
        <p:spPr>
          <a:xfrm>
            <a:off x="8636000" y="2019300"/>
            <a:ext cx="261620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4F55"/>
                </a:solidFill>
                <a:latin typeface="IBM Plex Sans" pitchFamily="34" charset="0"/>
                <a:ea typeface="IBM Plex Sans" pitchFamily="34" charset="-122"/>
                <a:cs typeface="IBM Plex Sans" pitchFamily="34" charset="-120"/>
              </a:rPr>
              <a:t>PV ₹105.6 L at Week 21</a:t>
            </a:r>
            <a:endParaRPr lang="en-US" sz="1300" dirty="0"/>
          </a:p>
        </p:txBody>
      </p:sp>
      <p:sp>
        <p:nvSpPr>
          <p:cNvPr id="26" name="Text 23"/>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076"/>
                </a:solidFill>
                <a:latin typeface="IBM Plex Sans" pitchFamily="34" charset="0"/>
                <a:ea typeface="IBM Plex Sans" pitchFamily="34" charset="-122"/>
                <a:cs typeface="IBM Plex Sans" pitchFamily="34" charset="-120"/>
              </a:rPr>
              <a:t>Cumulative labour value, ₹ lakh · gap opened in Weeks 11–13 (holidays, Oracle delay) · SPI 0.94, CPI 0.96</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3EF"/>
        </a:solidFill>
        <a:effectLst/>
      </p:bgPr>
    </p:bg>
    <p:spTree>
      <p:nvGrpSpPr>
        <p:cNvPr id="1" name=""/>
        <p:cNvGrpSpPr/>
        <p:nvPr/>
      </p:nvGrpSpPr>
      <p:grpSpPr>
        <a:xfrm>
          <a:off x="0" y="0"/>
          <a:ext cx="0" cy="0"/>
          <a:chOff x="0" y="0"/>
          <a:chExt cx="0" cy="0"/>
        </a:xfrm>
      </p:grpSpPr>
      <p:pic>
        <p:nvPicPr>
          <p:cNvPr id="2" name="Image 0" descr="Activity burndown: planned versus actual activities remaining by week"/>
          <p:cNvPicPr>
            <a:picLocks noChangeAspect="1"/>
          </p:cNvPicPr>
          <p:nvPr/>
        </p:nvPicPr>
        <p:blipFill>
          <a:blip r:embed="rId3"/>
          <a:srcRect t="-31" b="-31"/>
          <a:stretch/>
        </p:blipFill>
        <p:spPr>
          <a:xfrm>
            <a:off x="812800" y="1778000"/>
            <a:ext cx="10566400" cy="3810000"/>
          </a:xfrm>
          <a:prstGeom prst="rect">
            <a:avLst/>
          </a:prstGeom>
        </p:spPr>
      </p:pic>
      <p:sp>
        <p:nvSpPr>
          <p:cNvPr id="3"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00000"/>
                </a:solidFill>
                <a:latin typeface="IBM Plex Sans" pitchFamily="34" charset="0"/>
                <a:ea typeface="IBM Plex Sans" pitchFamily="34" charset="-122"/>
                <a:cs typeface="IBM Plex Sans" pitchFamily="34" charset="-120"/>
              </a:rPr>
              <a:t>02 · STATUS AT WEEK 13</a:t>
            </a:r>
            <a:endParaRPr lang="en-US" sz="1200" dirty="0"/>
          </a:p>
        </p:txBody>
      </p:sp>
      <p:sp>
        <p:nvSpPr>
          <p:cNvPr id="4" name="Text 1"/>
          <p:cNvSpPr>
            <a:spLocks noGrp="1"/>
          </p:cNvSpPr>
          <p:nvPr>
            <p:ph type="title"/>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F2226"/>
                </a:solidFill>
                <a:latin typeface="Rubik" pitchFamily="34" charset="0"/>
                <a:ea typeface="Rubik" pitchFamily="34" charset="-122"/>
                <a:cs typeface="Rubik" pitchFamily="34" charset="-120"/>
              </a:rPr>
              <a:t>24 activities left against 21 planned</a:t>
            </a:r>
            <a:endParaRPr lang="en-US" sz="3200" dirty="0"/>
          </a:p>
        </p:txBody>
      </p:sp>
      <p:sp>
        <p:nvSpPr>
          <p:cNvPr id="5" name="Text 2"/>
          <p:cNvSpPr/>
          <p:nvPr/>
        </p:nvSpPr>
        <p:spPr>
          <a:xfrm>
            <a:off x="762000" y="4972050"/>
            <a:ext cx="6604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076"/>
                </a:solidFill>
                <a:latin typeface="IBM Plex Sans" pitchFamily="34" charset="0"/>
                <a:ea typeface="IBM Plex Sans" pitchFamily="34" charset="-122"/>
                <a:cs typeface="IBM Plex Sans" pitchFamily="34" charset="-120"/>
              </a:rPr>
              <a:t>0</a:t>
            </a:r>
            <a:endParaRPr lang="en-US" sz="1200" dirty="0"/>
          </a:p>
        </p:txBody>
      </p:sp>
      <p:sp>
        <p:nvSpPr>
          <p:cNvPr id="6" name="Text 3"/>
          <p:cNvSpPr/>
          <p:nvPr/>
        </p:nvSpPr>
        <p:spPr>
          <a:xfrm>
            <a:off x="762000" y="4191000"/>
            <a:ext cx="6604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076"/>
                </a:solidFill>
                <a:latin typeface="IBM Plex Sans" pitchFamily="34" charset="0"/>
                <a:ea typeface="IBM Plex Sans" pitchFamily="34" charset="-122"/>
                <a:cs typeface="IBM Plex Sans" pitchFamily="34" charset="-120"/>
              </a:rPr>
              <a:t>15</a:t>
            </a:r>
            <a:endParaRPr lang="en-US" sz="1200" dirty="0"/>
          </a:p>
        </p:txBody>
      </p:sp>
      <p:sp>
        <p:nvSpPr>
          <p:cNvPr id="7" name="Text 4"/>
          <p:cNvSpPr/>
          <p:nvPr/>
        </p:nvSpPr>
        <p:spPr>
          <a:xfrm>
            <a:off x="762000" y="3416300"/>
            <a:ext cx="6604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076"/>
                </a:solidFill>
                <a:latin typeface="IBM Plex Sans" pitchFamily="34" charset="0"/>
                <a:ea typeface="IBM Plex Sans" pitchFamily="34" charset="-122"/>
                <a:cs typeface="IBM Plex Sans" pitchFamily="34" charset="-120"/>
              </a:rPr>
              <a:t>30</a:t>
            </a:r>
            <a:endParaRPr lang="en-US" sz="1200" dirty="0"/>
          </a:p>
        </p:txBody>
      </p:sp>
      <p:sp>
        <p:nvSpPr>
          <p:cNvPr id="8" name="Text 5"/>
          <p:cNvSpPr/>
          <p:nvPr/>
        </p:nvSpPr>
        <p:spPr>
          <a:xfrm>
            <a:off x="762000" y="2635250"/>
            <a:ext cx="6604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076"/>
                </a:solidFill>
                <a:latin typeface="IBM Plex Sans" pitchFamily="34" charset="0"/>
                <a:ea typeface="IBM Plex Sans" pitchFamily="34" charset="-122"/>
                <a:cs typeface="IBM Plex Sans" pitchFamily="34" charset="-120"/>
              </a:rPr>
              <a:t>45</a:t>
            </a:r>
            <a:endParaRPr lang="en-US" sz="1200" dirty="0"/>
          </a:p>
        </p:txBody>
      </p:sp>
      <p:sp>
        <p:nvSpPr>
          <p:cNvPr id="9" name="Text 6"/>
          <p:cNvSpPr/>
          <p:nvPr/>
        </p:nvSpPr>
        <p:spPr>
          <a:xfrm>
            <a:off x="762000" y="1860550"/>
            <a:ext cx="6604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076"/>
                </a:solidFill>
                <a:latin typeface="IBM Plex Sans" pitchFamily="34" charset="0"/>
                <a:ea typeface="IBM Plex Sans" pitchFamily="34" charset="-122"/>
                <a:cs typeface="IBM Plex Sans" pitchFamily="34" charset="-120"/>
              </a:rPr>
              <a:t>60</a:t>
            </a:r>
            <a:endParaRPr lang="en-US" sz="1200" dirty="0"/>
          </a:p>
        </p:txBody>
      </p:sp>
      <p:sp>
        <p:nvSpPr>
          <p:cNvPr id="10" name="Text 7"/>
          <p:cNvSpPr/>
          <p:nvPr/>
        </p:nvSpPr>
        <p:spPr>
          <a:xfrm>
            <a:off x="1168400" y="5156200"/>
            <a:ext cx="685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B7076"/>
                </a:solidFill>
                <a:latin typeface="IBM Plex Sans" pitchFamily="34" charset="0"/>
                <a:ea typeface="IBM Plex Sans" pitchFamily="34" charset="-122"/>
                <a:cs typeface="IBM Plex Sans" pitchFamily="34" charset="-120"/>
              </a:rPr>
              <a:t>W1</a:t>
            </a:r>
            <a:endParaRPr lang="en-US" sz="1200" dirty="0"/>
          </a:p>
        </p:txBody>
      </p:sp>
      <p:sp>
        <p:nvSpPr>
          <p:cNvPr id="11" name="Text 8"/>
          <p:cNvSpPr/>
          <p:nvPr/>
        </p:nvSpPr>
        <p:spPr>
          <a:xfrm>
            <a:off x="3086100" y="5156200"/>
            <a:ext cx="685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B7076"/>
                </a:solidFill>
                <a:latin typeface="IBM Plex Sans" pitchFamily="34" charset="0"/>
                <a:ea typeface="IBM Plex Sans" pitchFamily="34" charset="-122"/>
                <a:cs typeface="IBM Plex Sans" pitchFamily="34" charset="-120"/>
              </a:rPr>
              <a:t>W5</a:t>
            </a:r>
            <a:endParaRPr lang="en-US" sz="1200" dirty="0"/>
          </a:p>
        </p:txBody>
      </p:sp>
      <p:sp>
        <p:nvSpPr>
          <p:cNvPr id="12" name="Text 9"/>
          <p:cNvSpPr/>
          <p:nvPr/>
        </p:nvSpPr>
        <p:spPr>
          <a:xfrm>
            <a:off x="5003800" y="5156200"/>
            <a:ext cx="685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B7076"/>
                </a:solidFill>
                <a:latin typeface="IBM Plex Sans" pitchFamily="34" charset="0"/>
                <a:ea typeface="IBM Plex Sans" pitchFamily="34" charset="-122"/>
                <a:cs typeface="IBM Plex Sans" pitchFamily="34" charset="-120"/>
              </a:rPr>
              <a:t>W9</a:t>
            </a:r>
            <a:endParaRPr lang="en-US" sz="1200" dirty="0"/>
          </a:p>
        </p:txBody>
      </p:sp>
      <p:sp>
        <p:nvSpPr>
          <p:cNvPr id="13" name="Text 10"/>
          <p:cNvSpPr/>
          <p:nvPr/>
        </p:nvSpPr>
        <p:spPr>
          <a:xfrm>
            <a:off x="6921500" y="5156200"/>
            <a:ext cx="68580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F2226"/>
                </a:solidFill>
                <a:latin typeface="IBM Plex Sans" pitchFamily="34" charset="0"/>
                <a:ea typeface="IBM Plex Sans" pitchFamily="34" charset="-122"/>
                <a:cs typeface="IBM Plex Sans" pitchFamily="34" charset="-120"/>
              </a:rPr>
              <a:t>W13</a:t>
            </a:r>
            <a:endParaRPr lang="en-US" sz="1200" dirty="0"/>
          </a:p>
        </p:txBody>
      </p:sp>
      <p:sp>
        <p:nvSpPr>
          <p:cNvPr id="14" name="Text 11"/>
          <p:cNvSpPr/>
          <p:nvPr/>
        </p:nvSpPr>
        <p:spPr>
          <a:xfrm>
            <a:off x="8839200" y="5156200"/>
            <a:ext cx="685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B7076"/>
                </a:solidFill>
                <a:latin typeface="IBM Plex Sans" pitchFamily="34" charset="0"/>
                <a:ea typeface="IBM Plex Sans" pitchFamily="34" charset="-122"/>
                <a:cs typeface="IBM Plex Sans" pitchFamily="34" charset="-120"/>
              </a:rPr>
              <a:t>W17</a:t>
            </a:r>
            <a:endParaRPr lang="en-US" sz="1200" dirty="0"/>
          </a:p>
        </p:txBody>
      </p:sp>
      <p:sp>
        <p:nvSpPr>
          <p:cNvPr id="15" name="Text 12"/>
          <p:cNvSpPr/>
          <p:nvPr/>
        </p:nvSpPr>
        <p:spPr>
          <a:xfrm>
            <a:off x="10756900" y="5156200"/>
            <a:ext cx="685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B7076"/>
                </a:solidFill>
                <a:latin typeface="IBM Plex Sans" pitchFamily="34" charset="0"/>
                <a:ea typeface="IBM Plex Sans" pitchFamily="34" charset="-122"/>
                <a:cs typeface="IBM Plex Sans" pitchFamily="34" charset="-120"/>
              </a:rPr>
              <a:t>W21</a:t>
            </a:r>
            <a:endParaRPr lang="en-US" sz="1200" dirty="0"/>
          </a:p>
        </p:txBody>
      </p:sp>
      <p:sp>
        <p:nvSpPr>
          <p:cNvPr id="16" name="Shape 13"/>
          <p:cNvSpPr/>
          <p:nvPr/>
        </p:nvSpPr>
        <p:spPr>
          <a:xfrm>
            <a:off x="8261350" y="2077641"/>
            <a:ext cx="241300" cy="139700"/>
          </a:xfrm>
          <a:prstGeom prst="rect">
            <a:avLst/>
          </a:prstGeom>
          <a:solidFill>
            <a:srgbClr val="E4E0D9"/>
          </a:solidFill>
          <a:ln w="12700">
            <a:solidFill>
              <a:srgbClr val="8A9096"/>
            </a:solidFill>
            <a:prstDash val="solid"/>
          </a:ln>
        </p:spPr>
        <p:txBody>
          <a:bodyPr/>
          <a:lstStyle/>
          <a:p>
            <a:endParaRPr lang="en-US"/>
          </a:p>
        </p:txBody>
      </p:sp>
      <p:sp>
        <p:nvSpPr>
          <p:cNvPr id="17" name="Text 14"/>
          <p:cNvSpPr/>
          <p:nvPr/>
        </p:nvSpPr>
        <p:spPr>
          <a:xfrm>
            <a:off x="8610600" y="2032000"/>
            <a:ext cx="1663303"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A3E43"/>
                </a:solidFill>
                <a:latin typeface="IBM Plex Sans" pitchFamily="34" charset="0"/>
                <a:ea typeface="IBM Plex Sans" pitchFamily="34" charset="-122"/>
                <a:cs typeface="IBM Plex Sans" pitchFamily="34" charset="-120"/>
              </a:rPr>
              <a:t>Planned remaining</a:t>
            </a:r>
            <a:endParaRPr lang="en-US" sz="1300" dirty="0"/>
          </a:p>
        </p:txBody>
      </p:sp>
      <p:sp>
        <p:nvSpPr>
          <p:cNvPr id="18" name="Shape 15"/>
          <p:cNvSpPr/>
          <p:nvPr/>
        </p:nvSpPr>
        <p:spPr>
          <a:xfrm>
            <a:off x="8255000" y="2410321"/>
            <a:ext cx="254000" cy="38100"/>
          </a:xfrm>
          <a:prstGeom prst="rect">
            <a:avLst/>
          </a:prstGeom>
          <a:solidFill>
            <a:srgbClr val="E60000"/>
          </a:solidFill>
          <a:ln/>
        </p:spPr>
        <p:txBody>
          <a:bodyPr/>
          <a:lstStyle/>
          <a:p>
            <a:endParaRPr lang="en-US"/>
          </a:p>
        </p:txBody>
      </p:sp>
      <p:sp>
        <p:nvSpPr>
          <p:cNvPr id="19" name="Text 16"/>
          <p:cNvSpPr/>
          <p:nvPr/>
        </p:nvSpPr>
        <p:spPr>
          <a:xfrm>
            <a:off x="8610600" y="2313880"/>
            <a:ext cx="1503164"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A3E43"/>
                </a:solidFill>
                <a:latin typeface="IBM Plex Sans" pitchFamily="34" charset="0"/>
                <a:ea typeface="IBM Plex Sans" pitchFamily="34" charset="-122"/>
                <a:cs typeface="IBM Plex Sans" pitchFamily="34" charset="-120"/>
              </a:rPr>
              <a:t>Actual remaining</a:t>
            </a:r>
            <a:endParaRPr lang="en-US" sz="1300" dirty="0"/>
          </a:p>
        </p:txBody>
      </p:sp>
      <p:sp>
        <p:nvSpPr>
          <p:cNvPr id="20" name="Text 17"/>
          <p:cNvSpPr/>
          <p:nvPr/>
        </p:nvSpPr>
        <p:spPr>
          <a:xfrm>
            <a:off x="7366000" y="3530600"/>
            <a:ext cx="274701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C00000"/>
                </a:solidFill>
                <a:latin typeface="IBM Plex Sans" pitchFamily="34" charset="0"/>
                <a:ea typeface="IBM Plex Sans" pitchFamily="34" charset="-122"/>
                <a:cs typeface="IBM Plex Sans" pitchFamily="34" charset="-120"/>
              </a:rPr>
              <a:t>24 left · plan was 21</a:t>
            </a:r>
            <a:endParaRPr lang="en-US" sz="1300" dirty="0"/>
          </a:p>
        </p:txBody>
      </p:sp>
      <p:sp>
        <p:nvSpPr>
          <p:cNvPr id="21" name="Text 18"/>
          <p:cNvSpPr/>
          <p:nvPr/>
        </p:nvSpPr>
        <p:spPr>
          <a:xfrm>
            <a:off x="7366000" y="4775200"/>
            <a:ext cx="1701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2226"/>
                </a:solidFill>
                <a:latin typeface="IBM Plex Sans" pitchFamily="34" charset="0"/>
                <a:ea typeface="IBM Plex Sans" pitchFamily="34" charset="-122"/>
                <a:cs typeface="IBM Plex Sans" pitchFamily="34" charset="-120"/>
              </a:rPr>
              <a:t>Today · Week 13</a:t>
            </a:r>
            <a:endParaRPr lang="en-US" sz="1200" dirty="0"/>
          </a:p>
        </p:txBody>
      </p:sp>
      <p:sp>
        <p:nvSpPr>
          <p:cNvPr id="22" name="Text 19"/>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076"/>
                </a:solidFill>
                <a:latin typeface="IBM Plex Sans" pitchFamily="34" charset="0"/>
                <a:ea typeface="IBM Plex Sans" pitchFamily="34" charset="-122"/>
                <a:cs typeface="IBM Plex Sans" pitchFamily="34" charset="-120"/>
              </a:rPr>
              <a:t>Activities remaining of 51 in the baseline WBS, by week</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3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00000"/>
                </a:solidFill>
                <a:latin typeface="IBM Plex Sans" pitchFamily="34" charset="0"/>
                <a:ea typeface="IBM Plex Sans" pitchFamily="34" charset="-122"/>
                <a:cs typeface="IBM Plex Sans" pitchFamily="34" charset="-120"/>
              </a:rPr>
              <a:t>02 · STATUS AT WEEK 13</a:t>
            </a:r>
            <a:endParaRPr lang="en-US" sz="1200" dirty="0"/>
          </a:p>
        </p:txBody>
      </p:sp>
      <p:sp>
        <p:nvSpPr>
          <p:cNvPr id="3" name="Text 1"/>
          <p:cNvSpPr>
            <a:spLocks noGrp="1"/>
          </p:cNvSpPr>
          <p:nvPr>
            <p:ph type="title"/>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F2226"/>
                </a:solidFill>
                <a:latin typeface="Rubik" pitchFamily="34" charset="0"/>
                <a:ea typeface="Rubik" pitchFamily="34" charset="-122"/>
                <a:cs typeface="Rubik" pitchFamily="34" charset="-120"/>
              </a:rPr>
              <a:t>What we have delivered so far</a:t>
            </a:r>
            <a:endParaRPr lang="en-US" sz="3200" dirty="0"/>
          </a:p>
        </p:txBody>
      </p:sp>
      <p:pic>
        <p:nvPicPr>
          <p:cNvPr id="4" name="Image 0" descr="CheckCircle"/>
          <p:cNvPicPr>
            <a:picLocks noChangeAspect="1"/>
          </p:cNvPicPr>
          <p:nvPr/>
        </p:nvPicPr>
        <p:blipFill>
          <a:blip r:embed="rId3"/>
          <a:srcRect t="-769" b="-769"/>
          <a:stretch/>
        </p:blipFill>
        <p:spPr>
          <a:xfrm>
            <a:off x="812800" y="1879501"/>
            <a:ext cx="200124" cy="304800"/>
          </a:xfrm>
          <a:prstGeom prst="rect">
            <a:avLst/>
          </a:prstGeom>
        </p:spPr>
      </p:pic>
      <p:sp>
        <p:nvSpPr>
          <p:cNvPr id="5" name="Text 2"/>
          <p:cNvSpPr/>
          <p:nvPr/>
        </p:nvSpPr>
        <p:spPr>
          <a:xfrm>
            <a:off x="1165324" y="1879501"/>
            <a:ext cx="5078596" cy="5588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A3E43"/>
                </a:solidFill>
                <a:latin typeface="IBM Plex Sans" pitchFamily="34" charset="0"/>
                <a:ea typeface="IBM Plex Sans" pitchFamily="34" charset="-122"/>
                <a:cs typeface="IBM Plex Sans" pitchFamily="34" charset="-120"/>
              </a:rPr>
              <a:t>Architecture and security design</a:t>
            </a:r>
            <a:r>
              <a:rPr lang="en-US" sz="1500" dirty="0">
                <a:solidFill>
                  <a:srgbClr val="3A3E43"/>
                </a:solidFill>
                <a:latin typeface="IBM Plex Sans" pitchFamily="34" charset="0"/>
                <a:ea typeface="IBM Plex Sans" pitchFamily="34" charset="-122"/>
                <a:cs typeface="IBM Plex Sans" pitchFamily="34" charset="-120"/>
              </a:rPr>
              <a:t> approved by InfoSec and Enterprise Architecture (M1)</a:t>
            </a:r>
            <a:endParaRPr lang="en-US" sz="1500" dirty="0"/>
          </a:p>
        </p:txBody>
      </p:sp>
      <p:pic>
        <p:nvPicPr>
          <p:cNvPr id="6" name="Image 1" descr="CheckCircle"/>
          <p:cNvPicPr>
            <a:picLocks noChangeAspect="1"/>
          </p:cNvPicPr>
          <p:nvPr/>
        </p:nvPicPr>
        <p:blipFill>
          <a:blip r:embed="rId4"/>
          <a:srcRect t="-438" b="-438"/>
          <a:stretch/>
        </p:blipFill>
        <p:spPr>
          <a:xfrm>
            <a:off x="6096000" y="1879501"/>
            <a:ext cx="226616" cy="304800"/>
          </a:xfrm>
          <a:prstGeom prst="rect">
            <a:avLst/>
          </a:prstGeom>
        </p:spPr>
      </p:pic>
      <p:sp>
        <p:nvSpPr>
          <p:cNvPr id="7" name="Text 3"/>
          <p:cNvSpPr/>
          <p:nvPr/>
        </p:nvSpPr>
        <p:spPr>
          <a:xfrm>
            <a:off x="6475016" y="1879501"/>
            <a:ext cx="5051310" cy="5588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A3E43"/>
                </a:solidFill>
                <a:latin typeface="IBM Plex Sans" pitchFamily="34" charset="0"/>
                <a:ea typeface="IBM Plex Sans" pitchFamily="34" charset="-122"/>
                <a:cs typeface="IBM Plex Sans" pitchFamily="34" charset="-120"/>
              </a:rPr>
              <a:t>GPT-5 deployed</a:t>
            </a:r>
            <a:r>
              <a:rPr lang="en-US" sz="1500" dirty="0">
                <a:solidFill>
                  <a:srgbClr val="3A3E43"/>
                </a:solidFill>
                <a:latin typeface="IBM Plex Sans" pitchFamily="34" charset="0"/>
                <a:ea typeface="IBM Plex Sans" pitchFamily="34" charset="-122"/>
                <a:cs typeface="IBM Plex Sans" pitchFamily="34" charset="-120"/>
              </a:rPr>
              <a:t> in the VOIS Azure tenant; 1,240 curated documents indexed</a:t>
            </a:r>
            <a:endParaRPr lang="en-US" sz="1500" dirty="0"/>
          </a:p>
        </p:txBody>
      </p:sp>
      <p:pic>
        <p:nvPicPr>
          <p:cNvPr id="8" name="Image 2" descr="CheckCircle"/>
          <p:cNvPicPr>
            <a:picLocks noChangeAspect="1"/>
          </p:cNvPicPr>
          <p:nvPr/>
        </p:nvPicPr>
        <p:blipFill>
          <a:blip r:embed="rId5"/>
          <a:srcRect t="-348" b="-348"/>
          <a:stretch/>
        </p:blipFill>
        <p:spPr>
          <a:xfrm>
            <a:off x="812800" y="2412901"/>
            <a:ext cx="271165" cy="304800"/>
          </a:xfrm>
          <a:prstGeom prst="rect">
            <a:avLst/>
          </a:prstGeom>
        </p:spPr>
      </p:pic>
      <p:sp>
        <p:nvSpPr>
          <p:cNvPr id="9" name="Text 4"/>
          <p:cNvSpPr/>
          <p:nvPr/>
        </p:nvSpPr>
        <p:spPr>
          <a:xfrm>
            <a:off x="1236365" y="2412901"/>
            <a:ext cx="5005424" cy="5588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A3E43"/>
                </a:solidFill>
                <a:latin typeface="IBM Plex Sans" pitchFamily="34" charset="0"/>
                <a:ea typeface="IBM Plex Sans" pitchFamily="34" charset="-122"/>
                <a:cs typeface="IBM Plex Sans" pitchFamily="34" charset="-120"/>
              </a:rPr>
              <a:t>AI assistant MVP</a:t>
            </a:r>
            <a:r>
              <a:rPr lang="en-US" sz="1500" dirty="0">
                <a:solidFill>
                  <a:srgbClr val="3A3E43"/>
                </a:solidFill>
                <a:latin typeface="IBM Plex Sans" pitchFamily="34" charset="0"/>
                <a:ea typeface="IBM Plex Sans" pitchFamily="34" charset="-122"/>
                <a:cs typeface="IBM Plex Sans" pitchFamily="34" charset="-120"/>
              </a:rPr>
              <a:t> live with grounded answers and citations (M2)</a:t>
            </a:r>
            <a:endParaRPr lang="en-US" sz="1500" dirty="0"/>
          </a:p>
        </p:txBody>
      </p:sp>
      <p:pic>
        <p:nvPicPr>
          <p:cNvPr id="10" name="Image 3" descr="CheckCircle"/>
          <p:cNvPicPr>
            <a:picLocks noChangeAspect="1"/>
          </p:cNvPicPr>
          <p:nvPr/>
        </p:nvPicPr>
        <p:blipFill>
          <a:blip r:embed="rId4"/>
          <a:srcRect t="-372" b="-372"/>
          <a:stretch/>
        </p:blipFill>
        <p:spPr>
          <a:xfrm>
            <a:off x="6096000" y="2412901"/>
            <a:ext cx="226913" cy="304800"/>
          </a:xfrm>
          <a:prstGeom prst="rect">
            <a:avLst/>
          </a:prstGeom>
        </p:spPr>
      </p:pic>
      <p:sp>
        <p:nvSpPr>
          <p:cNvPr id="11" name="Text 5"/>
          <p:cNvSpPr/>
          <p:nvPr/>
        </p:nvSpPr>
        <p:spPr>
          <a:xfrm>
            <a:off x="6475313" y="2412901"/>
            <a:ext cx="5051003" cy="5588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A3E43"/>
                </a:solidFill>
                <a:latin typeface="IBM Plex Sans" pitchFamily="34" charset="0"/>
                <a:ea typeface="IBM Plex Sans" pitchFamily="34" charset="-122"/>
                <a:cs typeface="IBM Plex Sans" pitchFamily="34" charset="-120"/>
              </a:rPr>
              <a:t>88% retrieval recall@5</a:t>
            </a:r>
            <a:r>
              <a:rPr lang="en-US" sz="1500" dirty="0">
                <a:solidFill>
                  <a:srgbClr val="3A3E43"/>
                </a:solidFill>
                <a:latin typeface="IBM Plex Sans" pitchFamily="34" charset="0"/>
                <a:ea typeface="IBM Plex Sans" pitchFamily="34" charset="-122"/>
                <a:cs typeface="IBM Plex Sans" pitchFamily="34" charset="-120"/>
              </a:rPr>
              <a:t> on a 250-question benchmark, above the 85% target</a:t>
            </a:r>
            <a:endParaRPr lang="en-US" sz="1500" dirty="0"/>
          </a:p>
        </p:txBody>
      </p:sp>
      <p:pic>
        <p:nvPicPr>
          <p:cNvPr id="12" name="Image 4" descr="CheckCircle"/>
          <p:cNvPicPr>
            <a:picLocks noChangeAspect="1"/>
          </p:cNvPicPr>
          <p:nvPr/>
        </p:nvPicPr>
        <p:blipFill>
          <a:blip r:embed="rId6"/>
          <a:srcRect t="-304" b="-304"/>
          <a:stretch/>
        </p:blipFill>
        <p:spPr>
          <a:xfrm>
            <a:off x="812800" y="2946301"/>
            <a:ext cx="277713" cy="304800"/>
          </a:xfrm>
          <a:prstGeom prst="rect">
            <a:avLst/>
          </a:prstGeom>
        </p:spPr>
      </p:pic>
      <p:sp>
        <p:nvSpPr>
          <p:cNvPr id="13" name="Text 6"/>
          <p:cNvSpPr/>
          <p:nvPr/>
        </p:nvSpPr>
        <p:spPr>
          <a:xfrm>
            <a:off x="1242913" y="2946301"/>
            <a:ext cx="4998679" cy="5588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A3E43"/>
                </a:solidFill>
                <a:latin typeface="IBM Plex Sans" pitchFamily="34" charset="0"/>
                <a:ea typeface="IBM Plex Sans" pitchFamily="34" charset="-122"/>
                <a:cs typeface="IBM Plex Sans" pitchFamily="34" charset="-120"/>
              </a:rPr>
              <a:t>SAP and QA connectors</a:t>
            </a:r>
            <a:r>
              <a:rPr lang="en-US" sz="1500" dirty="0">
                <a:solidFill>
                  <a:srgbClr val="3A3E43"/>
                </a:solidFill>
                <a:latin typeface="IBM Plex Sans" pitchFamily="34" charset="0"/>
                <a:ea typeface="IBM Plex Sans" pitchFamily="34" charset="-122"/>
                <a:cs typeface="IBM Plex Sans" pitchFamily="34" charset="-120"/>
              </a:rPr>
              <a:t> working end to end in non-production</a:t>
            </a:r>
            <a:endParaRPr lang="en-US" sz="1500" dirty="0"/>
          </a:p>
        </p:txBody>
      </p:sp>
      <p:pic>
        <p:nvPicPr>
          <p:cNvPr id="14" name="Image 5" descr="CheckCircle"/>
          <p:cNvPicPr>
            <a:picLocks noChangeAspect="1"/>
          </p:cNvPicPr>
          <p:nvPr/>
        </p:nvPicPr>
        <p:blipFill>
          <a:blip r:embed="rId5"/>
          <a:srcRect t="-91" b="-91"/>
          <a:stretch/>
        </p:blipFill>
        <p:spPr>
          <a:xfrm>
            <a:off x="6096000" y="2946301"/>
            <a:ext cx="272554" cy="304800"/>
          </a:xfrm>
          <a:prstGeom prst="rect">
            <a:avLst/>
          </a:prstGeom>
        </p:spPr>
      </p:pic>
      <p:sp>
        <p:nvSpPr>
          <p:cNvPr id="15" name="Text 7"/>
          <p:cNvSpPr/>
          <p:nvPr/>
        </p:nvSpPr>
        <p:spPr>
          <a:xfrm>
            <a:off x="6520954" y="2946301"/>
            <a:ext cx="5003993" cy="5588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A3E43"/>
                </a:solidFill>
                <a:latin typeface="IBM Plex Sans" pitchFamily="34" charset="0"/>
                <a:ea typeface="IBM Plex Sans" pitchFamily="34" charset="-122"/>
                <a:cs typeface="IBM Plex Sans" pitchFamily="34" charset="-120"/>
              </a:rPr>
              <a:t>P95 response 6.4 s</a:t>
            </a:r>
            <a:r>
              <a:rPr lang="en-US" sz="1500" dirty="0">
                <a:solidFill>
                  <a:srgbClr val="3A3E43"/>
                </a:solidFill>
                <a:latin typeface="IBM Plex Sans" pitchFamily="34" charset="0"/>
                <a:ea typeface="IBM Plex Sans" pitchFamily="34" charset="-122"/>
                <a:cs typeface="IBM Plex Sans" pitchFamily="34" charset="-120"/>
              </a:rPr>
              <a:t> at 50 concurrent users, inside the 8 s target</a:t>
            </a:r>
            <a:endParaRPr lang="en-US" sz="1500" dirty="0"/>
          </a:p>
        </p:txBody>
      </p:sp>
      <p:sp>
        <p:nvSpPr>
          <p:cNvPr id="16" name="Text 8"/>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076"/>
                </a:solidFill>
                <a:latin typeface="IBM Plex Sans" pitchFamily="34" charset="0"/>
                <a:ea typeface="IBM Plex Sans" pitchFamily="34" charset="-122"/>
                <a:cs typeface="IBM Plex Sans" pitchFamily="34" charset="-120"/>
              </a:rPr>
              <a:t>VOIS AI Assistant · Client update · Week 13 of 21</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A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00000"/>
                </a:solidFill>
                <a:latin typeface="IBM Plex Sans" pitchFamily="34" charset="0"/>
                <a:ea typeface="IBM Plex Sans" pitchFamily="34" charset="-122"/>
                <a:cs typeface="IBM Plex Sans" pitchFamily="34" charset="-120"/>
              </a:rPr>
              <a:t>02 · STATUS AT WEEK 13</a:t>
            </a:r>
            <a:endParaRPr lang="en-US" sz="1200" dirty="0"/>
          </a:p>
        </p:txBody>
      </p:sp>
      <p:sp>
        <p:nvSpPr>
          <p:cNvPr id="3" name="Text 1"/>
          <p:cNvSpPr>
            <a:spLocks noGrp="1"/>
          </p:cNvSpPr>
          <p:nvPr>
            <p:ph type="title"/>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F2226"/>
                </a:solidFill>
                <a:latin typeface="Rubik" pitchFamily="34" charset="0"/>
                <a:ea typeface="Rubik" pitchFamily="34" charset="-122"/>
                <a:cs typeface="Rubik" pitchFamily="34" charset="-120"/>
              </a:rPr>
              <a:t>Cost pressure sits in M3 integration</a:t>
            </a:r>
            <a:endParaRPr lang="en-US" sz="3200" dirty="0"/>
          </a:p>
        </p:txBody>
      </p:sp>
      <p:sp>
        <p:nvSpPr>
          <p:cNvPr id="4" name="Shape 2"/>
          <p:cNvSpPr/>
          <p:nvPr/>
        </p:nvSpPr>
        <p:spPr>
          <a:xfrm>
            <a:off x="7791152" y="1779091"/>
            <a:ext cx="177800" cy="177800"/>
          </a:xfrm>
          <a:prstGeom prst="rect">
            <a:avLst/>
          </a:prstGeom>
          <a:solidFill>
            <a:srgbClr val="4A4F55"/>
          </a:solidFill>
          <a:ln/>
        </p:spPr>
        <p:txBody>
          <a:bodyPr/>
          <a:lstStyle/>
          <a:p>
            <a:endParaRPr lang="en-US"/>
          </a:p>
        </p:txBody>
      </p:sp>
      <p:sp>
        <p:nvSpPr>
          <p:cNvPr id="5" name="Text 3"/>
          <p:cNvSpPr/>
          <p:nvPr/>
        </p:nvSpPr>
        <p:spPr>
          <a:xfrm>
            <a:off x="8045152" y="1752501"/>
            <a:ext cx="638651"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A3E43"/>
                </a:solidFill>
                <a:latin typeface="IBM Plex Sans" pitchFamily="34" charset="0"/>
                <a:ea typeface="IBM Plex Sans" pitchFamily="34" charset="-122"/>
                <a:cs typeface="IBM Plex Sans" pitchFamily="34" charset="-120"/>
              </a:rPr>
              <a:t>Budget</a:t>
            </a:r>
            <a:endParaRPr lang="en-US" sz="1300" dirty="0"/>
          </a:p>
        </p:txBody>
      </p:sp>
      <p:sp>
        <p:nvSpPr>
          <p:cNvPr id="6" name="Shape 4"/>
          <p:cNvSpPr/>
          <p:nvPr/>
        </p:nvSpPr>
        <p:spPr>
          <a:xfrm>
            <a:off x="8831362" y="1779091"/>
            <a:ext cx="177800" cy="177800"/>
          </a:xfrm>
          <a:prstGeom prst="rect">
            <a:avLst/>
          </a:prstGeom>
          <a:solidFill>
            <a:srgbClr val="E60000"/>
          </a:solidFill>
          <a:ln/>
        </p:spPr>
        <p:txBody>
          <a:bodyPr/>
          <a:lstStyle/>
          <a:p>
            <a:endParaRPr lang="en-US"/>
          </a:p>
        </p:txBody>
      </p:sp>
      <p:sp>
        <p:nvSpPr>
          <p:cNvPr id="7" name="Text 5"/>
          <p:cNvSpPr/>
          <p:nvPr/>
        </p:nvSpPr>
        <p:spPr>
          <a:xfrm>
            <a:off x="9085362" y="1752501"/>
            <a:ext cx="115371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A3E43"/>
                </a:solidFill>
                <a:latin typeface="IBM Plex Sans" pitchFamily="34" charset="0"/>
                <a:ea typeface="IBM Plex Sans" pitchFamily="34" charset="-122"/>
                <a:cs typeface="IBM Plex Sans" pitchFamily="34" charset="-120"/>
              </a:rPr>
              <a:t>Earned value</a:t>
            </a:r>
            <a:endParaRPr lang="en-US" sz="1300" dirty="0"/>
          </a:p>
        </p:txBody>
      </p:sp>
      <p:sp>
        <p:nvSpPr>
          <p:cNvPr id="8" name="Shape 6"/>
          <p:cNvSpPr/>
          <p:nvPr/>
        </p:nvSpPr>
        <p:spPr>
          <a:xfrm>
            <a:off x="10300791" y="1779091"/>
            <a:ext cx="177800" cy="177800"/>
          </a:xfrm>
          <a:prstGeom prst="rect">
            <a:avLst/>
          </a:prstGeom>
          <a:solidFill>
            <a:srgbClr val="F0A33C"/>
          </a:solidFill>
          <a:ln/>
        </p:spPr>
        <p:txBody>
          <a:bodyPr/>
          <a:lstStyle/>
          <a:p>
            <a:endParaRPr lang="en-US"/>
          </a:p>
        </p:txBody>
      </p:sp>
      <p:sp>
        <p:nvSpPr>
          <p:cNvPr id="9" name="Text 7"/>
          <p:cNvSpPr/>
          <p:nvPr/>
        </p:nvSpPr>
        <p:spPr>
          <a:xfrm>
            <a:off x="10554791" y="1752501"/>
            <a:ext cx="98929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A3E43"/>
                </a:solidFill>
                <a:latin typeface="IBM Plex Sans" pitchFamily="34" charset="0"/>
                <a:ea typeface="IBM Plex Sans" pitchFamily="34" charset="-122"/>
                <a:cs typeface="IBM Plex Sans" pitchFamily="34" charset="-120"/>
              </a:rPr>
              <a:t>Actual cost</a:t>
            </a:r>
            <a:endParaRPr lang="en-US" sz="1300" dirty="0"/>
          </a:p>
        </p:txBody>
      </p:sp>
      <p:sp>
        <p:nvSpPr>
          <p:cNvPr id="10" name="Shape 8"/>
          <p:cNvSpPr/>
          <p:nvPr/>
        </p:nvSpPr>
        <p:spPr>
          <a:xfrm>
            <a:off x="812800" y="4870252"/>
            <a:ext cx="10566400" cy="0"/>
          </a:xfrm>
          <a:prstGeom prst="line">
            <a:avLst/>
          </a:prstGeom>
          <a:noFill/>
          <a:ln w="12700">
            <a:solidFill>
              <a:srgbClr val="8A9096"/>
            </a:solidFill>
            <a:prstDash val="solid"/>
          </a:ln>
        </p:spPr>
        <p:txBody>
          <a:bodyPr/>
          <a:lstStyle/>
          <a:p>
            <a:endParaRPr lang="en-US"/>
          </a:p>
        </p:txBody>
      </p:sp>
      <p:sp>
        <p:nvSpPr>
          <p:cNvPr id="11" name="Text 9"/>
          <p:cNvSpPr/>
          <p:nvPr/>
        </p:nvSpPr>
        <p:spPr>
          <a:xfrm>
            <a:off x="1070243" y="2872581"/>
            <a:ext cx="378976"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3A3E43"/>
                </a:solidFill>
                <a:latin typeface="IBM Plex Sans" pitchFamily="34" charset="0"/>
                <a:ea typeface="IBM Plex Sans" pitchFamily="34" charset="-122"/>
                <a:cs typeface="IBM Plex Sans" pitchFamily="34" charset="-120"/>
              </a:rPr>
              <a:t>17.0</a:t>
            </a:r>
            <a:endParaRPr lang="en-US" sz="1200" dirty="0"/>
          </a:p>
        </p:txBody>
      </p:sp>
      <p:sp>
        <p:nvSpPr>
          <p:cNvPr id="12" name="Shape 10"/>
          <p:cNvSpPr/>
          <p:nvPr/>
        </p:nvSpPr>
        <p:spPr>
          <a:xfrm>
            <a:off x="980380" y="3136702"/>
            <a:ext cx="558800" cy="1727200"/>
          </a:xfrm>
          <a:prstGeom prst="rect">
            <a:avLst/>
          </a:prstGeom>
          <a:solidFill>
            <a:srgbClr val="4A4F55"/>
          </a:solidFill>
          <a:ln/>
        </p:spPr>
        <p:txBody>
          <a:bodyPr/>
          <a:lstStyle/>
          <a:p>
            <a:endParaRPr lang="en-US"/>
          </a:p>
        </p:txBody>
      </p:sp>
      <p:sp>
        <p:nvSpPr>
          <p:cNvPr id="13" name="Text 11"/>
          <p:cNvSpPr/>
          <p:nvPr/>
        </p:nvSpPr>
        <p:spPr>
          <a:xfrm>
            <a:off x="1679843" y="2872581"/>
            <a:ext cx="378976"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3A3E43"/>
                </a:solidFill>
                <a:latin typeface="IBM Plex Sans" pitchFamily="34" charset="0"/>
                <a:ea typeface="IBM Plex Sans" pitchFamily="34" charset="-122"/>
                <a:cs typeface="IBM Plex Sans" pitchFamily="34" charset="-120"/>
              </a:rPr>
              <a:t>17.0</a:t>
            </a:r>
            <a:endParaRPr lang="en-US" sz="1200" dirty="0"/>
          </a:p>
        </p:txBody>
      </p:sp>
      <p:sp>
        <p:nvSpPr>
          <p:cNvPr id="14" name="Shape 12"/>
          <p:cNvSpPr/>
          <p:nvPr/>
        </p:nvSpPr>
        <p:spPr>
          <a:xfrm>
            <a:off x="1589980" y="3136702"/>
            <a:ext cx="558800" cy="1727200"/>
          </a:xfrm>
          <a:prstGeom prst="rect">
            <a:avLst/>
          </a:prstGeom>
          <a:solidFill>
            <a:srgbClr val="E60000"/>
          </a:solidFill>
          <a:ln/>
        </p:spPr>
        <p:txBody>
          <a:bodyPr/>
          <a:lstStyle/>
          <a:p>
            <a:endParaRPr lang="en-US"/>
          </a:p>
        </p:txBody>
      </p:sp>
      <p:sp>
        <p:nvSpPr>
          <p:cNvPr id="15" name="Text 13"/>
          <p:cNvSpPr/>
          <p:nvPr/>
        </p:nvSpPr>
        <p:spPr>
          <a:xfrm>
            <a:off x="2289443" y="2942431"/>
            <a:ext cx="378976"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3A3E43"/>
                </a:solidFill>
                <a:latin typeface="IBM Plex Sans" pitchFamily="34" charset="0"/>
                <a:ea typeface="IBM Plex Sans" pitchFamily="34" charset="-122"/>
                <a:cs typeface="IBM Plex Sans" pitchFamily="34" charset="-120"/>
              </a:rPr>
              <a:t>16.3</a:t>
            </a:r>
            <a:endParaRPr lang="en-US" sz="1200" dirty="0"/>
          </a:p>
        </p:txBody>
      </p:sp>
      <p:sp>
        <p:nvSpPr>
          <p:cNvPr id="16" name="Shape 14"/>
          <p:cNvSpPr/>
          <p:nvPr/>
        </p:nvSpPr>
        <p:spPr>
          <a:xfrm>
            <a:off x="2199580" y="3206552"/>
            <a:ext cx="558800" cy="1657350"/>
          </a:xfrm>
          <a:prstGeom prst="rect">
            <a:avLst/>
          </a:prstGeom>
          <a:solidFill>
            <a:srgbClr val="F0A33C"/>
          </a:solidFill>
          <a:ln/>
        </p:spPr>
        <p:txBody>
          <a:bodyPr/>
          <a:lstStyle/>
          <a:p>
            <a:endParaRPr lang="en-US"/>
          </a:p>
        </p:txBody>
      </p:sp>
      <p:sp>
        <p:nvSpPr>
          <p:cNvPr id="17" name="Text 15"/>
          <p:cNvSpPr/>
          <p:nvPr/>
        </p:nvSpPr>
        <p:spPr>
          <a:xfrm>
            <a:off x="3183503" y="2840831"/>
            <a:ext cx="378976"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3A3E43"/>
                </a:solidFill>
                <a:latin typeface="IBM Plex Sans" pitchFamily="34" charset="0"/>
                <a:ea typeface="IBM Plex Sans" pitchFamily="34" charset="-122"/>
                <a:cs typeface="IBM Plex Sans" pitchFamily="34" charset="-120"/>
              </a:rPr>
              <a:t>17.3</a:t>
            </a:r>
            <a:endParaRPr lang="en-US" sz="1200" dirty="0"/>
          </a:p>
        </p:txBody>
      </p:sp>
      <p:sp>
        <p:nvSpPr>
          <p:cNvPr id="18" name="Shape 16"/>
          <p:cNvSpPr/>
          <p:nvPr/>
        </p:nvSpPr>
        <p:spPr>
          <a:xfrm>
            <a:off x="3093641" y="3104952"/>
            <a:ext cx="558800" cy="1758950"/>
          </a:xfrm>
          <a:prstGeom prst="rect">
            <a:avLst/>
          </a:prstGeom>
          <a:solidFill>
            <a:srgbClr val="4A4F55"/>
          </a:solidFill>
          <a:ln/>
        </p:spPr>
        <p:txBody>
          <a:bodyPr/>
          <a:lstStyle/>
          <a:p>
            <a:endParaRPr lang="en-US"/>
          </a:p>
        </p:txBody>
      </p:sp>
      <p:sp>
        <p:nvSpPr>
          <p:cNvPr id="19" name="Text 17"/>
          <p:cNvSpPr/>
          <p:nvPr/>
        </p:nvSpPr>
        <p:spPr>
          <a:xfrm>
            <a:off x="3793103" y="2840831"/>
            <a:ext cx="378976"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3A3E43"/>
                </a:solidFill>
                <a:latin typeface="IBM Plex Sans" pitchFamily="34" charset="0"/>
                <a:ea typeface="IBM Plex Sans" pitchFamily="34" charset="-122"/>
                <a:cs typeface="IBM Plex Sans" pitchFamily="34" charset="-120"/>
              </a:rPr>
              <a:t>17.3</a:t>
            </a:r>
            <a:endParaRPr lang="en-US" sz="1200" dirty="0"/>
          </a:p>
        </p:txBody>
      </p:sp>
      <p:sp>
        <p:nvSpPr>
          <p:cNvPr id="20" name="Shape 18"/>
          <p:cNvSpPr/>
          <p:nvPr/>
        </p:nvSpPr>
        <p:spPr>
          <a:xfrm>
            <a:off x="3703241" y="3104952"/>
            <a:ext cx="558800" cy="1758950"/>
          </a:xfrm>
          <a:prstGeom prst="rect">
            <a:avLst/>
          </a:prstGeom>
          <a:solidFill>
            <a:srgbClr val="E60000"/>
          </a:solidFill>
          <a:ln/>
        </p:spPr>
        <p:txBody>
          <a:bodyPr/>
          <a:lstStyle/>
          <a:p>
            <a:endParaRPr lang="en-US"/>
          </a:p>
        </p:txBody>
      </p:sp>
      <p:sp>
        <p:nvSpPr>
          <p:cNvPr id="21" name="Text 19"/>
          <p:cNvSpPr/>
          <p:nvPr/>
        </p:nvSpPr>
        <p:spPr>
          <a:xfrm>
            <a:off x="4402703" y="2783681"/>
            <a:ext cx="378976"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3A3E43"/>
                </a:solidFill>
                <a:latin typeface="IBM Plex Sans" pitchFamily="34" charset="0"/>
                <a:ea typeface="IBM Plex Sans" pitchFamily="34" charset="-122"/>
                <a:cs typeface="IBM Plex Sans" pitchFamily="34" charset="-120"/>
              </a:rPr>
              <a:t>17.9</a:t>
            </a:r>
            <a:endParaRPr lang="en-US" sz="1200" dirty="0"/>
          </a:p>
        </p:txBody>
      </p:sp>
      <p:sp>
        <p:nvSpPr>
          <p:cNvPr id="22" name="Shape 20"/>
          <p:cNvSpPr/>
          <p:nvPr/>
        </p:nvSpPr>
        <p:spPr>
          <a:xfrm>
            <a:off x="4312841" y="3047802"/>
            <a:ext cx="558800" cy="1816100"/>
          </a:xfrm>
          <a:prstGeom prst="rect">
            <a:avLst/>
          </a:prstGeom>
          <a:solidFill>
            <a:srgbClr val="F0A33C"/>
          </a:solidFill>
          <a:ln/>
        </p:spPr>
        <p:txBody>
          <a:bodyPr/>
          <a:lstStyle/>
          <a:p>
            <a:endParaRPr lang="en-US"/>
          </a:p>
        </p:txBody>
      </p:sp>
      <p:sp>
        <p:nvSpPr>
          <p:cNvPr id="23" name="Text 21"/>
          <p:cNvSpPr/>
          <p:nvPr/>
        </p:nvSpPr>
        <p:spPr>
          <a:xfrm>
            <a:off x="5296763" y="2193131"/>
            <a:ext cx="378976"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3A3E43"/>
                </a:solidFill>
                <a:latin typeface="IBM Plex Sans" pitchFamily="34" charset="0"/>
                <a:ea typeface="IBM Plex Sans" pitchFamily="34" charset="-122"/>
                <a:cs typeface="IBM Plex Sans" pitchFamily="34" charset="-120"/>
              </a:rPr>
              <a:t>23.7</a:t>
            </a:r>
            <a:endParaRPr lang="en-US" sz="1200" dirty="0"/>
          </a:p>
        </p:txBody>
      </p:sp>
      <p:sp>
        <p:nvSpPr>
          <p:cNvPr id="24" name="Shape 22"/>
          <p:cNvSpPr/>
          <p:nvPr/>
        </p:nvSpPr>
        <p:spPr>
          <a:xfrm>
            <a:off x="5206901" y="2457252"/>
            <a:ext cx="558800" cy="2406650"/>
          </a:xfrm>
          <a:prstGeom prst="rect">
            <a:avLst/>
          </a:prstGeom>
          <a:solidFill>
            <a:srgbClr val="4A4F55"/>
          </a:solidFill>
          <a:ln/>
        </p:spPr>
        <p:txBody>
          <a:bodyPr/>
          <a:lstStyle/>
          <a:p>
            <a:endParaRPr lang="en-US"/>
          </a:p>
        </p:txBody>
      </p:sp>
      <p:sp>
        <p:nvSpPr>
          <p:cNvPr id="25" name="Text 23"/>
          <p:cNvSpPr/>
          <p:nvPr/>
        </p:nvSpPr>
        <p:spPr>
          <a:xfrm>
            <a:off x="5906363" y="2580481"/>
            <a:ext cx="378976"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3A3E43"/>
                </a:solidFill>
                <a:latin typeface="IBM Plex Sans" pitchFamily="34" charset="0"/>
                <a:ea typeface="IBM Plex Sans" pitchFamily="34" charset="-122"/>
                <a:cs typeface="IBM Plex Sans" pitchFamily="34" charset="-120"/>
              </a:rPr>
              <a:t>19.9</a:t>
            </a:r>
            <a:endParaRPr lang="en-US" sz="1200" dirty="0"/>
          </a:p>
        </p:txBody>
      </p:sp>
      <p:sp>
        <p:nvSpPr>
          <p:cNvPr id="26" name="Shape 24"/>
          <p:cNvSpPr/>
          <p:nvPr/>
        </p:nvSpPr>
        <p:spPr>
          <a:xfrm>
            <a:off x="5816501" y="2844602"/>
            <a:ext cx="558800" cy="2019300"/>
          </a:xfrm>
          <a:prstGeom prst="rect">
            <a:avLst/>
          </a:prstGeom>
          <a:solidFill>
            <a:srgbClr val="E60000"/>
          </a:solidFill>
          <a:ln/>
        </p:spPr>
        <p:txBody>
          <a:bodyPr/>
          <a:lstStyle/>
          <a:p>
            <a:endParaRPr lang="en-US"/>
          </a:p>
        </p:txBody>
      </p:sp>
      <p:sp>
        <p:nvSpPr>
          <p:cNvPr id="27" name="Text 25"/>
          <p:cNvSpPr/>
          <p:nvPr/>
        </p:nvSpPr>
        <p:spPr>
          <a:xfrm>
            <a:off x="6513463" y="2345531"/>
            <a:ext cx="383977"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9A5205"/>
                </a:solidFill>
                <a:latin typeface="IBM Plex Sans" pitchFamily="34" charset="0"/>
                <a:ea typeface="IBM Plex Sans" pitchFamily="34" charset="-122"/>
                <a:cs typeface="IBM Plex Sans" pitchFamily="34" charset="-120"/>
              </a:rPr>
              <a:t>22.2</a:t>
            </a:r>
            <a:endParaRPr lang="en-US" sz="1200" dirty="0"/>
          </a:p>
        </p:txBody>
      </p:sp>
      <p:sp>
        <p:nvSpPr>
          <p:cNvPr id="28" name="Shape 26"/>
          <p:cNvSpPr/>
          <p:nvPr/>
        </p:nvSpPr>
        <p:spPr>
          <a:xfrm>
            <a:off x="6426101" y="2609652"/>
            <a:ext cx="558800" cy="2254250"/>
          </a:xfrm>
          <a:prstGeom prst="rect">
            <a:avLst/>
          </a:prstGeom>
          <a:solidFill>
            <a:srgbClr val="F0A33C"/>
          </a:solidFill>
          <a:ln/>
        </p:spPr>
        <p:txBody>
          <a:bodyPr/>
          <a:lstStyle/>
          <a:p>
            <a:endParaRPr lang="en-US"/>
          </a:p>
        </p:txBody>
      </p:sp>
      <p:sp>
        <p:nvSpPr>
          <p:cNvPr id="29" name="Text 27"/>
          <p:cNvSpPr/>
          <p:nvPr/>
        </p:nvSpPr>
        <p:spPr>
          <a:xfrm>
            <a:off x="7410123" y="2193131"/>
            <a:ext cx="378976"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3A3E43"/>
                </a:solidFill>
                <a:latin typeface="IBM Plex Sans" pitchFamily="34" charset="0"/>
                <a:ea typeface="IBM Plex Sans" pitchFamily="34" charset="-122"/>
                <a:cs typeface="IBM Plex Sans" pitchFamily="34" charset="-120"/>
              </a:rPr>
              <a:t>23.7</a:t>
            </a:r>
            <a:endParaRPr lang="en-US" sz="1200" dirty="0"/>
          </a:p>
        </p:txBody>
      </p:sp>
      <p:sp>
        <p:nvSpPr>
          <p:cNvPr id="30" name="Shape 28"/>
          <p:cNvSpPr/>
          <p:nvPr/>
        </p:nvSpPr>
        <p:spPr>
          <a:xfrm>
            <a:off x="7320260" y="2457252"/>
            <a:ext cx="558800" cy="2406650"/>
          </a:xfrm>
          <a:prstGeom prst="rect">
            <a:avLst/>
          </a:prstGeom>
          <a:solidFill>
            <a:srgbClr val="4A4F55"/>
          </a:solidFill>
          <a:ln/>
        </p:spPr>
        <p:txBody>
          <a:bodyPr/>
          <a:lstStyle/>
          <a:p>
            <a:endParaRPr lang="en-US"/>
          </a:p>
        </p:txBody>
      </p:sp>
      <p:sp>
        <p:nvSpPr>
          <p:cNvPr id="31" name="Text 29"/>
          <p:cNvSpPr/>
          <p:nvPr/>
        </p:nvSpPr>
        <p:spPr>
          <a:xfrm>
            <a:off x="8071644" y="4377531"/>
            <a:ext cx="275134"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3A3E43"/>
                </a:solidFill>
                <a:latin typeface="IBM Plex Sans" pitchFamily="34" charset="0"/>
                <a:ea typeface="IBM Plex Sans" pitchFamily="34" charset="-122"/>
                <a:cs typeface="IBM Plex Sans" pitchFamily="34" charset="-120"/>
              </a:rPr>
              <a:t>2.2</a:t>
            </a:r>
            <a:endParaRPr lang="en-US" sz="1200" dirty="0"/>
          </a:p>
        </p:txBody>
      </p:sp>
      <p:sp>
        <p:nvSpPr>
          <p:cNvPr id="32" name="Shape 30"/>
          <p:cNvSpPr/>
          <p:nvPr/>
        </p:nvSpPr>
        <p:spPr>
          <a:xfrm>
            <a:off x="7929860" y="4641652"/>
            <a:ext cx="558800" cy="222250"/>
          </a:xfrm>
          <a:prstGeom prst="rect">
            <a:avLst/>
          </a:prstGeom>
          <a:solidFill>
            <a:srgbClr val="E60000"/>
          </a:solidFill>
          <a:ln/>
        </p:spPr>
        <p:txBody>
          <a:bodyPr/>
          <a:lstStyle/>
          <a:p>
            <a:endParaRPr lang="en-US"/>
          </a:p>
        </p:txBody>
      </p:sp>
      <p:sp>
        <p:nvSpPr>
          <p:cNvPr id="33" name="Text 31"/>
          <p:cNvSpPr/>
          <p:nvPr/>
        </p:nvSpPr>
        <p:spPr>
          <a:xfrm>
            <a:off x="8681244" y="4377531"/>
            <a:ext cx="275134"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3A3E43"/>
                </a:solidFill>
                <a:latin typeface="IBM Plex Sans" pitchFamily="34" charset="0"/>
                <a:ea typeface="IBM Plex Sans" pitchFamily="34" charset="-122"/>
                <a:cs typeface="IBM Plex Sans" pitchFamily="34" charset="-120"/>
              </a:rPr>
              <a:t>2.2</a:t>
            </a:r>
            <a:endParaRPr lang="en-US" sz="1200" dirty="0"/>
          </a:p>
        </p:txBody>
      </p:sp>
      <p:sp>
        <p:nvSpPr>
          <p:cNvPr id="34" name="Shape 32"/>
          <p:cNvSpPr/>
          <p:nvPr/>
        </p:nvSpPr>
        <p:spPr>
          <a:xfrm>
            <a:off x="8539460" y="4641652"/>
            <a:ext cx="558800" cy="222250"/>
          </a:xfrm>
          <a:prstGeom prst="rect">
            <a:avLst/>
          </a:prstGeom>
          <a:solidFill>
            <a:srgbClr val="F0A33C"/>
          </a:solidFill>
          <a:ln/>
        </p:spPr>
        <p:txBody>
          <a:bodyPr/>
          <a:lstStyle/>
          <a:p>
            <a:endParaRPr lang="en-US"/>
          </a:p>
        </p:txBody>
      </p:sp>
      <p:sp>
        <p:nvSpPr>
          <p:cNvPr id="35" name="Text 33"/>
          <p:cNvSpPr/>
          <p:nvPr/>
        </p:nvSpPr>
        <p:spPr>
          <a:xfrm>
            <a:off x="9523383" y="2161381"/>
            <a:ext cx="378976"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3A3E43"/>
                </a:solidFill>
                <a:latin typeface="IBM Plex Sans" pitchFamily="34" charset="0"/>
                <a:ea typeface="IBM Plex Sans" pitchFamily="34" charset="-122"/>
                <a:cs typeface="IBM Plex Sans" pitchFamily="34" charset="-120"/>
              </a:rPr>
              <a:t>24.0</a:t>
            </a:r>
            <a:endParaRPr lang="en-US" sz="1200" dirty="0"/>
          </a:p>
        </p:txBody>
      </p:sp>
      <p:sp>
        <p:nvSpPr>
          <p:cNvPr id="36" name="Shape 34"/>
          <p:cNvSpPr/>
          <p:nvPr/>
        </p:nvSpPr>
        <p:spPr>
          <a:xfrm>
            <a:off x="9433520" y="2425502"/>
            <a:ext cx="558800" cy="2438400"/>
          </a:xfrm>
          <a:prstGeom prst="rect">
            <a:avLst/>
          </a:prstGeom>
          <a:solidFill>
            <a:srgbClr val="4A4F55"/>
          </a:solidFill>
          <a:ln/>
        </p:spPr>
        <p:txBody>
          <a:bodyPr/>
          <a:lstStyle/>
          <a:p>
            <a:endParaRPr lang="en-US"/>
          </a:p>
        </p:txBody>
      </p:sp>
      <p:sp>
        <p:nvSpPr>
          <p:cNvPr id="37" name="Text 35"/>
          <p:cNvSpPr/>
          <p:nvPr/>
        </p:nvSpPr>
        <p:spPr>
          <a:xfrm>
            <a:off x="10251380" y="4587081"/>
            <a:ext cx="14228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B7076"/>
                </a:solidFill>
                <a:latin typeface="IBM Plex Sans" pitchFamily="34" charset="0"/>
                <a:ea typeface="IBM Plex Sans" pitchFamily="34" charset="-122"/>
                <a:cs typeface="IBM Plex Sans" pitchFamily="34" charset="-120"/>
              </a:rPr>
              <a:t>0</a:t>
            </a:r>
            <a:endParaRPr lang="en-US" sz="1200" dirty="0"/>
          </a:p>
        </p:txBody>
      </p:sp>
      <p:sp>
        <p:nvSpPr>
          <p:cNvPr id="38" name="Shape 36"/>
          <p:cNvSpPr/>
          <p:nvPr/>
        </p:nvSpPr>
        <p:spPr>
          <a:xfrm>
            <a:off x="10043120" y="4851202"/>
            <a:ext cx="558800" cy="12700"/>
          </a:xfrm>
          <a:prstGeom prst="rect">
            <a:avLst/>
          </a:prstGeom>
          <a:solidFill>
            <a:srgbClr val="E60000"/>
          </a:solidFill>
          <a:ln/>
        </p:spPr>
        <p:txBody>
          <a:bodyPr/>
          <a:lstStyle/>
          <a:p>
            <a:endParaRPr lang="en-US"/>
          </a:p>
        </p:txBody>
      </p:sp>
      <p:sp>
        <p:nvSpPr>
          <p:cNvPr id="39" name="Text 37"/>
          <p:cNvSpPr/>
          <p:nvPr/>
        </p:nvSpPr>
        <p:spPr>
          <a:xfrm>
            <a:off x="10860980" y="4587081"/>
            <a:ext cx="14228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B7076"/>
                </a:solidFill>
                <a:latin typeface="IBM Plex Sans" pitchFamily="34" charset="0"/>
                <a:ea typeface="IBM Plex Sans" pitchFamily="34" charset="-122"/>
                <a:cs typeface="IBM Plex Sans" pitchFamily="34" charset="-120"/>
              </a:rPr>
              <a:t>0</a:t>
            </a:r>
            <a:endParaRPr lang="en-US" sz="1200" dirty="0"/>
          </a:p>
        </p:txBody>
      </p:sp>
      <p:sp>
        <p:nvSpPr>
          <p:cNvPr id="40" name="Shape 38"/>
          <p:cNvSpPr/>
          <p:nvPr/>
        </p:nvSpPr>
        <p:spPr>
          <a:xfrm>
            <a:off x="10652720" y="4851202"/>
            <a:ext cx="558800" cy="12700"/>
          </a:xfrm>
          <a:prstGeom prst="rect">
            <a:avLst/>
          </a:prstGeom>
          <a:solidFill>
            <a:srgbClr val="F0A33C"/>
          </a:solidFill>
          <a:ln/>
        </p:spPr>
        <p:txBody>
          <a:bodyPr/>
          <a:lstStyle/>
          <a:p>
            <a:endParaRPr lang="en-US"/>
          </a:p>
        </p:txBody>
      </p:sp>
      <p:sp>
        <p:nvSpPr>
          <p:cNvPr id="41" name="Text 39"/>
          <p:cNvSpPr/>
          <p:nvPr/>
        </p:nvSpPr>
        <p:spPr>
          <a:xfrm>
            <a:off x="953710" y="5054402"/>
            <a:ext cx="1831340" cy="25648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1F2226"/>
                </a:solidFill>
                <a:latin typeface="IBM Plex Sans" pitchFamily="34" charset="0"/>
                <a:ea typeface="IBM Plex Sans" pitchFamily="34" charset="-122"/>
                <a:cs typeface="IBM Plex Sans" pitchFamily="34" charset="-120"/>
              </a:rPr>
              <a:t>M1 Discovery</a:t>
            </a:r>
            <a:endParaRPr lang="en-US" sz="1300" dirty="0"/>
          </a:p>
        </p:txBody>
      </p:sp>
      <p:sp>
        <p:nvSpPr>
          <p:cNvPr id="42" name="Text 40"/>
          <p:cNvSpPr/>
          <p:nvPr/>
        </p:nvSpPr>
        <p:spPr>
          <a:xfrm>
            <a:off x="3066971" y="5054402"/>
            <a:ext cx="1831340" cy="25648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1F2226"/>
                </a:solidFill>
                <a:latin typeface="IBM Plex Sans" pitchFamily="34" charset="0"/>
                <a:ea typeface="IBM Plex Sans" pitchFamily="34" charset="-122"/>
                <a:cs typeface="IBM Plex Sans" pitchFamily="34" charset="-120"/>
              </a:rPr>
              <a:t>M2 AI foundation</a:t>
            </a:r>
            <a:endParaRPr lang="en-US" sz="1300" dirty="0"/>
          </a:p>
        </p:txBody>
      </p:sp>
      <p:sp>
        <p:nvSpPr>
          <p:cNvPr id="43" name="Text 41"/>
          <p:cNvSpPr/>
          <p:nvPr/>
        </p:nvSpPr>
        <p:spPr>
          <a:xfrm>
            <a:off x="5180231" y="5054402"/>
            <a:ext cx="1831340" cy="25648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9A5205"/>
                </a:solidFill>
                <a:latin typeface="IBM Plex Sans" pitchFamily="34" charset="0"/>
                <a:ea typeface="IBM Plex Sans" pitchFamily="34" charset="-122"/>
                <a:cs typeface="IBM Plex Sans" pitchFamily="34" charset="-120"/>
              </a:rPr>
              <a:t>M3 Integration</a:t>
            </a:r>
            <a:endParaRPr lang="en-US" sz="1300" dirty="0"/>
          </a:p>
        </p:txBody>
      </p:sp>
      <p:sp>
        <p:nvSpPr>
          <p:cNvPr id="44" name="Text 42"/>
          <p:cNvSpPr/>
          <p:nvPr/>
        </p:nvSpPr>
        <p:spPr>
          <a:xfrm>
            <a:off x="7293590" y="5054402"/>
            <a:ext cx="1831340" cy="25648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1F2226"/>
                </a:solidFill>
                <a:latin typeface="IBM Plex Sans" pitchFamily="34" charset="0"/>
                <a:ea typeface="IBM Plex Sans" pitchFamily="34" charset="-122"/>
                <a:cs typeface="IBM Plex Sans" pitchFamily="34" charset="-120"/>
              </a:rPr>
              <a:t>M4 Security &amp; QA</a:t>
            </a:r>
            <a:endParaRPr lang="en-US" sz="1300" dirty="0"/>
          </a:p>
        </p:txBody>
      </p:sp>
      <p:sp>
        <p:nvSpPr>
          <p:cNvPr id="45" name="Text 43"/>
          <p:cNvSpPr/>
          <p:nvPr/>
        </p:nvSpPr>
        <p:spPr>
          <a:xfrm>
            <a:off x="9406850" y="5054402"/>
            <a:ext cx="1831340" cy="25648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1F2226"/>
                </a:solidFill>
                <a:latin typeface="IBM Plex Sans" pitchFamily="34" charset="0"/>
                <a:ea typeface="IBM Plex Sans" pitchFamily="34" charset="-122"/>
                <a:cs typeface="IBM Plex Sans" pitchFamily="34" charset="-120"/>
              </a:rPr>
              <a:t>M5 Pilot</a:t>
            </a:r>
            <a:endParaRPr lang="en-US" sz="1300" dirty="0"/>
          </a:p>
        </p:txBody>
      </p:sp>
      <p:sp>
        <p:nvSpPr>
          <p:cNvPr id="46" name="Text 44"/>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076"/>
                </a:solidFill>
                <a:latin typeface="IBM Plex Sans" pitchFamily="34" charset="0"/>
                <a:ea typeface="IBM Plex Sans" pitchFamily="34" charset="-122"/>
                <a:cs typeface="IBM Plex Sans" pitchFamily="34" charset="-120"/>
              </a:rPr>
              <a:t>Labour, ₹ lakh, at 15 Jan 2027 · M3 earned ₹19.9 L for ₹22.2 L spent (CPI 0.90)</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3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00000"/>
                </a:solidFill>
                <a:latin typeface="IBM Plex Sans" pitchFamily="34" charset="0"/>
                <a:ea typeface="IBM Plex Sans" pitchFamily="34" charset="-122"/>
                <a:cs typeface="IBM Plex Sans" pitchFamily="34" charset="-120"/>
              </a:rPr>
              <a:t>02 · STATUS AT WEEK 13</a:t>
            </a:r>
            <a:endParaRPr lang="en-US" sz="1200" dirty="0"/>
          </a:p>
        </p:txBody>
      </p:sp>
      <p:sp>
        <p:nvSpPr>
          <p:cNvPr id="3" name="Text 1"/>
          <p:cNvSpPr>
            <a:spLocks noGrp="1"/>
          </p:cNvSpPr>
          <p:nvPr>
            <p:ph type="title"/>
          </p:nvPr>
        </p:nvSpPr>
        <p:spPr>
          <a:xfrm>
            <a:off x="812800" y="1127720"/>
            <a:ext cx="10883392" cy="919361"/>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F2226"/>
                </a:solidFill>
                <a:latin typeface="Rubik" pitchFamily="34" charset="0"/>
                <a:ea typeface="Rubik" pitchFamily="34" charset="-122"/>
                <a:cs typeface="Rubik" pitchFamily="34" charset="-120"/>
              </a:rPr>
              <a:t>Integration work is 10% over cost; the reserve covers it</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288381"/>
          <a:ext cx="6972300" cy="2701727"/>
        </p:xfrm>
        <a:graphic>
          <a:graphicData uri="http://schemas.openxmlformats.org/drawingml/2006/table">
            <a:tbl>
              <a:tblPr/>
              <a:tblGrid>
                <a:gridCol w="2300859">
                  <a:extLst>
                    <a:ext uri="{9D8B030D-6E8A-4147-A177-3AD203B41FA5}">
                      <a16:colId xmlns:a16="http://schemas.microsoft.com/office/drawing/2014/main" val="20000"/>
                    </a:ext>
                  </a:extLst>
                </a:gridCol>
                <a:gridCol w="1045845">
                  <a:extLst>
                    <a:ext uri="{9D8B030D-6E8A-4147-A177-3AD203B41FA5}">
                      <a16:colId xmlns:a16="http://schemas.microsoft.com/office/drawing/2014/main" val="20001"/>
                    </a:ext>
                  </a:extLst>
                </a:gridCol>
                <a:gridCol w="1045845">
                  <a:extLst>
                    <a:ext uri="{9D8B030D-6E8A-4147-A177-3AD203B41FA5}">
                      <a16:colId xmlns:a16="http://schemas.microsoft.com/office/drawing/2014/main" val="20002"/>
                    </a:ext>
                  </a:extLst>
                </a:gridCol>
                <a:gridCol w="1045845">
                  <a:extLst>
                    <a:ext uri="{9D8B030D-6E8A-4147-A177-3AD203B41FA5}">
                      <a16:colId xmlns:a16="http://schemas.microsoft.com/office/drawing/2014/main" val="20003"/>
                    </a:ext>
                  </a:extLst>
                </a:gridCol>
                <a:gridCol w="1533906">
                  <a:extLst>
                    <a:ext uri="{9D8B030D-6E8A-4147-A177-3AD203B41FA5}">
                      <a16:colId xmlns:a16="http://schemas.microsoft.com/office/drawing/2014/main" val="20004"/>
                    </a:ext>
                  </a:extLst>
                </a:gridCol>
              </a:tblGrid>
              <a:tr h="385961">
                <a:tc>
                  <a:txBody>
                    <a:bodyPr/>
                    <a:lstStyle/>
                    <a:p>
                      <a:pPr marL="0" indent="0">
                        <a:lnSpc>
                          <a:spcPts val="1960"/>
                        </a:lnSpc>
                        <a:buNone/>
                      </a:pPr>
                      <a:r>
                        <a:rPr lang="en-US" sz="1400" b="1" dirty="0">
                          <a:solidFill>
                            <a:srgbClr val="1F2226"/>
                          </a:solidFill>
                          <a:latin typeface="IBM Plex Sans" pitchFamily="34" charset="0"/>
                          <a:ea typeface="IBM Plex Sans" pitchFamily="34" charset="-122"/>
                          <a:cs typeface="IBM Plex Sans" pitchFamily="34" charset="-120"/>
                        </a:rPr>
                        <a:t>Phase (labour, ₹ L)</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F"/>
                      </a:solidFill>
                      <a:prstDash val="solid"/>
                      <a:round/>
                      <a:headEnd type="none" w="med" len="med"/>
                      <a:tailEnd type="none" w="med" len="med"/>
                    </a:lnL>
                    <a:lnR w="12700" cap="flat" cmpd="sng" algn="ctr">
                      <a:solidFill>
                        <a:srgbClr val="B5B4B1"/>
                      </a:solidFill>
                      <a:prstDash val="solid"/>
                      <a:round/>
                      <a:headEnd type="none" w="med" len="med"/>
                      <a:tailEnd type="none" w="med" len="med"/>
                    </a:lnR>
                    <a:lnT w="12700" cap="flat" cmpd="sng" algn="ctr">
                      <a:solidFill>
                        <a:srgbClr val="C4C2BF"/>
                      </a:solidFill>
                      <a:prstDash val="solid"/>
                      <a:round/>
                      <a:headEnd type="none" w="med" len="med"/>
                      <a:tailEnd type="none" w="med" len="med"/>
                    </a:lnT>
                    <a:lnB w="12700" cap="flat" cmpd="sng" algn="ctr">
                      <a:solidFill>
                        <a:srgbClr val="B5B4B1"/>
                      </a:solidFill>
                      <a:prstDash val="solid"/>
                      <a:round/>
                      <a:headEnd type="none" w="med" len="med"/>
                      <a:tailEnd type="none" w="med" len="med"/>
                    </a:lnB>
                    <a:solidFill>
                      <a:srgbClr val="E3E1DD"/>
                    </a:solidFill>
                  </a:tcPr>
                </a:tc>
                <a:tc>
                  <a:txBody>
                    <a:bodyPr/>
                    <a:lstStyle/>
                    <a:p>
                      <a:pPr marL="0" indent="0" algn="r">
                        <a:lnSpc>
                          <a:spcPts val="1960"/>
                        </a:lnSpc>
                        <a:buNone/>
                      </a:pPr>
                      <a:r>
                        <a:rPr lang="en-US" sz="1400" b="1" dirty="0">
                          <a:solidFill>
                            <a:srgbClr val="1F2226"/>
                          </a:solidFill>
                          <a:latin typeface="IBM Plex Sans" pitchFamily="34" charset="0"/>
                          <a:ea typeface="IBM Plex Sans" pitchFamily="34" charset="-122"/>
                          <a:cs typeface="IBM Plex Sans" pitchFamily="34" charset="-120"/>
                        </a:rPr>
                        <a:t>Budget</a:t>
                      </a:r>
                      <a:endParaRPr lang="en-US" sz="1400" dirty="0">
                        <a:latin typeface="IBM Plex Sans" charset="0"/>
                        <a:ea typeface="IBM Plex Sans" charset="0"/>
                        <a:cs typeface="IBM Plex Sans" charset="0"/>
                      </a:endParaRPr>
                    </a:p>
                  </a:txBody>
                  <a:tcPr marL="62230" marR="62230" marT="62230" marB="62230">
                    <a:lnL w="12700" cap="flat" cmpd="sng" algn="ctr">
                      <a:solidFill>
                        <a:srgbClr val="B5B4B1"/>
                      </a:solidFill>
                      <a:prstDash val="solid"/>
                      <a:round/>
                      <a:headEnd type="none" w="med" len="med"/>
                      <a:tailEnd type="none" w="med" len="med"/>
                    </a:lnL>
                    <a:lnR w="12700" cap="flat" cmpd="sng" algn="ctr">
                      <a:solidFill>
                        <a:srgbClr val="B5B4B1"/>
                      </a:solidFill>
                      <a:prstDash val="solid"/>
                      <a:round/>
                      <a:headEnd type="none" w="med" len="med"/>
                      <a:tailEnd type="none" w="med" len="med"/>
                    </a:lnR>
                    <a:lnT w="12700" cap="flat" cmpd="sng" algn="ctr">
                      <a:solidFill>
                        <a:srgbClr val="C4C2BF"/>
                      </a:solidFill>
                      <a:prstDash val="solid"/>
                      <a:round/>
                      <a:headEnd type="none" w="med" len="med"/>
                      <a:tailEnd type="none" w="med" len="med"/>
                    </a:lnT>
                    <a:lnB w="12700" cap="flat" cmpd="sng" algn="ctr">
                      <a:solidFill>
                        <a:srgbClr val="B5B4B1"/>
                      </a:solidFill>
                      <a:prstDash val="solid"/>
                      <a:round/>
                      <a:headEnd type="none" w="med" len="med"/>
                      <a:tailEnd type="none" w="med" len="med"/>
                    </a:lnB>
                    <a:solidFill>
                      <a:srgbClr val="E3E1DD"/>
                    </a:solidFill>
                  </a:tcPr>
                </a:tc>
                <a:tc>
                  <a:txBody>
                    <a:bodyPr/>
                    <a:lstStyle/>
                    <a:p>
                      <a:pPr marL="0" indent="0" algn="r">
                        <a:lnSpc>
                          <a:spcPts val="1960"/>
                        </a:lnSpc>
                        <a:buNone/>
                      </a:pPr>
                      <a:r>
                        <a:rPr lang="en-US" sz="1400" b="1" dirty="0">
                          <a:solidFill>
                            <a:srgbClr val="1F2226"/>
                          </a:solidFill>
                          <a:latin typeface="IBM Plex Sans" pitchFamily="34" charset="0"/>
                          <a:ea typeface="IBM Plex Sans" pitchFamily="34" charset="-122"/>
                          <a:cs typeface="IBM Plex Sans" pitchFamily="34" charset="-120"/>
                        </a:rPr>
                        <a:t>Earned</a:t>
                      </a:r>
                      <a:endParaRPr lang="en-US" sz="1400" dirty="0">
                        <a:latin typeface="IBM Plex Sans" charset="0"/>
                        <a:ea typeface="IBM Plex Sans" charset="0"/>
                        <a:cs typeface="IBM Plex Sans" charset="0"/>
                      </a:endParaRPr>
                    </a:p>
                  </a:txBody>
                  <a:tcPr marL="62230" marR="62230" marT="62230" marB="62230">
                    <a:lnL w="12700" cap="flat" cmpd="sng" algn="ctr">
                      <a:solidFill>
                        <a:srgbClr val="B5B4B1"/>
                      </a:solidFill>
                      <a:prstDash val="solid"/>
                      <a:round/>
                      <a:headEnd type="none" w="med" len="med"/>
                      <a:tailEnd type="none" w="med" len="med"/>
                    </a:lnL>
                    <a:lnR w="12700" cap="flat" cmpd="sng" algn="ctr">
                      <a:solidFill>
                        <a:srgbClr val="B5B4B1"/>
                      </a:solidFill>
                      <a:prstDash val="solid"/>
                      <a:round/>
                      <a:headEnd type="none" w="med" len="med"/>
                      <a:tailEnd type="none" w="med" len="med"/>
                    </a:lnR>
                    <a:lnT w="12700" cap="flat" cmpd="sng" algn="ctr">
                      <a:solidFill>
                        <a:srgbClr val="C4C2BF"/>
                      </a:solidFill>
                      <a:prstDash val="solid"/>
                      <a:round/>
                      <a:headEnd type="none" w="med" len="med"/>
                      <a:tailEnd type="none" w="med" len="med"/>
                    </a:lnT>
                    <a:lnB w="12700" cap="flat" cmpd="sng" algn="ctr">
                      <a:solidFill>
                        <a:srgbClr val="B5B4B1"/>
                      </a:solidFill>
                      <a:prstDash val="solid"/>
                      <a:round/>
                      <a:headEnd type="none" w="med" len="med"/>
                      <a:tailEnd type="none" w="med" len="med"/>
                    </a:lnB>
                    <a:solidFill>
                      <a:srgbClr val="E3E1DD"/>
                    </a:solidFill>
                  </a:tcPr>
                </a:tc>
                <a:tc>
                  <a:txBody>
                    <a:bodyPr/>
                    <a:lstStyle/>
                    <a:p>
                      <a:pPr marL="0" indent="0" algn="r">
                        <a:lnSpc>
                          <a:spcPts val="1960"/>
                        </a:lnSpc>
                        <a:buNone/>
                      </a:pPr>
                      <a:r>
                        <a:rPr lang="en-US" sz="1400" b="1" dirty="0">
                          <a:solidFill>
                            <a:srgbClr val="1F2226"/>
                          </a:solidFill>
                          <a:latin typeface="IBM Plex Sans" pitchFamily="34" charset="0"/>
                          <a:ea typeface="IBM Plex Sans" pitchFamily="34" charset="-122"/>
                          <a:cs typeface="IBM Plex Sans" pitchFamily="34" charset="-120"/>
                        </a:rPr>
                        <a:t>Actual</a:t>
                      </a:r>
                      <a:endParaRPr lang="en-US" sz="1400" dirty="0">
                        <a:latin typeface="IBM Plex Sans" charset="0"/>
                        <a:ea typeface="IBM Plex Sans" charset="0"/>
                        <a:cs typeface="IBM Plex Sans" charset="0"/>
                      </a:endParaRPr>
                    </a:p>
                  </a:txBody>
                  <a:tcPr marL="62230" marR="62230" marT="62230" marB="62230">
                    <a:lnL w="12700" cap="flat" cmpd="sng" algn="ctr">
                      <a:solidFill>
                        <a:srgbClr val="B5B4B1"/>
                      </a:solidFill>
                      <a:prstDash val="solid"/>
                      <a:round/>
                      <a:headEnd type="none" w="med" len="med"/>
                      <a:tailEnd type="none" w="med" len="med"/>
                    </a:lnL>
                    <a:lnR w="12700" cap="flat" cmpd="sng" algn="ctr">
                      <a:solidFill>
                        <a:srgbClr val="B5B4B1"/>
                      </a:solidFill>
                      <a:prstDash val="solid"/>
                      <a:round/>
                      <a:headEnd type="none" w="med" len="med"/>
                      <a:tailEnd type="none" w="med" len="med"/>
                    </a:lnR>
                    <a:lnT w="12700" cap="flat" cmpd="sng" algn="ctr">
                      <a:solidFill>
                        <a:srgbClr val="C4C2BF"/>
                      </a:solidFill>
                      <a:prstDash val="solid"/>
                      <a:round/>
                      <a:headEnd type="none" w="med" len="med"/>
                      <a:tailEnd type="none" w="med" len="med"/>
                    </a:lnT>
                    <a:lnB w="12700" cap="flat" cmpd="sng" algn="ctr">
                      <a:solidFill>
                        <a:srgbClr val="B5B4B1"/>
                      </a:solidFill>
                      <a:prstDash val="solid"/>
                      <a:round/>
                      <a:headEnd type="none" w="med" len="med"/>
                      <a:tailEnd type="none" w="med" len="med"/>
                    </a:lnB>
                    <a:solidFill>
                      <a:srgbClr val="E3E1DD"/>
                    </a:solidFill>
                  </a:tcPr>
                </a:tc>
                <a:tc>
                  <a:txBody>
                    <a:bodyPr/>
                    <a:lstStyle/>
                    <a:p>
                      <a:pPr marL="0" indent="0" algn="r">
                        <a:lnSpc>
                          <a:spcPts val="1960"/>
                        </a:lnSpc>
                        <a:buNone/>
                      </a:pPr>
                      <a:r>
                        <a:rPr lang="en-US" sz="1400" b="1" dirty="0">
                          <a:solidFill>
                            <a:srgbClr val="1F2226"/>
                          </a:solidFill>
                          <a:latin typeface="IBM Plex Sans" pitchFamily="34" charset="0"/>
                          <a:ea typeface="IBM Plex Sans" pitchFamily="34" charset="-122"/>
                          <a:cs typeface="IBM Plex Sans" pitchFamily="34" charset="-120"/>
                        </a:rPr>
                        <a:t>CPI</a:t>
                      </a:r>
                      <a:endParaRPr lang="en-US" sz="1400" dirty="0">
                        <a:latin typeface="IBM Plex Sans" charset="0"/>
                        <a:ea typeface="IBM Plex Sans" charset="0"/>
                        <a:cs typeface="IBM Plex Sans" charset="0"/>
                      </a:endParaRPr>
                    </a:p>
                  </a:txBody>
                  <a:tcPr marL="62230" marR="62230" marT="62230" marB="62230">
                    <a:lnL w="12700" cap="flat" cmpd="sng" algn="ctr">
                      <a:solidFill>
                        <a:srgbClr val="B5B4B1"/>
                      </a:solidFill>
                      <a:prstDash val="solid"/>
                      <a:round/>
                      <a:headEnd type="none" w="med" len="med"/>
                      <a:tailEnd type="none" w="med" len="med"/>
                    </a:lnL>
                    <a:lnR w="12700" cap="flat" cmpd="sng" algn="ctr">
                      <a:solidFill>
                        <a:srgbClr val="B5B4B1"/>
                      </a:solidFill>
                      <a:prstDash val="solid"/>
                      <a:round/>
                      <a:headEnd type="none" w="med" len="med"/>
                      <a:tailEnd type="none" w="med" len="med"/>
                    </a:lnR>
                    <a:lnT w="12700" cap="flat" cmpd="sng" algn="ctr">
                      <a:solidFill>
                        <a:srgbClr val="C4C2BF"/>
                      </a:solidFill>
                      <a:prstDash val="solid"/>
                      <a:round/>
                      <a:headEnd type="none" w="med" len="med"/>
                      <a:tailEnd type="none" w="med" len="med"/>
                    </a:lnT>
                    <a:lnB w="12700" cap="flat" cmpd="sng" algn="ctr">
                      <a:solidFill>
                        <a:srgbClr val="B5B4B1"/>
                      </a:solidFill>
                      <a:prstDash val="solid"/>
                      <a:round/>
                      <a:headEnd type="none" w="med" len="med"/>
                      <a:tailEnd type="none" w="med" len="med"/>
                    </a:lnB>
                    <a:solidFill>
                      <a:srgbClr val="E3E1DD"/>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1F2226"/>
                          </a:solidFill>
                          <a:latin typeface="IBM Plex Sans" pitchFamily="34" charset="0"/>
                          <a:ea typeface="IBM Plex Sans" pitchFamily="34" charset="-122"/>
                          <a:cs typeface="IBM Plex Sans" pitchFamily="34" charset="-120"/>
                        </a:rPr>
                        <a:t>M1 Discovery</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F"/>
                      </a:solidFill>
                      <a:prstDash val="solid"/>
                      <a:round/>
                      <a:headEnd type="none" w="med" len="med"/>
                      <a:tailEnd type="none" w="med" len="med"/>
                    </a:lnL>
                    <a:lnR w="12700" cap="flat" cmpd="sng" algn="ctr">
                      <a:solidFill>
                        <a:srgbClr val="C4C2BF"/>
                      </a:solidFill>
                      <a:prstDash val="solid"/>
                      <a:round/>
                      <a:headEnd type="none" w="med" len="med"/>
                      <a:tailEnd type="none" w="med" len="med"/>
                    </a:lnR>
                    <a:lnT w="12700" cap="flat" cmpd="sng" algn="ctr">
                      <a:solidFill>
                        <a:srgbClr val="B5B4B1"/>
                      </a:solidFill>
                      <a:prstDash val="solid"/>
                      <a:round/>
                      <a:headEnd type="none" w="med" len="med"/>
                      <a:tailEnd type="none" w="med" len="med"/>
                    </a:lnT>
                    <a:lnB w="12700" cap="flat" cmpd="sng" algn="ctr">
                      <a:solidFill>
                        <a:srgbClr val="C4C2BF"/>
                      </a:solidFill>
                      <a:prstDash val="solid"/>
                      <a:round/>
                      <a:headEnd type="none" w="med" len="med"/>
                      <a:tailEnd type="none" w="med" len="med"/>
                    </a:lnB>
                  </a:tcPr>
                </a:tc>
                <a:tc>
                  <a:txBody>
                    <a:bodyPr/>
                    <a:lstStyle/>
                    <a:p>
                      <a:pPr marL="0" indent="0" algn="r">
                        <a:lnSpc>
                          <a:spcPts val="1960"/>
                        </a:lnSpc>
                        <a:buNone/>
                      </a:pPr>
                      <a:r>
                        <a:rPr lang="en-US" sz="1400" dirty="0">
                          <a:solidFill>
                            <a:srgbClr val="1F2226"/>
                          </a:solidFill>
                          <a:latin typeface="IBM Plex Sans" pitchFamily="34" charset="0"/>
                          <a:ea typeface="IBM Plex Sans" pitchFamily="34" charset="-122"/>
                          <a:cs typeface="IBM Plex Sans" pitchFamily="34" charset="-120"/>
                        </a:rPr>
                        <a:t>17.0</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F"/>
                      </a:solidFill>
                      <a:prstDash val="solid"/>
                      <a:round/>
                      <a:headEnd type="none" w="med" len="med"/>
                      <a:tailEnd type="none" w="med" len="med"/>
                    </a:lnL>
                    <a:lnR w="12700" cap="flat" cmpd="sng" algn="ctr">
                      <a:solidFill>
                        <a:srgbClr val="C4C2BF"/>
                      </a:solidFill>
                      <a:prstDash val="solid"/>
                      <a:round/>
                      <a:headEnd type="none" w="med" len="med"/>
                      <a:tailEnd type="none" w="med" len="med"/>
                    </a:lnR>
                    <a:lnT w="12700" cap="flat" cmpd="sng" algn="ctr">
                      <a:solidFill>
                        <a:srgbClr val="B5B4B1"/>
                      </a:solidFill>
                      <a:prstDash val="solid"/>
                      <a:round/>
                      <a:headEnd type="none" w="med" len="med"/>
                      <a:tailEnd type="none" w="med" len="med"/>
                    </a:lnT>
                    <a:lnB w="12700" cap="flat" cmpd="sng" algn="ctr">
                      <a:solidFill>
                        <a:srgbClr val="C4C2BF"/>
                      </a:solidFill>
                      <a:prstDash val="solid"/>
                      <a:round/>
                      <a:headEnd type="none" w="med" len="med"/>
                      <a:tailEnd type="none" w="med" len="med"/>
                    </a:lnB>
                  </a:tcPr>
                </a:tc>
                <a:tc>
                  <a:txBody>
                    <a:bodyPr/>
                    <a:lstStyle/>
                    <a:p>
                      <a:pPr marL="0" indent="0" algn="r">
                        <a:lnSpc>
                          <a:spcPts val="1960"/>
                        </a:lnSpc>
                        <a:buNone/>
                      </a:pPr>
                      <a:r>
                        <a:rPr lang="en-US" sz="1400" dirty="0">
                          <a:solidFill>
                            <a:srgbClr val="1F2226"/>
                          </a:solidFill>
                          <a:latin typeface="IBM Plex Sans" pitchFamily="34" charset="0"/>
                          <a:ea typeface="IBM Plex Sans" pitchFamily="34" charset="-122"/>
                          <a:cs typeface="IBM Plex Sans" pitchFamily="34" charset="-120"/>
                        </a:rPr>
                        <a:t>17.0</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F"/>
                      </a:solidFill>
                      <a:prstDash val="solid"/>
                      <a:round/>
                      <a:headEnd type="none" w="med" len="med"/>
                      <a:tailEnd type="none" w="med" len="med"/>
                    </a:lnL>
                    <a:lnR w="12700" cap="flat" cmpd="sng" algn="ctr">
                      <a:solidFill>
                        <a:srgbClr val="C4C2BF"/>
                      </a:solidFill>
                      <a:prstDash val="solid"/>
                      <a:round/>
                      <a:headEnd type="none" w="med" len="med"/>
                      <a:tailEnd type="none" w="med" len="med"/>
                    </a:lnR>
                    <a:lnT w="12700" cap="flat" cmpd="sng" algn="ctr">
                      <a:solidFill>
                        <a:srgbClr val="B5B4B1"/>
                      </a:solidFill>
                      <a:prstDash val="solid"/>
                      <a:round/>
                      <a:headEnd type="none" w="med" len="med"/>
                      <a:tailEnd type="none" w="med" len="med"/>
                    </a:lnT>
                    <a:lnB w="12700" cap="flat" cmpd="sng" algn="ctr">
                      <a:solidFill>
                        <a:srgbClr val="C4C2BF"/>
                      </a:solidFill>
                      <a:prstDash val="solid"/>
                      <a:round/>
                      <a:headEnd type="none" w="med" len="med"/>
                      <a:tailEnd type="none" w="med" len="med"/>
                    </a:lnB>
                  </a:tcPr>
                </a:tc>
                <a:tc>
                  <a:txBody>
                    <a:bodyPr/>
                    <a:lstStyle/>
                    <a:p>
                      <a:pPr marL="0" indent="0" algn="r">
                        <a:lnSpc>
                          <a:spcPts val="1960"/>
                        </a:lnSpc>
                        <a:buNone/>
                      </a:pPr>
                      <a:r>
                        <a:rPr lang="en-US" sz="1400" dirty="0">
                          <a:solidFill>
                            <a:srgbClr val="1F2226"/>
                          </a:solidFill>
                          <a:latin typeface="IBM Plex Sans" pitchFamily="34" charset="0"/>
                          <a:ea typeface="IBM Plex Sans" pitchFamily="34" charset="-122"/>
                          <a:cs typeface="IBM Plex Sans" pitchFamily="34" charset="-120"/>
                        </a:rPr>
                        <a:t>16.3</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F"/>
                      </a:solidFill>
                      <a:prstDash val="solid"/>
                      <a:round/>
                      <a:headEnd type="none" w="med" len="med"/>
                      <a:tailEnd type="none" w="med" len="med"/>
                    </a:lnL>
                    <a:lnR w="12700" cap="flat" cmpd="sng" algn="ctr">
                      <a:solidFill>
                        <a:srgbClr val="C4C2BF"/>
                      </a:solidFill>
                      <a:prstDash val="solid"/>
                      <a:round/>
                      <a:headEnd type="none" w="med" len="med"/>
                      <a:tailEnd type="none" w="med" len="med"/>
                    </a:lnR>
                    <a:lnT w="12700" cap="flat" cmpd="sng" algn="ctr">
                      <a:solidFill>
                        <a:srgbClr val="B5B4B1"/>
                      </a:solidFill>
                      <a:prstDash val="solid"/>
                      <a:round/>
                      <a:headEnd type="none" w="med" len="med"/>
                      <a:tailEnd type="none" w="med" len="med"/>
                    </a:lnT>
                    <a:lnB w="12700" cap="flat" cmpd="sng" algn="ctr">
                      <a:solidFill>
                        <a:srgbClr val="C4C2BF"/>
                      </a:solidFill>
                      <a:prstDash val="solid"/>
                      <a:round/>
                      <a:headEnd type="none" w="med" len="med"/>
                      <a:tailEnd type="none" w="med" len="med"/>
                    </a:lnB>
                  </a:tcPr>
                </a:tc>
                <a:tc>
                  <a:txBody>
                    <a:bodyPr/>
                    <a:lstStyle/>
                    <a:p>
                      <a:pPr marL="0" indent="0" algn="r">
                        <a:lnSpc>
                          <a:spcPts val="1960"/>
                        </a:lnSpc>
                        <a:buNone/>
                      </a:pPr>
                      <a:r>
                        <a:rPr lang="en-US" sz="1400" dirty="0">
                          <a:solidFill>
                            <a:srgbClr val="1F2226"/>
                          </a:solidFill>
                          <a:latin typeface="IBM Plex Sans" pitchFamily="34" charset="0"/>
                          <a:ea typeface="IBM Plex Sans" pitchFamily="34" charset="-122"/>
                          <a:cs typeface="IBM Plex Sans" pitchFamily="34" charset="-120"/>
                        </a:rPr>
                        <a:t>1.04</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F"/>
                      </a:solidFill>
                      <a:prstDash val="solid"/>
                      <a:round/>
                      <a:headEnd type="none" w="med" len="med"/>
                      <a:tailEnd type="none" w="med" len="med"/>
                    </a:lnL>
                    <a:lnR w="12700" cap="flat" cmpd="sng" algn="ctr">
                      <a:solidFill>
                        <a:srgbClr val="C4C2BF"/>
                      </a:solidFill>
                      <a:prstDash val="solid"/>
                      <a:round/>
                      <a:headEnd type="none" w="med" len="med"/>
                      <a:tailEnd type="none" w="med" len="med"/>
                    </a:lnR>
                    <a:lnT w="12700" cap="flat" cmpd="sng" algn="ctr">
                      <a:solidFill>
                        <a:srgbClr val="B5B4B1"/>
                      </a:solidFill>
                      <a:prstDash val="solid"/>
                      <a:round/>
                      <a:headEnd type="none" w="med" len="med"/>
                      <a:tailEnd type="none" w="med" len="med"/>
                    </a:lnT>
                    <a:lnB w="12700" cap="flat" cmpd="sng" algn="ctr">
                      <a:solidFill>
                        <a:srgbClr val="C4C2BF"/>
                      </a:solidFill>
                      <a:prstDash val="solid"/>
                      <a:round/>
                      <a:headEnd type="none" w="med" len="med"/>
                      <a:tailEnd type="none" w="med" len="med"/>
                    </a:lnB>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1F2226"/>
                          </a:solidFill>
                          <a:latin typeface="IBM Plex Sans" pitchFamily="34" charset="0"/>
                          <a:ea typeface="IBM Plex Sans" pitchFamily="34" charset="-122"/>
                          <a:cs typeface="IBM Plex Sans" pitchFamily="34" charset="-120"/>
                        </a:rPr>
                        <a:t>M2 AI foundation</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F"/>
                      </a:solidFill>
                      <a:prstDash val="solid"/>
                      <a:round/>
                      <a:headEnd type="none" w="med" len="med"/>
                      <a:tailEnd type="none" w="med" len="med"/>
                    </a:lnL>
                    <a:lnR w="12700" cap="flat" cmpd="sng" algn="ctr">
                      <a:solidFill>
                        <a:srgbClr val="C8C7C6"/>
                      </a:solidFill>
                      <a:prstDash val="solid"/>
                      <a:round/>
                      <a:headEnd type="none" w="med" len="med"/>
                      <a:tailEnd type="none" w="med" len="med"/>
                    </a:lnR>
                    <a:lnT w="12700" cap="flat" cmpd="sng" algn="ctr">
                      <a:solidFill>
                        <a:srgbClr val="C4C2BF"/>
                      </a:solidFill>
                      <a:prstDash val="solid"/>
                      <a:round/>
                      <a:headEnd type="none" w="med" len="med"/>
                      <a:tailEnd type="none" w="med" len="med"/>
                    </a:lnT>
                    <a:lnB w="12700" cap="flat" cmpd="sng" algn="ctr">
                      <a:solidFill>
                        <a:srgbClr val="C8C7C6"/>
                      </a:solidFill>
                      <a:prstDash val="solid"/>
                      <a:round/>
                      <a:headEnd type="none" w="med" len="med"/>
                      <a:tailEnd type="none" w="med" len="med"/>
                    </a:lnB>
                    <a:solidFill>
                      <a:srgbClr val="FBFAF8"/>
                    </a:solidFill>
                  </a:tcPr>
                </a:tc>
                <a:tc>
                  <a:txBody>
                    <a:bodyPr/>
                    <a:lstStyle/>
                    <a:p>
                      <a:pPr marL="0" indent="0" algn="r">
                        <a:lnSpc>
                          <a:spcPts val="1960"/>
                        </a:lnSpc>
                        <a:buNone/>
                      </a:pPr>
                      <a:r>
                        <a:rPr lang="en-US" sz="1400" dirty="0">
                          <a:solidFill>
                            <a:srgbClr val="1F2226"/>
                          </a:solidFill>
                          <a:latin typeface="IBM Plex Sans" pitchFamily="34" charset="0"/>
                          <a:ea typeface="IBM Plex Sans" pitchFamily="34" charset="-122"/>
                          <a:cs typeface="IBM Plex Sans" pitchFamily="34" charset="-120"/>
                        </a:rPr>
                        <a:t>17.3</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6"/>
                      </a:solidFill>
                      <a:prstDash val="solid"/>
                      <a:round/>
                      <a:headEnd type="none" w="med" len="med"/>
                      <a:tailEnd type="none" w="med" len="med"/>
                    </a:lnL>
                    <a:lnR w="12700" cap="flat" cmpd="sng" algn="ctr">
                      <a:solidFill>
                        <a:srgbClr val="C8C7C6"/>
                      </a:solidFill>
                      <a:prstDash val="solid"/>
                      <a:round/>
                      <a:headEnd type="none" w="med" len="med"/>
                      <a:tailEnd type="none" w="med" len="med"/>
                    </a:lnR>
                    <a:lnT w="12700" cap="flat" cmpd="sng" algn="ctr">
                      <a:solidFill>
                        <a:srgbClr val="C4C2BF"/>
                      </a:solidFill>
                      <a:prstDash val="solid"/>
                      <a:round/>
                      <a:headEnd type="none" w="med" len="med"/>
                      <a:tailEnd type="none" w="med" len="med"/>
                    </a:lnT>
                    <a:lnB w="12700" cap="flat" cmpd="sng" algn="ctr">
                      <a:solidFill>
                        <a:srgbClr val="C8C7C6"/>
                      </a:solidFill>
                      <a:prstDash val="solid"/>
                      <a:round/>
                      <a:headEnd type="none" w="med" len="med"/>
                      <a:tailEnd type="none" w="med" len="med"/>
                    </a:lnB>
                    <a:solidFill>
                      <a:srgbClr val="FBFAF8"/>
                    </a:solidFill>
                  </a:tcPr>
                </a:tc>
                <a:tc>
                  <a:txBody>
                    <a:bodyPr/>
                    <a:lstStyle/>
                    <a:p>
                      <a:pPr marL="0" indent="0" algn="r">
                        <a:lnSpc>
                          <a:spcPts val="1960"/>
                        </a:lnSpc>
                        <a:buNone/>
                      </a:pPr>
                      <a:r>
                        <a:rPr lang="en-US" sz="1400" dirty="0">
                          <a:solidFill>
                            <a:srgbClr val="1F2226"/>
                          </a:solidFill>
                          <a:latin typeface="IBM Plex Sans" pitchFamily="34" charset="0"/>
                          <a:ea typeface="IBM Plex Sans" pitchFamily="34" charset="-122"/>
                          <a:cs typeface="IBM Plex Sans" pitchFamily="34" charset="-120"/>
                        </a:rPr>
                        <a:t>17.3</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6"/>
                      </a:solidFill>
                      <a:prstDash val="solid"/>
                      <a:round/>
                      <a:headEnd type="none" w="med" len="med"/>
                      <a:tailEnd type="none" w="med" len="med"/>
                    </a:lnL>
                    <a:lnR w="12700" cap="flat" cmpd="sng" algn="ctr">
                      <a:solidFill>
                        <a:srgbClr val="C8C7C6"/>
                      </a:solidFill>
                      <a:prstDash val="solid"/>
                      <a:round/>
                      <a:headEnd type="none" w="med" len="med"/>
                      <a:tailEnd type="none" w="med" len="med"/>
                    </a:lnR>
                    <a:lnT w="12700" cap="flat" cmpd="sng" algn="ctr">
                      <a:solidFill>
                        <a:srgbClr val="C4C2BF"/>
                      </a:solidFill>
                      <a:prstDash val="solid"/>
                      <a:round/>
                      <a:headEnd type="none" w="med" len="med"/>
                      <a:tailEnd type="none" w="med" len="med"/>
                    </a:lnT>
                    <a:lnB w="12700" cap="flat" cmpd="sng" algn="ctr">
                      <a:solidFill>
                        <a:srgbClr val="C8C7C6"/>
                      </a:solidFill>
                      <a:prstDash val="solid"/>
                      <a:round/>
                      <a:headEnd type="none" w="med" len="med"/>
                      <a:tailEnd type="none" w="med" len="med"/>
                    </a:lnB>
                    <a:solidFill>
                      <a:srgbClr val="FBFAF8"/>
                    </a:solidFill>
                  </a:tcPr>
                </a:tc>
                <a:tc>
                  <a:txBody>
                    <a:bodyPr/>
                    <a:lstStyle/>
                    <a:p>
                      <a:pPr marL="0" indent="0" algn="r">
                        <a:lnSpc>
                          <a:spcPts val="1960"/>
                        </a:lnSpc>
                        <a:buNone/>
                      </a:pPr>
                      <a:r>
                        <a:rPr lang="en-US" sz="1400" dirty="0">
                          <a:solidFill>
                            <a:srgbClr val="1F2226"/>
                          </a:solidFill>
                          <a:latin typeface="IBM Plex Sans" pitchFamily="34" charset="0"/>
                          <a:ea typeface="IBM Plex Sans" pitchFamily="34" charset="-122"/>
                          <a:cs typeface="IBM Plex Sans" pitchFamily="34" charset="-120"/>
                        </a:rPr>
                        <a:t>17.9</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6"/>
                      </a:solidFill>
                      <a:prstDash val="solid"/>
                      <a:round/>
                      <a:headEnd type="none" w="med" len="med"/>
                      <a:tailEnd type="none" w="med" len="med"/>
                    </a:lnL>
                    <a:lnR w="12700" cap="flat" cmpd="sng" algn="ctr">
                      <a:solidFill>
                        <a:srgbClr val="C8C7C6"/>
                      </a:solidFill>
                      <a:prstDash val="solid"/>
                      <a:round/>
                      <a:headEnd type="none" w="med" len="med"/>
                      <a:tailEnd type="none" w="med" len="med"/>
                    </a:lnR>
                    <a:lnT w="12700" cap="flat" cmpd="sng" algn="ctr">
                      <a:solidFill>
                        <a:srgbClr val="C4C2BF"/>
                      </a:solidFill>
                      <a:prstDash val="solid"/>
                      <a:round/>
                      <a:headEnd type="none" w="med" len="med"/>
                      <a:tailEnd type="none" w="med" len="med"/>
                    </a:lnT>
                    <a:lnB w="12700" cap="flat" cmpd="sng" algn="ctr">
                      <a:solidFill>
                        <a:srgbClr val="C8C7C6"/>
                      </a:solidFill>
                      <a:prstDash val="solid"/>
                      <a:round/>
                      <a:headEnd type="none" w="med" len="med"/>
                      <a:tailEnd type="none" w="med" len="med"/>
                    </a:lnB>
                    <a:solidFill>
                      <a:srgbClr val="FBFAF8"/>
                    </a:solidFill>
                  </a:tcPr>
                </a:tc>
                <a:tc>
                  <a:txBody>
                    <a:bodyPr/>
                    <a:lstStyle/>
                    <a:p>
                      <a:pPr marL="0" indent="0" algn="r">
                        <a:lnSpc>
                          <a:spcPts val="1960"/>
                        </a:lnSpc>
                        <a:buNone/>
                      </a:pPr>
                      <a:r>
                        <a:rPr lang="en-US" sz="1400" dirty="0">
                          <a:solidFill>
                            <a:srgbClr val="1F2226"/>
                          </a:solidFill>
                          <a:latin typeface="IBM Plex Sans" pitchFamily="34" charset="0"/>
                          <a:ea typeface="IBM Plex Sans" pitchFamily="34" charset="-122"/>
                          <a:cs typeface="IBM Plex Sans" pitchFamily="34" charset="-120"/>
                        </a:rPr>
                        <a:t>0.97</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6"/>
                      </a:solidFill>
                      <a:prstDash val="solid"/>
                      <a:round/>
                      <a:headEnd type="none" w="med" len="med"/>
                      <a:tailEnd type="none" w="med" len="med"/>
                    </a:lnL>
                    <a:lnR w="12700" cap="flat" cmpd="sng" algn="ctr">
                      <a:solidFill>
                        <a:srgbClr val="C8C7C6"/>
                      </a:solidFill>
                      <a:prstDash val="solid"/>
                      <a:round/>
                      <a:headEnd type="none" w="med" len="med"/>
                      <a:tailEnd type="none" w="med" len="med"/>
                    </a:lnR>
                    <a:lnT w="12700" cap="flat" cmpd="sng" algn="ctr">
                      <a:solidFill>
                        <a:srgbClr val="C4C2BF"/>
                      </a:solidFill>
                      <a:prstDash val="solid"/>
                      <a:round/>
                      <a:headEnd type="none" w="med" len="med"/>
                      <a:tailEnd type="none" w="med" len="med"/>
                    </a:lnT>
                    <a:lnB w="12700" cap="flat" cmpd="sng" algn="ctr">
                      <a:solidFill>
                        <a:srgbClr val="C8C7C6"/>
                      </a:solidFill>
                      <a:prstDash val="solid"/>
                      <a:round/>
                      <a:headEnd type="none" w="med" len="med"/>
                      <a:tailEnd type="none" w="med" len="med"/>
                    </a:lnB>
                    <a:solidFill>
                      <a:srgbClr val="FBFAF8"/>
                    </a:solidFill>
                  </a:tcPr>
                </a:tc>
                <a:extLst>
                  <a:ext uri="{0D108BD9-81ED-4DB2-BD59-A6C34878D82A}">
                    <a16:rowId xmlns:a16="http://schemas.microsoft.com/office/drawing/2014/main" val="10002"/>
                  </a:ext>
                </a:extLst>
              </a:tr>
              <a:tr h="385961">
                <a:tc>
                  <a:txBody>
                    <a:bodyPr/>
                    <a:lstStyle/>
                    <a:p>
                      <a:pPr marL="0" indent="0">
                        <a:lnSpc>
                          <a:spcPts val="1960"/>
                        </a:lnSpc>
                        <a:buNone/>
                      </a:pPr>
                      <a:r>
                        <a:rPr lang="en-US" sz="1400" dirty="0">
                          <a:solidFill>
                            <a:srgbClr val="1F2226"/>
                          </a:solidFill>
                          <a:latin typeface="IBM Plex Sans" pitchFamily="34" charset="0"/>
                          <a:ea typeface="IBM Plex Sans" pitchFamily="34" charset="-122"/>
                          <a:cs typeface="IBM Plex Sans" pitchFamily="34" charset="-120"/>
                        </a:rPr>
                        <a:t>M3 Integration</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F"/>
                      </a:solidFill>
                      <a:prstDash val="solid"/>
                      <a:round/>
                      <a:headEnd type="none" w="med" len="med"/>
                      <a:tailEnd type="none" w="med" len="med"/>
                    </a:lnL>
                    <a:lnR w="12700" cap="flat" cmpd="sng" algn="ctr">
                      <a:solidFill>
                        <a:srgbClr val="CAC2B8"/>
                      </a:solidFill>
                      <a:prstDash val="solid"/>
                      <a:round/>
                      <a:headEnd type="none" w="med" len="med"/>
                      <a:tailEnd type="none" w="med" len="med"/>
                    </a:lnR>
                    <a:lnT w="12700" cap="flat" cmpd="sng" algn="ctr">
                      <a:solidFill>
                        <a:srgbClr val="C8C7C6"/>
                      </a:solidFill>
                      <a:prstDash val="solid"/>
                      <a:round/>
                      <a:headEnd type="none" w="med" len="med"/>
                      <a:tailEnd type="none" w="med" len="med"/>
                    </a:lnT>
                    <a:lnB w="12700" cap="flat" cmpd="sng" algn="ctr">
                      <a:solidFill>
                        <a:srgbClr val="CAC2B8"/>
                      </a:solidFill>
                      <a:prstDash val="solid"/>
                      <a:round/>
                      <a:headEnd type="none" w="med" len="med"/>
                      <a:tailEnd type="none" w="med" len="med"/>
                    </a:lnB>
                    <a:solidFill>
                      <a:srgbClr val="FDF3E6"/>
                    </a:solidFill>
                  </a:tcPr>
                </a:tc>
                <a:tc>
                  <a:txBody>
                    <a:bodyPr/>
                    <a:lstStyle/>
                    <a:p>
                      <a:pPr marL="0" indent="0" algn="r">
                        <a:lnSpc>
                          <a:spcPts val="1960"/>
                        </a:lnSpc>
                        <a:buNone/>
                      </a:pPr>
                      <a:r>
                        <a:rPr lang="en-US" sz="1400" dirty="0">
                          <a:solidFill>
                            <a:srgbClr val="1F2226"/>
                          </a:solidFill>
                          <a:latin typeface="IBM Plex Sans" pitchFamily="34" charset="0"/>
                          <a:ea typeface="IBM Plex Sans" pitchFamily="34" charset="-122"/>
                          <a:cs typeface="IBM Plex Sans" pitchFamily="34" charset="-120"/>
                        </a:rPr>
                        <a:t>23.7</a:t>
                      </a:r>
                      <a:endParaRPr lang="en-US" sz="1400" dirty="0">
                        <a:latin typeface="IBM Plex Sans" charset="0"/>
                        <a:ea typeface="IBM Plex Sans" charset="0"/>
                        <a:cs typeface="IBM Plex Sans" charset="0"/>
                      </a:endParaRPr>
                    </a:p>
                  </a:txBody>
                  <a:tcPr marL="62230" marR="62230" marT="62230" marB="62230">
                    <a:lnL w="12700" cap="flat" cmpd="sng" algn="ctr">
                      <a:solidFill>
                        <a:srgbClr val="CAC2B8"/>
                      </a:solidFill>
                      <a:prstDash val="solid"/>
                      <a:round/>
                      <a:headEnd type="none" w="med" len="med"/>
                      <a:tailEnd type="none" w="med" len="med"/>
                    </a:lnL>
                    <a:lnR w="12700" cap="flat" cmpd="sng" algn="ctr">
                      <a:solidFill>
                        <a:srgbClr val="CAC2B8"/>
                      </a:solidFill>
                      <a:prstDash val="solid"/>
                      <a:round/>
                      <a:headEnd type="none" w="med" len="med"/>
                      <a:tailEnd type="none" w="med" len="med"/>
                    </a:lnR>
                    <a:lnT w="12700" cap="flat" cmpd="sng" algn="ctr">
                      <a:solidFill>
                        <a:srgbClr val="C8C7C6"/>
                      </a:solidFill>
                      <a:prstDash val="solid"/>
                      <a:round/>
                      <a:headEnd type="none" w="med" len="med"/>
                      <a:tailEnd type="none" w="med" len="med"/>
                    </a:lnT>
                    <a:lnB w="12700" cap="flat" cmpd="sng" algn="ctr">
                      <a:solidFill>
                        <a:srgbClr val="CAC2B8"/>
                      </a:solidFill>
                      <a:prstDash val="solid"/>
                      <a:round/>
                      <a:headEnd type="none" w="med" len="med"/>
                      <a:tailEnd type="none" w="med" len="med"/>
                    </a:lnB>
                    <a:solidFill>
                      <a:srgbClr val="FDF3E6"/>
                    </a:solidFill>
                  </a:tcPr>
                </a:tc>
                <a:tc>
                  <a:txBody>
                    <a:bodyPr/>
                    <a:lstStyle/>
                    <a:p>
                      <a:pPr marL="0" indent="0" algn="r">
                        <a:lnSpc>
                          <a:spcPts val="1960"/>
                        </a:lnSpc>
                        <a:buNone/>
                      </a:pPr>
                      <a:r>
                        <a:rPr lang="en-US" sz="1400" dirty="0">
                          <a:solidFill>
                            <a:srgbClr val="1F2226"/>
                          </a:solidFill>
                          <a:latin typeface="IBM Plex Sans" pitchFamily="34" charset="0"/>
                          <a:ea typeface="IBM Plex Sans" pitchFamily="34" charset="-122"/>
                          <a:cs typeface="IBM Plex Sans" pitchFamily="34" charset="-120"/>
                        </a:rPr>
                        <a:t>19.9</a:t>
                      </a:r>
                      <a:endParaRPr lang="en-US" sz="1400" dirty="0">
                        <a:latin typeface="IBM Plex Sans" charset="0"/>
                        <a:ea typeface="IBM Plex Sans" charset="0"/>
                        <a:cs typeface="IBM Plex Sans" charset="0"/>
                      </a:endParaRPr>
                    </a:p>
                  </a:txBody>
                  <a:tcPr marL="62230" marR="62230" marT="62230" marB="62230">
                    <a:lnL w="12700" cap="flat" cmpd="sng" algn="ctr">
                      <a:solidFill>
                        <a:srgbClr val="CAC2B8"/>
                      </a:solidFill>
                      <a:prstDash val="solid"/>
                      <a:round/>
                      <a:headEnd type="none" w="med" len="med"/>
                      <a:tailEnd type="none" w="med" len="med"/>
                    </a:lnL>
                    <a:lnR w="12700" cap="flat" cmpd="sng" algn="ctr">
                      <a:solidFill>
                        <a:srgbClr val="CAC2B8"/>
                      </a:solidFill>
                      <a:prstDash val="solid"/>
                      <a:round/>
                      <a:headEnd type="none" w="med" len="med"/>
                      <a:tailEnd type="none" w="med" len="med"/>
                    </a:lnR>
                    <a:lnT w="12700" cap="flat" cmpd="sng" algn="ctr">
                      <a:solidFill>
                        <a:srgbClr val="C8C7C6"/>
                      </a:solidFill>
                      <a:prstDash val="solid"/>
                      <a:round/>
                      <a:headEnd type="none" w="med" len="med"/>
                      <a:tailEnd type="none" w="med" len="med"/>
                    </a:lnT>
                    <a:lnB w="12700" cap="flat" cmpd="sng" algn="ctr">
                      <a:solidFill>
                        <a:srgbClr val="CAC2B8"/>
                      </a:solidFill>
                      <a:prstDash val="solid"/>
                      <a:round/>
                      <a:headEnd type="none" w="med" len="med"/>
                      <a:tailEnd type="none" w="med" len="med"/>
                    </a:lnB>
                    <a:solidFill>
                      <a:srgbClr val="FDF3E6"/>
                    </a:solidFill>
                  </a:tcPr>
                </a:tc>
                <a:tc>
                  <a:txBody>
                    <a:bodyPr/>
                    <a:lstStyle/>
                    <a:p>
                      <a:pPr marL="0" indent="0" algn="r">
                        <a:lnSpc>
                          <a:spcPts val="1960"/>
                        </a:lnSpc>
                        <a:buNone/>
                      </a:pPr>
                      <a:r>
                        <a:rPr lang="en-US" sz="1400" dirty="0">
                          <a:solidFill>
                            <a:srgbClr val="1F2226"/>
                          </a:solidFill>
                          <a:latin typeface="IBM Plex Sans" pitchFamily="34" charset="0"/>
                          <a:ea typeface="IBM Plex Sans" pitchFamily="34" charset="-122"/>
                          <a:cs typeface="IBM Plex Sans" pitchFamily="34" charset="-120"/>
                        </a:rPr>
                        <a:t>22.2</a:t>
                      </a:r>
                      <a:endParaRPr lang="en-US" sz="1400" dirty="0">
                        <a:latin typeface="IBM Plex Sans" charset="0"/>
                        <a:ea typeface="IBM Plex Sans" charset="0"/>
                        <a:cs typeface="IBM Plex Sans" charset="0"/>
                      </a:endParaRPr>
                    </a:p>
                  </a:txBody>
                  <a:tcPr marL="62230" marR="62230" marT="62230" marB="62230">
                    <a:lnL w="12700" cap="flat" cmpd="sng" algn="ctr">
                      <a:solidFill>
                        <a:srgbClr val="CAC2B8"/>
                      </a:solidFill>
                      <a:prstDash val="solid"/>
                      <a:round/>
                      <a:headEnd type="none" w="med" len="med"/>
                      <a:tailEnd type="none" w="med" len="med"/>
                    </a:lnL>
                    <a:lnR w="12700" cap="flat" cmpd="sng" algn="ctr">
                      <a:solidFill>
                        <a:srgbClr val="CAC2B8"/>
                      </a:solidFill>
                      <a:prstDash val="solid"/>
                      <a:round/>
                      <a:headEnd type="none" w="med" len="med"/>
                      <a:tailEnd type="none" w="med" len="med"/>
                    </a:lnR>
                    <a:lnT w="12700" cap="flat" cmpd="sng" algn="ctr">
                      <a:solidFill>
                        <a:srgbClr val="C8C7C6"/>
                      </a:solidFill>
                      <a:prstDash val="solid"/>
                      <a:round/>
                      <a:headEnd type="none" w="med" len="med"/>
                      <a:tailEnd type="none" w="med" len="med"/>
                    </a:lnT>
                    <a:lnB w="12700" cap="flat" cmpd="sng" algn="ctr">
                      <a:solidFill>
                        <a:srgbClr val="CAC2B8"/>
                      </a:solidFill>
                      <a:prstDash val="solid"/>
                      <a:round/>
                      <a:headEnd type="none" w="med" len="med"/>
                      <a:tailEnd type="none" w="med" len="med"/>
                    </a:lnB>
                    <a:solidFill>
                      <a:srgbClr val="FDF3E6"/>
                    </a:solidFill>
                  </a:tcPr>
                </a:tc>
                <a:tc>
                  <a:txBody>
                    <a:bodyPr/>
                    <a:lstStyle/>
                    <a:p>
                      <a:pPr marL="0" indent="0" algn="r">
                        <a:lnSpc>
                          <a:spcPts val="1960"/>
                        </a:lnSpc>
                        <a:buNone/>
                      </a:pPr>
                      <a:r>
                        <a:rPr lang="en-US" sz="1400" dirty="0">
                          <a:solidFill>
                            <a:srgbClr val="1F2226"/>
                          </a:solidFill>
                          <a:latin typeface="IBM Plex Sans" pitchFamily="34" charset="0"/>
                          <a:ea typeface="IBM Plex Sans" pitchFamily="34" charset="-122"/>
                          <a:cs typeface="IBM Plex Sans" pitchFamily="34" charset="-120"/>
                        </a:rPr>
                        <a:t>0.90 · over</a:t>
                      </a:r>
                      <a:endParaRPr lang="en-US" sz="1400" dirty="0">
                        <a:latin typeface="IBM Plex Sans" charset="0"/>
                        <a:ea typeface="IBM Plex Sans" charset="0"/>
                        <a:cs typeface="IBM Plex Sans" charset="0"/>
                      </a:endParaRPr>
                    </a:p>
                  </a:txBody>
                  <a:tcPr marL="62230" marR="62230" marT="62230" marB="62230">
                    <a:lnL w="12700" cap="flat" cmpd="sng" algn="ctr">
                      <a:solidFill>
                        <a:srgbClr val="CAC2B8"/>
                      </a:solidFill>
                      <a:prstDash val="solid"/>
                      <a:round/>
                      <a:headEnd type="none" w="med" len="med"/>
                      <a:tailEnd type="none" w="med" len="med"/>
                    </a:lnL>
                    <a:lnR w="12700" cap="flat" cmpd="sng" algn="ctr">
                      <a:solidFill>
                        <a:srgbClr val="CAC2B8"/>
                      </a:solidFill>
                      <a:prstDash val="solid"/>
                      <a:round/>
                      <a:headEnd type="none" w="med" len="med"/>
                      <a:tailEnd type="none" w="med" len="med"/>
                    </a:lnR>
                    <a:lnT w="12700" cap="flat" cmpd="sng" algn="ctr">
                      <a:solidFill>
                        <a:srgbClr val="C8C7C6"/>
                      </a:solidFill>
                      <a:prstDash val="solid"/>
                      <a:round/>
                      <a:headEnd type="none" w="med" len="med"/>
                      <a:tailEnd type="none" w="med" len="med"/>
                    </a:lnT>
                    <a:lnB w="12700" cap="flat" cmpd="sng" algn="ctr">
                      <a:solidFill>
                        <a:srgbClr val="CAC2B8"/>
                      </a:solidFill>
                      <a:prstDash val="solid"/>
                      <a:round/>
                      <a:headEnd type="none" w="med" len="med"/>
                      <a:tailEnd type="none" w="med" len="med"/>
                    </a:lnB>
                    <a:solidFill>
                      <a:srgbClr val="FDF3E6"/>
                    </a:solidFill>
                  </a:tcPr>
                </a:tc>
                <a:extLst>
                  <a:ext uri="{0D108BD9-81ED-4DB2-BD59-A6C34878D82A}">
                    <a16:rowId xmlns:a16="http://schemas.microsoft.com/office/drawing/2014/main" val="10003"/>
                  </a:ext>
                </a:extLst>
              </a:tr>
              <a:tr h="385961">
                <a:tc>
                  <a:txBody>
                    <a:bodyPr/>
                    <a:lstStyle/>
                    <a:p>
                      <a:pPr marL="0" indent="0">
                        <a:lnSpc>
                          <a:spcPts val="1960"/>
                        </a:lnSpc>
                        <a:buNone/>
                      </a:pPr>
                      <a:r>
                        <a:rPr lang="en-US" sz="1400" dirty="0">
                          <a:solidFill>
                            <a:srgbClr val="1F2226"/>
                          </a:solidFill>
                          <a:latin typeface="IBM Plex Sans" pitchFamily="34" charset="0"/>
                          <a:ea typeface="IBM Plex Sans" pitchFamily="34" charset="-122"/>
                          <a:cs typeface="IBM Plex Sans" pitchFamily="34" charset="-120"/>
                        </a:rPr>
                        <a:t>M4 Security &amp; QA</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F"/>
                      </a:solidFill>
                      <a:prstDash val="solid"/>
                      <a:round/>
                      <a:headEnd type="none" w="med" len="med"/>
                      <a:tailEnd type="none" w="med" len="med"/>
                    </a:lnL>
                    <a:lnR w="12700" cap="flat" cmpd="sng" algn="ctr">
                      <a:solidFill>
                        <a:srgbClr val="C8C7C6"/>
                      </a:solidFill>
                      <a:prstDash val="solid"/>
                      <a:round/>
                      <a:headEnd type="none" w="med" len="med"/>
                      <a:tailEnd type="none" w="med" len="med"/>
                    </a:lnR>
                    <a:lnT w="12700" cap="flat" cmpd="sng" algn="ctr">
                      <a:solidFill>
                        <a:srgbClr val="CAC2B8"/>
                      </a:solidFill>
                      <a:prstDash val="solid"/>
                      <a:round/>
                      <a:headEnd type="none" w="med" len="med"/>
                      <a:tailEnd type="none" w="med" len="med"/>
                    </a:lnT>
                    <a:lnB w="12700" cap="flat" cmpd="sng" algn="ctr">
                      <a:solidFill>
                        <a:srgbClr val="C8C7C6"/>
                      </a:solidFill>
                      <a:prstDash val="solid"/>
                      <a:round/>
                      <a:headEnd type="none" w="med" len="med"/>
                      <a:tailEnd type="none" w="med" len="med"/>
                    </a:lnB>
                    <a:solidFill>
                      <a:srgbClr val="FBFAF8"/>
                    </a:solidFill>
                  </a:tcPr>
                </a:tc>
                <a:tc>
                  <a:txBody>
                    <a:bodyPr/>
                    <a:lstStyle/>
                    <a:p>
                      <a:pPr marL="0" indent="0" algn="r">
                        <a:lnSpc>
                          <a:spcPts val="1960"/>
                        </a:lnSpc>
                        <a:buNone/>
                      </a:pPr>
                      <a:r>
                        <a:rPr lang="en-US" sz="1400" dirty="0">
                          <a:solidFill>
                            <a:srgbClr val="1F2226"/>
                          </a:solidFill>
                          <a:latin typeface="IBM Plex Sans" pitchFamily="34" charset="0"/>
                          <a:ea typeface="IBM Plex Sans" pitchFamily="34" charset="-122"/>
                          <a:cs typeface="IBM Plex Sans" pitchFamily="34" charset="-120"/>
                        </a:rPr>
                        <a:t>23.7</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6"/>
                      </a:solidFill>
                      <a:prstDash val="solid"/>
                      <a:round/>
                      <a:headEnd type="none" w="med" len="med"/>
                      <a:tailEnd type="none" w="med" len="med"/>
                    </a:lnL>
                    <a:lnR w="12700" cap="flat" cmpd="sng" algn="ctr">
                      <a:solidFill>
                        <a:srgbClr val="C8C7C6"/>
                      </a:solidFill>
                      <a:prstDash val="solid"/>
                      <a:round/>
                      <a:headEnd type="none" w="med" len="med"/>
                      <a:tailEnd type="none" w="med" len="med"/>
                    </a:lnR>
                    <a:lnT w="12700" cap="flat" cmpd="sng" algn="ctr">
                      <a:solidFill>
                        <a:srgbClr val="CAC2B8"/>
                      </a:solidFill>
                      <a:prstDash val="solid"/>
                      <a:round/>
                      <a:headEnd type="none" w="med" len="med"/>
                      <a:tailEnd type="none" w="med" len="med"/>
                    </a:lnT>
                    <a:lnB w="12700" cap="flat" cmpd="sng" algn="ctr">
                      <a:solidFill>
                        <a:srgbClr val="C8C7C6"/>
                      </a:solidFill>
                      <a:prstDash val="solid"/>
                      <a:round/>
                      <a:headEnd type="none" w="med" len="med"/>
                      <a:tailEnd type="none" w="med" len="med"/>
                    </a:lnB>
                    <a:solidFill>
                      <a:srgbClr val="FBFAF8"/>
                    </a:solidFill>
                  </a:tcPr>
                </a:tc>
                <a:tc>
                  <a:txBody>
                    <a:bodyPr/>
                    <a:lstStyle/>
                    <a:p>
                      <a:pPr marL="0" indent="0" algn="r">
                        <a:lnSpc>
                          <a:spcPts val="1960"/>
                        </a:lnSpc>
                        <a:buNone/>
                      </a:pPr>
                      <a:r>
                        <a:rPr lang="en-US" sz="1400" dirty="0">
                          <a:solidFill>
                            <a:srgbClr val="1F2226"/>
                          </a:solidFill>
                          <a:latin typeface="IBM Plex Sans" pitchFamily="34" charset="0"/>
                          <a:ea typeface="IBM Plex Sans" pitchFamily="34" charset="-122"/>
                          <a:cs typeface="IBM Plex Sans" pitchFamily="34" charset="-120"/>
                        </a:rPr>
                        <a:t>2.2</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6"/>
                      </a:solidFill>
                      <a:prstDash val="solid"/>
                      <a:round/>
                      <a:headEnd type="none" w="med" len="med"/>
                      <a:tailEnd type="none" w="med" len="med"/>
                    </a:lnL>
                    <a:lnR w="12700" cap="flat" cmpd="sng" algn="ctr">
                      <a:solidFill>
                        <a:srgbClr val="C8C7C6"/>
                      </a:solidFill>
                      <a:prstDash val="solid"/>
                      <a:round/>
                      <a:headEnd type="none" w="med" len="med"/>
                      <a:tailEnd type="none" w="med" len="med"/>
                    </a:lnR>
                    <a:lnT w="12700" cap="flat" cmpd="sng" algn="ctr">
                      <a:solidFill>
                        <a:srgbClr val="CAC2B8"/>
                      </a:solidFill>
                      <a:prstDash val="solid"/>
                      <a:round/>
                      <a:headEnd type="none" w="med" len="med"/>
                      <a:tailEnd type="none" w="med" len="med"/>
                    </a:lnT>
                    <a:lnB w="12700" cap="flat" cmpd="sng" algn="ctr">
                      <a:solidFill>
                        <a:srgbClr val="C8C7C6"/>
                      </a:solidFill>
                      <a:prstDash val="solid"/>
                      <a:round/>
                      <a:headEnd type="none" w="med" len="med"/>
                      <a:tailEnd type="none" w="med" len="med"/>
                    </a:lnB>
                    <a:solidFill>
                      <a:srgbClr val="FBFAF8"/>
                    </a:solidFill>
                  </a:tcPr>
                </a:tc>
                <a:tc>
                  <a:txBody>
                    <a:bodyPr/>
                    <a:lstStyle/>
                    <a:p>
                      <a:pPr marL="0" indent="0" algn="r">
                        <a:lnSpc>
                          <a:spcPts val="1960"/>
                        </a:lnSpc>
                        <a:buNone/>
                      </a:pPr>
                      <a:r>
                        <a:rPr lang="en-US" sz="1400" dirty="0">
                          <a:solidFill>
                            <a:srgbClr val="1F2226"/>
                          </a:solidFill>
                          <a:latin typeface="IBM Plex Sans" pitchFamily="34" charset="0"/>
                          <a:ea typeface="IBM Plex Sans" pitchFamily="34" charset="-122"/>
                          <a:cs typeface="IBM Plex Sans" pitchFamily="34" charset="-120"/>
                        </a:rPr>
                        <a:t>2.2</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6"/>
                      </a:solidFill>
                      <a:prstDash val="solid"/>
                      <a:round/>
                      <a:headEnd type="none" w="med" len="med"/>
                      <a:tailEnd type="none" w="med" len="med"/>
                    </a:lnL>
                    <a:lnR w="12700" cap="flat" cmpd="sng" algn="ctr">
                      <a:solidFill>
                        <a:srgbClr val="C8C7C6"/>
                      </a:solidFill>
                      <a:prstDash val="solid"/>
                      <a:round/>
                      <a:headEnd type="none" w="med" len="med"/>
                      <a:tailEnd type="none" w="med" len="med"/>
                    </a:lnR>
                    <a:lnT w="12700" cap="flat" cmpd="sng" algn="ctr">
                      <a:solidFill>
                        <a:srgbClr val="CAC2B8"/>
                      </a:solidFill>
                      <a:prstDash val="solid"/>
                      <a:round/>
                      <a:headEnd type="none" w="med" len="med"/>
                      <a:tailEnd type="none" w="med" len="med"/>
                    </a:lnT>
                    <a:lnB w="12700" cap="flat" cmpd="sng" algn="ctr">
                      <a:solidFill>
                        <a:srgbClr val="C8C7C6"/>
                      </a:solidFill>
                      <a:prstDash val="solid"/>
                      <a:round/>
                      <a:headEnd type="none" w="med" len="med"/>
                      <a:tailEnd type="none" w="med" len="med"/>
                    </a:lnB>
                    <a:solidFill>
                      <a:srgbClr val="FBFAF8"/>
                    </a:solidFill>
                  </a:tcPr>
                </a:tc>
                <a:tc>
                  <a:txBody>
                    <a:bodyPr/>
                    <a:lstStyle/>
                    <a:p>
                      <a:pPr marL="0" indent="0" algn="r">
                        <a:lnSpc>
                          <a:spcPts val="1960"/>
                        </a:lnSpc>
                        <a:buNone/>
                      </a:pPr>
                      <a:r>
                        <a:rPr lang="en-US" sz="1400" dirty="0">
                          <a:solidFill>
                            <a:srgbClr val="1F2226"/>
                          </a:solidFill>
                          <a:latin typeface="IBM Plex Sans" pitchFamily="34" charset="0"/>
                          <a:ea typeface="IBM Plex Sans" pitchFamily="34" charset="-122"/>
                          <a:cs typeface="IBM Plex Sans" pitchFamily="34" charset="-120"/>
                        </a:rPr>
                        <a:t>1.00</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6"/>
                      </a:solidFill>
                      <a:prstDash val="solid"/>
                      <a:round/>
                      <a:headEnd type="none" w="med" len="med"/>
                      <a:tailEnd type="none" w="med" len="med"/>
                    </a:lnL>
                    <a:lnR w="12700" cap="flat" cmpd="sng" algn="ctr">
                      <a:solidFill>
                        <a:srgbClr val="C8C7C6"/>
                      </a:solidFill>
                      <a:prstDash val="solid"/>
                      <a:round/>
                      <a:headEnd type="none" w="med" len="med"/>
                      <a:tailEnd type="none" w="med" len="med"/>
                    </a:lnR>
                    <a:lnT w="12700" cap="flat" cmpd="sng" algn="ctr">
                      <a:solidFill>
                        <a:srgbClr val="CAC2B8"/>
                      </a:solidFill>
                      <a:prstDash val="solid"/>
                      <a:round/>
                      <a:headEnd type="none" w="med" len="med"/>
                      <a:tailEnd type="none" w="med" len="med"/>
                    </a:lnT>
                    <a:lnB w="12700" cap="flat" cmpd="sng" algn="ctr">
                      <a:solidFill>
                        <a:srgbClr val="C8C7C6"/>
                      </a:solidFill>
                      <a:prstDash val="solid"/>
                      <a:round/>
                      <a:headEnd type="none" w="med" len="med"/>
                      <a:tailEnd type="none" w="med" len="med"/>
                    </a:lnB>
                    <a:solidFill>
                      <a:srgbClr val="FBFAF8"/>
                    </a:solidFill>
                  </a:tcPr>
                </a:tc>
                <a:extLst>
                  <a:ext uri="{0D108BD9-81ED-4DB2-BD59-A6C34878D82A}">
                    <a16:rowId xmlns:a16="http://schemas.microsoft.com/office/drawing/2014/main" val="10004"/>
                  </a:ext>
                </a:extLst>
              </a:tr>
              <a:tr h="385961">
                <a:tc>
                  <a:txBody>
                    <a:bodyPr/>
                    <a:lstStyle/>
                    <a:p>
                      <a:pPr marL="0" indent="0">
                        <a:lnSpc>
                          <a:spcPts val="1960"/>
                        </a:lnSpc>
                        <a:buNone/>
                      </a:pPr>
                      <a:r>
                        <a:rPr lang="en-US" sz="1400" dirty="0">
                          <a:solidFill>
                            <a:srgbClr val="1F2226"/>
                          </a:solidFill>
                          <a:latin typeface="IBM Plex Sans" pitchFamily="34" charset="0"/>
                          <a:ea typeface="IBM Plex Sans" pitchFamily="34" charset="-122"/>
                          <a:cs typeface="IBM Plex Sans" pitchFamily="34" charset="-120"/>
                        </a:rPr>
                        <a:t>M5 Pilot &amp; handover</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F"/>
                      </a:solidFill>
                      <a:prstDash val="solid"/>
                      <a:round/>
                      <a:headEnd type="none" w="med" len="med"/>
                      <a:tailEnd type="none" w="med" len="med"/>
                    </a:lnL>
                    <a:lnR w="12700" cap="flat" cmpd="sng" algn="ctr">
                      <a:solidFill>
                        <a:srgbClr val="C4C2BF"/>
                      </a:solidFill>
                      <a:prstDash val="solid"/>
                      <a:round/>
                      <a:headEnd type="none" w="med" len="med"/>
                      <a:tailEnd type="none" w="med" len="med"/>
                    </a:lnR>
                    <a:lnT w="12700" cap="flat" cmpd="sng" algn="ctr">
                      <a:solidFill>
                        <a:srgbClr val="C8C7C6"/>
                      </a:solidFill>
                      <a:prstDash val="solid"/>
                      <a:round/>
                      <a:headEnd type="none" w="med" len="med"/>
                      <a:tailEnd type="none" w="med" len="med"/>
                    </a:lnT>
                    <a:lnB w="12700" cap="flat" cmpd="sng" algn="ctr">
                      <a:solidFill>
                        <a:srgbClr val="C4C2BF"/>
                      </a:solidFill>
                      <a:prstDash val="solid"/>
                      <a:round/>
                      <a:headEnd type="none" w="med" len="med"/>
                      <a:tailEnd type="none" w="med" len="med"/>
                    </a:lnB>
                  </a:tcPr>
                </a:tc>
                <a:tc>
                  <a:txBody>
                    <a:bodyPr/>
                    <a:lstStyle/>
                    <a:p>
                      <a:pPr marL="0" indent="0" algn="r">
                        <a:lnSpc>
                          <a:spcPts val="1960"/>
                        </a:lnSpc>
                        <a:buNone/>
                      </a:pPr>
                      <a:r>
                        <a:rPr lang="en-US" sz="1400" dirty="0">
                          <a:solidFill>
                            <a:srgbClr val="1F2226"/>
                          </a:solidFill>
                          <a:latin typeface="IBM Plex Sans" pitchFamily="34" charset="0"/>
                          <a:ea typeface="IBM Plex Sans" pitchFamily="34" charset="-122"/>
                          <a:cs typeface="IBM Plex Sans" pitchFamily="34" charset="-120"/>
                        </a:rPr>
                        <a:t>24.0</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F"/>
                      </a:solidFill>
                      <a:prstDash val="solid"/>
                      <a:round/>
                      <a:headEnd type="none" w="med" len="med"/>
                      <a:tailEnd type="none" w="med" len="med"/>
                    </a:lnL>
                    <a:lnR w="12700" cap="flat" cmpd="sng" algn="ctr">
                      <a:solidFill>
                        <a:srgbClr val="C4C2BF"/>
                      </a:solidFill>
                      <a:prstDash val="solid"/>
                      <a:round/>
                      <a:headEnd type="none" w="med" len="med"/>
                      <a:tailEnd type="none" w="med" len="med"/>
                    </a:lnR>
                    <a:lnT w="12700" cap="flat" cmpd="sng" algn="ctr">
                      <a:solidFill>
                        <a:srgbClr val="C8C7C6"/>
                      </a:solidFill>
                      <a:prstDash val="solid"/>
                      <a:round/>
                      <a:headEnd type="none" w="med" len="med"/>
                      <a:tailEnd type="none" w="med" len="med"/>
                    </a:lnT>
                    <a:lnB w="12700" cap="flat" cmpd="sng" algn="ctr">
                      <a:solidFill>
                        <a:srgbClr val="C4C2BF"/>
                      </a:solidFill>
                      <a:prstDash val="solid"/>
                      <a:round/>
                      <a:headEnd type="none" w="med" len="med"/>
                      <a:tailEnd type="none" w="med" len="med"/>
                    </a:lnB>
                  </a:tcPr>
                </a:tc>
                <a:tc>
                  <a:txBody>
                    <a:bodyPr/>
                    <a:lstStyle/>
                    <a:p>
                      <a:pPr marL="0" indent="0" algn="r">
                        <a:lnSpc>
                          <a:spcPts val="1960"/>
                        </a:lnSpc>
                        <a:buNone/>
                      </a:pPr>
                      <a:r>
                        <a:rPr lang="en-US" sz="1400" dirty="0">
                          <a:solidFill>
                            <a:srgbClr val="1F2226"/>
                          </a:solidFill>
                          <a:latin typeface="IBM Plex Sans" pitchFamily="34" charset="0"/>
                          <a:ea typeface="IBM Plex Sans" pitchFamily="34" charset="-122"/>
                          <a:cs typeface="IBM Plex Sans" pitchFamily="34" charset="-120"/>
                        </a:rPr>
                        <a:t>0.0</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F"/>
                      </a:solidFill>
                      <a:prstDash val="solid"/>
                      <a:round/>
                      <a:headEnd type="none" w="med" len="med"/>
                      <a:tailEnd type="none" w="med" len="med"/>
                    </a:lnL>
                    <a:lnR w="12700" cap="flat" cmpd="sng" algn="ctr">
                      <a:solidFill>
                        <a:srgbClr val="C4C2BF"/>
                      </a:solidFill>
                      <a:prstDash val="solid"/>
                      <a:round/>
                      <a:headEnd type="none" w="med" len="med"/>
                      <a:tailEnd type="none" w="med" len="med"/>
                    </a:lnR>
                    <a:lnT w="12700" cap="flat" cmpd="sng" algn="ctr">
                      <a:solidFill>
                        <a:srgbClr val="C8C7C6"/>
                      </a:solidFill>
                      <a:prstDash val="solid"/>
                      <a:round/>
                      <a:headEnd type="none" w="med" len="med"/>
                      <a:tailEnd type="none" w="med" len="med"/>
                    </a:lnT>
                    <a:lnB w="12700" cap="flat" cmpd="sng" algn="ctr">
                      <a:solidFill>
                        <a:srgbClr val="C4C2BF"/>
                      </a:solidFill>
                      <a:prstDash val="solid"/>
                      <a:round/>
                      <a:headEnd type="none" w="med" len="med"/>
                      <a:tailEnd type="none" w="med" len="med"/>
                    </a:lnB>
                  </a:tcPr>
                </a:tc>
                <a:tc>
                  <a:txBody>
                    <a:bodyPr/>
                    <a:lstStyle/>
                    <a:p>
                      <a:pPr marL="0" indent="0" algn="r">
                        <a:lnSpc>
                          <a:spcPts val="1960"/>
                        </a:lnSpc>
                        <a:buNone/>
                      </a:pPr>
                      <a:r>
                        <a:rPr lang="en-US" sz="1400" dirty="0">
                          <a:solidFill>
                            <a:srgbClr val="1F2226"/>
                          </a:solidFill>
                          <a:latin typeface="IBM Plex Sans" pitchFamily="34" charset="0"/>
                          <a:ea typeface="IBM Plex Sans" pitchFamily="34" charset="-122"/>
                          <a:cs typeface="IBM Plex Sans" pitchFamily="34" charset="-120"/>
                        </a:rPr>
                        <a:t>0.0</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F"/>
                      </a:solidFill>
                      <a:prstDash val="solid"/>
                      <a:round/>
                      <a:headEnd type="none" w="med" len="med"/>
                      <a:tailEnd type="none" w="med" len="med"/>
                    </a:lnL>
                    <a:lnR w="12700" cap="flat" cmpd="sng" algn="ctr">
                      <a:solidFill>
                        <a:srgbClr val="C4C2BF"/>
                      </a:solidFill>
                      <a:prstDash val="solid"/>
                      <a:round/>
                      <a:headEnd type="none" w="med" len="med"/>
                      <a:tailEnd type="none" w="med" len="med"/>
                    </a:lnR>
                    <a:lnT w="12700" cap="flat" cmpd="sng" algn="ctr">
                      <a:solidFill>
                        <a:srgbClr val="C8C7C6"/>
                      </a:solidFill>
                      <a:prstDash val="solid"/>
                      <a:round/>
                      <a:headEnd type="none" w="med" len="med"/>
                      <a:tailEnd type="none" w="med" len="med"/>
                    </a:lnT>
                    <a:lnB w="12700" cap="flat" cmpd="sng" algn="ctr">
                      <a:solidFill>
                        <a:srgbClr val="C4C2BF"/>
                      </a:solidFill>
                      <a:prstDash val="solid"/>
                      <a:round/>
                      <a:headEnd type="none" w="med" len="med"/>
                      <a:tailEnd type="none" w="med" len="med"/>
                    </a:lnB>
                  </a:tcPr>
                </a:tc>
                <a:tc>
                  <a:txBody>
                    <a:bodyPr/>
                    <a:lstStyle/>
                    <a:p>
                      <a:pPr marL="0" indent="0" algn="r">
                        <a:lnSpc>
                          <a:spcPts val="1960"/>
                        </a:lnSpc>
                        <a:buNone/>
                      </a:pPr>
                      <a:r>
                        <a:rPr lang="en-US" sz="1400" dirty="0">
                          <a:solidFill>
                            <a:srgbClr val="1F2226"/>
                          </a:solidFill>
                          <a:latin typeface="IBM Plex Sans" pitchFamily="34" charset="0"/>
                          <a:ea typeface="IBM Plex Sans" pitchFamily="34" charset="-122"/>
                          <a:cs typeface="IBM Plex Sans" pitchFamily="34" charset="-120"/>
                        </a:rPr>
                        <a:t>–</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F"/>
                      </a:solidFill>
                      <a:prstDash val="solid"/>
                      <a:round/>
                      <a:headEnd type="none" w="med" len="med"/>
                      <a:tailEnd type="none" w="med" len="med"/>
                    </a:lnL>
                    <a:lnR w="12700" cap="flat" cmpd="sng" algn="ctr">
                      <a:solidFill>
                        <a:srgbClr val="C4C2BF"/>
                      </a:solidFill>
                      <a:prstDash val="solid"/>
                      <a:round/>
                      <a:headEnd type="none" w="med" len="med"/>
                      <a:tailEnd type="none" w="med" len="med"/>
                    </a:lnR>
                    <a:lnT w="12700" cap="flat" cmpd="sng" algn="ctr">
                      <a:solidFill>
                        <a:srgbClr val="C8C7C6"/>
                      </a:solidFill>
                      <a:prstDash val="solid"/>
                      <a:round/>
                      <a:headEnd type="none" w="med" len="med"/>
                      <a:tailEnd type="none" w="med" len="med"/>
                    </a:lnT>
                    <a:lnB w="12700" cap="flat" cmpd="sng" algn="ctr">
                      <a:solidFill>
                        <a:srgbClr val="C4C2BF"/>
                      </a:solidFill>
                      <a:prstDash val="solid"/>
                      <a:round/>
                      <a:headEnd type="none" w="med" len="med"/>
                      <a:tailEnd type="none" w="med" len="med"/>
                    </a:lnB>
                  </a:tcPr>
                </a:tc>
                <a:extLst>
                  <a:ext uri="{0D108BD9-81ED-4DB2-BD59-A6C34878D82A}">
                    <a16:rowId xmlns:a16="http://schemas.microsoft.com/office/drawing/2014/main" val="10005"/>
                  </a:ext>
                </a:extLst>
              </a:tr>
              <a:tr h="385961">
                <a:tc>
                  <a:txBody>
                    <a:bodyPr/>
                    <a:lstStyle/>
                    <a:p>
                      <a:pPr marL="0" indent="0">
                        <a:lnSpc>
                          <a:spcPts val="1960"/>
                        </a:lnSpc>
                        <a:buNone/>
                      </a:pPr>
                      <a:r>
                        <a:rPr lang="en-US" sz="1400" dirty="0">
                          <a:solidFill>
                            <a:srgbClr val="1F2226"/>
                          </a:solidFill>
                          <a:latin typeface="IBM Plex Sans" pitchFamily="34" charset="0"/>
                          <a:ea typeface="IBM Plex Sans" pitchFamily="34" charset="-122"/>
                          <a:cs typeface="IBM Plex Sans" pitchFamily="34" charset="-120"/>
                        </a:rPr>
                        <a:t>Total</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F"/>
                      </a:solidFill>
                      <a:prstDash val="solid"/>
                      <a:round/>
                      <a:headEnd type="none" w="med" len="med"/>
                      <a:tailEnd type="none" w="med" len="med"/>
                    </a:lnL>
                    <a:lnR w="12700" cap="flat" cmpd="sng" algn="ctr">
                      <a:solidFill>
                        <a:srgbClr val="BAB8B3"/>
                      </a:solidFill>
                      <a:prstDash val="solid"/>
                      <a:round/>
                      <a:headEnd type="none" w="med" len="med"/>
                      <a:tailEnd type="none" w="med" len="med"/>
                    </a:lnR>
                    <a:lnT w="12700" cap="flat" cmpd="sng" algn="ctr">
                      <a:solidFill>
                        <a:srgbClr val="C4C2BF"/>
                      </a:solidFill>
                      <a:prstDash val="solid"/>
                      <a:round/>
                      <a:headEnd type="none" w="med" len="med"/>
                      <a:tailEnd type="none" w="med" len="med"/>
                    </a:lnT>
                    <a:lnB w="12700" cap="flat" cmpd="sng" algn="ctr">
                      <a:solidFill>
                        <a:srgbClr val="BAB8B3"/>
                      </a:solidFill>
                      <a:prstDash val="solid"/>
                      <a:round/>
                      <a:headEnd type="none" w="med" len="med"/>
                      <a:tailEnd type="none" w="med" len="med"/>
                    </a:lnB>
                    <a:solidFill>
                      <a:srgbClr val="E9E6E0"/>
                    </a:solidFill>
                  </a:tcPr>
                </a:tc>
                <a:tc>
                  <a:txBody>
                    <a:bodyPr/>
                    <a:lstStyle/>
                    <a:p>
                      <a:pPr marL="0" indent="0" algn="r">
                        <a:lnSpc>
                          <a:spcPts val="1960"/>
                        </a:lnSpc>
                        <a:buNone/>
                      </a:pPr>
                      <a:r>
                        <a:rPr lang="en-US" sz="1400" dirty="0">
                          <a:solidFill>
                            <a:srgbClr val="1F2226"/>
                          </a:solidFill>
                          <a:latin typeface="IBM Plex Sans" pitchFamily="34" charset="0"/>
                          <a:ea typeface="IBM Plex Sans" pitchFamily="34" charset="-122"/>
                          <a:cs typeface="IBM Plex Sans" pitchFamily="34" charset="-120"/>
                        </a:rPr>
                        <a:t>105.6</a:t>
                      </a:r>
                      <a:endParaRPr lang="en-US" sz="1400" dirty="0">
                        <a:latin typeface="IBM Plex Sans" charset="0"/>
                        <a:ea typeface="IBM Plex Sans" charset="0"/>
                        <a:cs typeface="IBM Plex Sans" charset="0"/>
                      </a:endParaRPr>
                    </a:p>
                  </a:txBody>
                  <a:tcPr marL="62230" marR="62230" marT="62230" marB="62230">
                    <a:lnL w="12700" cap="flat" cmpd="sng" algn="ctr">
                      <a:solidFill>
                        <a:srgbClr val="BAB8B3"/>
                      </a:solidFill>
                      <a:prstDash val="solid"/>
                      <a:round/>
                      <a:headEnd type="none" w="med" len="med"/>
                      <a:tailEnd type="none" w="med" len="med"/>
                    </a:lnL>
                    <a:lnR w="12700" cap="flat" cmpd="sng" algn="ctr">
                      <a:solidFill>
                        <a:srgbClr val="BAB8B3"/>
                      </a:solidFill>
                      <a:prstDash val="solid"/>
                      <a:round/>
                      <a:headEnd type="none" w="med" len="med"/>
                      <a:tailEnd type="none" w="med" len="med"/>
                    </a:lnR>
                    <a:lnT w="12700" cap="flat" cmpd="sng" algn="ctr">
                      <a:solidFill>
                        <a:srgbClr val="C4C2BF"/>
                      </a:solidFill>
                      <a:prstDash val="solid"/>
                      <a:round/>
                      <a:headEnd type="none" w="med" len="med"/>
                      <a:tailEnd type="none" w="med" len="med"/>
                    </a:lnT>
                    <a:lnB w="12700" cap="flat" cmpd="sng" algn="ctr">
                      <a:solidFill>
                        <a:srgbClr val="BAB8B3"/>
                      </a:solidFill>
                      <a:prstDash val="solid"/>
                      <a:round/>
                      <a:headEnd type="none" w="med" len="med"/>
                      <a:tailEnd type="none" w="med" len="med"/>
                    </a:lnB>
                    <a:solidFill>
                      <a:srgbClr val="E9E6E0"/>
                    </a:solidFill>
                  </a:tcPr>
                </a:tc>
                <a:tc>
                  <a:txBody>
                    <a:bodyPr/>
                    <a:lstStyle/>
                    <a:p>
                      <a:pPr marL="0" indent="0" algn="r">
                        <a:lnSpc>
                          <a:spcPts val="1960"/>
                        </a:lnSpc>
                        <a:buNone/>
                      </a:pPr>
                      <a:r>
                        <a:rPr lang="en-US" sz="1400" dirty="0">
                          <a:solidFill>
                            <a:srgbClr val="1F2226"/>
                          </a:solidFill>
                          <a:latin typeface="IBM Plex Sans" pitchFamily="34" charset="0"/>
                          <a:ea typeface="IBM Plex Sans" pitchFamily="34" charset="-122"/>
                          <a:cs typeface="IBM Plex Sans" pitchFamily="34" charset="-120"/>
                        </a:rPr>
                        <a:t>56.4</a:t>
                      </a:r>
                      <a:endParaRPr lang="en-US" sz="1400" dirty="0">
                        <a:latin typeface="IBM Plex Sans" charset="0"/>
                        <a:ea typeface="IBM Plex Sans" charset="0"/>
                        <a:cs typeface="IBM Plex Sans" charset="0"/>
                      </a:endParaRPr>
                    </a:p>
                  </a:txBody>
                  <a:tcPr marL="62230" marR="62230" marT="62230" marB="62230">
                    <a:lnL w="12700" cap="flat" cmpd="sng" algn="ctr">
                      <a:solidFill>
                        <a:srgbClr val="BAB8B3"/>
                      </a:solidFill>
                      <a:prstDash val="solid"/>
                      <a:round/>
                      <a:headEnd type="none" w="med" len="med"/>
                      <a:tailEnd type="none" w="med" len="med"/>
                    </a:lnL>
                    <a:lnR w="12700" cap="flat" cmpd="sng" algn="ctr">
                      <a:solidFill>
                        <a:srgbClr val="BAB8B3"/>
                      </a:solidFill>
                      <a:prstDash val="solid"/>
                      <a:round/>
                      <a:headEnd type="none" w="med" len="med"/>
                      <a:tailEnd type="none" w="med" len="med"/>
                    </a:lnR>
                    <a:lnT w="12700" cap="flat" cmpd="sng" algn="ctr">
                      <a:solidFill>
                        <a:srgbClr val="C4C2BF"/>
                      </a:solidFill>
                      <a:prstDash val="solid"/>
                      <a:round/>
                      <a:headEnd type="none" w="med" len="med"/>
                      <a:tailEnd type="none" w="med" len="med"/>
                    </a:lnT>
                    <a:lnB w="12700" cap="flat" cmpd="sng" algn="ctr">
                      <a:solidFill>
                        <a:srgbClr val="BAB8B3"/>
                      </a:solidFill>
                      <a:prstDash val="solid"/>
                      <a:round/>
                      <a:headEnd type="none" w="med" len="med"/>
                      <a:tailEnd type="none" w="med" len="med"/>
                    </a:lnB>
                    <a:solidFill>
                      <a:srgbClr val="E9E6E0"/>
                    </a:solidFill>
                  </a:tcPr>
                </a:tc>
                <a:tc>
                  <a:txBody>
                    <a:bodyPr/>
                    <a:lstStyle/>
                    <a:p>
                      <a:pPr marL="0" indent="0" algn="r">
                        <a:lnSpc>
                          <a:spcPts val="1960"/>
                        </a:lnSpc>
                        <a:buNone/>
                      </a:pPr>
                      <a:r>
                        <a:rPr lang="en-US" sz="1400" dirty="0">
                          <a:solidFill>
                            <a:srgbClr val="1F2226"/>
                          </a:solidFill>
                          <a:latin typeface="IBM Plex Sans" pitchFamily="34" charset="0"/>
                          <a:ea typeface="IBM Plex Sans" pitchFamily="34" charset="-122"/>
                          <a:cs typeface="IBM Plex Sans" pitchFamily="34" charset="-120"/>
                        </a:rPr>
                        <a:t>58.6</a:t>
                      </a:r>
                      <a:endParaRPr lang="en-US" sz="1400" dirty="0">
                        <a:latin typeface="IBM Plex Sans" charset="0"/>
                        <a:ea typeface="IBM Plex Sans" charset="0"/>
                        <a:cs typeface="IBM Plex Sans" charset="0"/>
                      </a:endParaRPr>
                    </a:p>
                  </a:txBody>
                  <a:tcPr marL="62230" marR="62230" marT="62230" marB="62230">
                    <a:lnL w="12700" cap="flat" cmpd="sng" algn="ctr">
                      <a:solidFill>
                        <a:srgbClr val="BAB8B3"/>
                      </a:solidFill>
                      <a:prstDash val="solid"/>
                      <a:round/>
                      <a:headEnd type="none" w="med" len="med"/>
                      <a:tailEnd type="none" w="med" len="med"/>
                    </a:lnL>
                    <a:lnR w="12700" cap="flat" cmpd="sng" algn="ctr">
                      <a:solidFill>
                        <a:srgbClr val="BAB8B3"/>
                      </a:solidFill>
                      <a:prstDash val="solid"/>
                      <a:round/>
                      <a:headEnd type="none" w="med" len="med"/>
                      <a:tailEnd type="none" w="med" len="med"/>
                    </a:lnR>
                    <a:lnT w="12700" cap="flat" cmpd="sng" algn="ctr">
                      <a:solidFill>
                        <a:srgbClr val="C4C2BF"/>
                      </a:solidFill>
                      <a:prstDash val="solid"/>
                      <a:round/>
                      <a:headEnd type="none" w="med" len="med"/>
                      <a:tailEnd type="none" w="med" len="med"/>
                    </a:lnT>
                    <a:lnB w="12700" cap="flat" cmpd="sng" algn="ctr">
                      <a:solidFill>
                        <a:srgbClr val="BAB8B3"/>
                      </a:solidFill>
                      <a:prstDash val="solid"/>
                      <a:round/>
                      <a:headEnd type="none" w="med" len="med"/>
                      <a:tailEnd type="none" w="med" len="med"/>
                    </a:lnB>
                    <a:solidFill>
                      <a:srgbClr val="E9E6E0"/>
                    </a:solidFill>
                  </a:tcPr>
                </a:tc>
                <a:tc>
                  <a:txBody>
                    <a:bodyPr/>
                    <a:lstStyle/>
                    <a:p>
                      <a:pPr marL="0" indent="0" algn="r">
                        <a:lnSpc>
                          <a:spcPts val="1960"/>
                        </a:lnSpc>
                        <a:buNone/>
                      </a:pPr>
                      <a:r>
                        <a:rPr lang="en-US" sz="1400" dirty="0">
                          <a:solidFill>
                            <a:srgbClr val="1F2226"/>
                          </a:solidFill>
                          <a:latin typeface="IBM Plex Sans" pitchFamily="34" charset="0"/>
                          <a:ea typeface="IBM Plex Sans" pitchFamily="34" charset="-122"/>
                          <a:cs typeface="IBM Plex Sans" pitchFamily="34" charset="-120"/>
                        </a:rPr>
                        <a:t>0.96</a:t>
                      </a:r>
                      <a:endParaRPr lang="en-US" sz="1400" dirty="0">
                        <a:latin typeface="IBM Plex Sans" charset="0"/>
                        <a:ea typeface="IBM Plex Sans" charset="0"/>
                        <a:cs typeface="IBM Plex Sans" charset="0"/>
                      </a:endParaRPr>
                    </a:p>
                  </a:txBody>
                  <a:tcPr marL="62230" marR="62230" marT="62230" marB="62230">
                    <a:lnL w="12700" cap="flat" cmpd="sng" algn="ctr">
                      <a:solidFill>
                        <a:srgbClr val="BAB8B3"/>
                      </a:solidFill>
                      <a:prstDash val="solid"/>
                      <a:round/>
                      <a:headEnd type="none" w="med" len="med"/>
                      <a:tailEnd type="none" w="med" len="med"/>
                    </a:lnL>
                    <a:lnR w="12700" cap="flat" cmpd="sng" algn="ctr">
                      <a:solidFill>
                        <a:srgbClr val="BAB8B3"/>
                      </a:solidFill>
                      <a:prstDash val="solid"/>
                      <a:round/>
                      <a:headEnd type="none" w="med" len="med"/>
                      <a:tailEnd type="none" w="med" len="med"/>
                    </a:lnR>
                    <a:lnT w="12700" cap="flat" cmpd="sng" algn="ctr">
                      <a:solidFill>
                        <a:srgbClr val="C4C2BF"/>
                      </a:solidFill>
                      <a:prstDash val="solid"/>
                      <a:round/>
                      <a:headEnd type="none" w="med" len="med"/>
                      <a:tailEnd type="none" w="med" len="med"/>
                    </a:lnT>
                    <a:lnB w="12700" cap="flat" cmpd="sng" algn="ctr">
                      <a:solidFill>
                        <a:srgbClr val="BAB8B3"/>
                      </a:solidFill>
                      <a:prstDash val="solid"/>
                      <a:round/>
                      <a:headEnd type="none" w="med" len="med"/>
                      <a:tailEnd type="none" w="med" len="med"/>
                    </a:lnB>
                    <a:solidFill>
                      <a:srgbClr val="E9E6E0"/>
                    </a:solidFill>
                  </a:tcPr>
                </a:tc>
                <a:extLst>
                  <a:ext uri="{0D108BD9-81ED-4DB2-BD59-A6C34878D82A}">
                    <a16:rowId xmlns:a16="http://schemas.microsoft.com/office/drawing/2014/main" val="10006"/>
                  </a:ext>
                </a:extLst>
              </a:tr>
            </a:tbl>
          </a:graphicData>
        </a:graphic>
      </p:graphicFrame>
      <p:sp>
        <p:nvSpPr>
          <p:cNvPr id="5" name="Shape 2"/>
          <p:cNvSpPr/>
          <p:nvPr/>
        </p:nvSpPr>
        <p:spPr>
          <a:xfrm>
            <a:off x="8105775" y="2278856"/>
            <a:ext cx="3270250" cy="1332111"/>
          </a:xfrm>
          <a:prstGeom prst="roundRect">
            <a:avLst>
              <a:gd name="adj" fmla="val 7389"/>
            </a:avLst>
          </a:prstGeom>
          <a:solidFill>
            <a:srgbClr val="FBFAF8"/>
          </a:solidFill>
          <a:ln w="6350">
            <a:solidFill>
              <a:srgbClr val="DEDAD3"/>
            </a:solidFill>
            <a:prstDash val="solid"/>
          </a:ln>
        </p:spPr>
        <p:txBody>
          <a:bodyPr/>
          <a:lstStyle/>
          <a:p>
            <a:endParaRPr lang="en-US"/>
          </a:p>
        </p:txBody>
      </p:sp>
      <p:sp>
        <p:nvSpPr>
          <p:cNvPr id="6" name="Text 3"/>
          <p:cNvSpPr/>
          <p:nvPr/>
        </p:nvSpPr>
        <p:spPr>
          <a:xfrm>
            <a:off x="8312150" y="2485231"/>
            <a:ext cx="294322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F55"/>
                </a:solidFill>
                <a:latin typeface="IBM Plex Sans" pitchFamily="34" charset="0"/>
                <a:ea typeface="IBM Plex Sans" pitchFamily="34" charset="-122"/>
                <a:cs typeface="IBM Plex Sans" pitchFamily="34" charset="-120"/>
              </a:rPr>
              <a:t>Forecast at completion</a:t>
            </a:r>
            <a:endParaRPr lang="en-US" sz="1200" dirty="0"/>
          </a:p>
        </p:txBody>
      </p:sp>
      <p:sp>
        <p:nvSpPr>
          <p:cNvPr id="7" name="Text 4"/>
          <p:cNvSpPr/>
          <p:nvPr/>
        </p:nvSpPr>
        <p:spPr>
          <a:xfrm>
            <a:off x="8312150" y="2749352"/>
            <a:ext cx="2943225" cy="41652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F2226"/>
                </a:solidFill>
                <a:latin typeface="Rubik" pitchFamily="34" charset="0"/>
                <a:ea typeface="Rubik" pitchFamily="34" charset="-122"/>
                <a:cs typeface="Rubik" pitchFamily="34" charset="-120"/>
              </a:rPr>
              <a:t>₹109.7 L</a:t>
            </a:r>
            <a:endParaRPr lang="en-US" sz="2800" dirty="0"/>
          </a:p>
        </p:txBody>
      </p:sp>
      <p:sp>
        <p:nvSpPr>
          <p:cNvPr id="8" name="Text 5"/>
          <p:cNvSpPr/>
          <p:nvPr/>
        </p:nvSpPr>
        <p:spPr>
          <a:xfrm>
            <a:off x="8312150" y="3191272"/>
            <a:ext cx="294322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F55"/>
                </a:solidFill>
                <a:latin typeface="IBM Plex Sans" pitchFamily="34" charset="0"/>
                <a:ea typeface="IBM Plex Sans" pitchFamily="34" charset="-122"/>
                <a:cs typeface="IBM Plex Sans" pitchFamily="34" charset="-120"/>
              </a:rPr>
              <a:t>₹4.1 L above labour budget</a:t>
            </a:r>
            <a:endParaRPr lang="en-US" sz="1200" dirty="0"/>
          </a:p>
        </p:txBody>
      </p:sp>
      <p:sp>
        <p:nvSpPr>
          <p:cNvPr id="9" name="Shape 6"/>
          <p:cNvSpPr/>
          <p:nvPr/>
        </p:nvSpPr>
        <p:spPr>
          <a:xfrm>
            <a:off x="8105775" y="3769717"/>
            <a:ext cx="3270250" cy="1332111"/>
          </a:xfrm>
          <a:prstGeom prst="roundRect">
            <a:avLst>
              <a:gd name="adj" fmla="val 7389"/>
            </a:avLst>
          </a:prstGeom>
          <a:solidFill>
            <a:srgbClr val="FBFAF8"/>
          </a:solidFill>
          <a:ln w="6350">
            <a:solidFill>
              <a:srgbClr val="DEDAD3"/>
            </a:solidFill>
            <a:prstDash val="solid"/>
          </a:ln>
        </p:spPr>
        <p:txBody>
          <a:bodyPr/>
          <a:lstStyle/>
          <a:p>
            <a:endParaRPr lang="en-US"/>
          </a:p>
        </p:txBody>
      </p:sp>
      <p:sp>
        <p:nvSpPr>
          <p:cNvPr id="10" name="Text 7"/>
          <p:cNvSpPr/>
          <p:nvPr/>
        </p:nvSpPr>
        <p:spPr>
          <a:xfrm>
            <a:off x="8312150" y="3976092"/>
            <a:ext cx="294322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F55"/>
                </a:solidFill>
                <a:latin typeface="IBM Plex Sans" pitchFamily="34" charset="0"/>
                <a:ea typeface="IBM Plex Sans" pitchFamily="34" charset="-122"/>
                <a:cs typeface="IBM Plex Sans" pitchFamily="34" charset="-120"/>
              </a:rPr>
              <a:t>Management reserve</a:t>
            </a:r>
            <a:endParaRPr lang="en-US" sz="1200" dirty="0"/>
          </a:p>
        </p:txBody>
      </p:sp>
      <p:sp>
        <p:nvSpPr>
          <p:cNvPr id="11" name="Text 8"/>
          <p:cNvSpPr/>
          <p:nvPr/>
        </p:nvSpPr>
        <p:spPr>
          <a:xfrm>
            <a:off x="8312150" y="4240213"/>
            <a:ext cx="2943225" cy="41652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F2226"/>
                </a:solidFill>
                <a:latin typeface="Rubik" pitchFamily="34" charset="0"/>
                <a:ea typeface="Rubik" pitchFamily="34" charset="-122"/>
                <a:cs typeface="Rubik" pitchFamily="34" charset="-120"/>
              </a:rPr>
              <a:t>₹10.6 L</a:t>
            </a:r>
            <a:endParaRPr lang="en-US" sz="2800" dirty="0"/>
          </a:p>
        </p:txBody>
      </p:sp>
      <p:sp>
        <p:nvSpPr>
          <p:cNvPr id="12" name="Text 9"/>
          <p:cNvSpPr/>
          <p:nvPr/>
        </p:nvSpPr>
        <p:spPr>
          <a:xfrm>
            <a:off x="8312150" y="4682133"/>
            <a:ext cx="294322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F55"/>
                </a:solidFill>
                <a:latin typeface="IBM Plex Sans" pitchFamily="34" charset="0"/>
                <a:ea typeface="IBM Plex Sans" pitchFamily="34" charset="-122"/>
                <a:cs typeface="IBM Plex Sans" pitchFamily="34" charset="-120"/>
              </a:rPr>
              <a:t>Untouched; covers the forecast gap</a:t>
            </a:r>
            <a:endParaRPr lang="en-US" sz="1200" dirty="0"/>
          </a:p>
        </p:txBody>
      </p:sp>
      <p:sp>
        <p:nvSpPr>
          <p:cNvPr id="13" name="Text 10"/>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076"/>
                </a:solidFill>
                <a:latin typeface="IBM Plex Sans" pitchFamily="34" charset="0"/>
                <a:ea typeface="IBM Plex Sans" pitchFamily="34" charset="-122"/>
                <a:cs typeface="IBM Plex Sans" pitchFamily="34" charset="-120"/>
              </a:rPr>
              <a:t>Earned value at 15 Jan 2027 · Azure and tooling billed at actuals, tracking to plan</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3EF"/>
        </a:solidFill>
        <a:effectLst/>
      </p:bgPr>
    </p:bg>
    <p:spTree>
      <p:nvGrpSpPr>
        <p:cNvPr id="1" name=""/>
        <p:cNvGrpSpPr/>
        <p:nvPr/>
      </p:nvGrpSpPr>
      <p:grpSpPr>
        <a:xfrm>
          <a:off x="0" y="0"/>
          <a:ext cx="0" cy="0"/>
          <a:chOff x="0" y="0"/>
          <a:chExt cx="0" cy="0"/>
        </a:xfrm>
      </p:grpSpPr>
      <p:sp>
        <p:nvSpPr>
          <p:cNvPr id="2" name="Shape 0"/>
          <p:cNvSpPr/>
          <p:nvPr/>
        </p:nvSpPr>
        <p:spPr>
          <a:xfrm>
            <a:off x="9032875" y="1879600"/>
            <a:ext cx="0" cy="3352800"/>
          </a:xfrm>
          <a:prstGeom prst="line">
            <a:avLst/>
          </a:prstGeom>
          <a:noFill/>
          <a:ln w="19050">
            <a:solidFill>
              <a:srgbClr val="1F2226"/>
            </a:solidFill>
            <a:prstDash val="dash"/>
          </a:ln>
        </p:spPr>
        <p:txBody>
          <a:bodyPr/>
          <a:lstStyle/>
          <a:p>
            <a:endParaRPr lang="en-US"/>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00000"/>
                </a:solidFill>
                <a:latin typeface="IBM Plex Sans" pitchFamily="34" charset="0"/>
                <a:ea typeface="IBM Plex Sans" pitchFamily="34" charset="-122"/>
                <a:cs typeface="IBM Plex Sans" pitchFamily="34" charset="-120"/>
              </a:rPr>
              <a:t>02 · STATUS AT WEEK 13</a:t>
            </a:r>
            <a:endParaRPr lang="en-US" sz="1200" dirty="0"/>
          </a:p>
        </p:txBody>
      </p:sp>
      <p:sp>
        <p:nvSpPr>
          <p:cNvPr id="4" name="Text 2"/>
          <p:cNvSpPr>
            <a:spLocks noGrp="1"/>
          </p:cNvSpPr>
          <p:nvPr>
            <p:ph type="title"/>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F2226"/>
                </a:solidFill>
                <a:latin typeface="Rubik" pitchFamily="34" charset="0"/>
                <a:ea typeface="Rubik" pitchFamily="34" charset="-122"/>
                <a:cs typeface="Rubik" pitchFamily="34" charset="-120"/>
              </a:rPr>
              <a:t>AI quality: 4 KPIs met, 4 within reach</a:t>
            </a:r>
            <a:endParaRPr lang="en-US" sz="3200" dirty="0"/>
          </a:p>
        </p:txBody>
      </p:sp>
      <p:sp>
        <p:nvSpPr>
          <p:cNvPr id="5" name="Text 3"/>
          <p:cNvSpPr/>
          <p:nvPr/>
        </p:nvSpPr>
        <p:spPr>
          <a:xfrm>
            <a:off x="732790" y="1916311"/>
            <a:ext cx="2747010" cy="256480"/>
          </a:xfrm>
          <a:prstGeom prst="rect">
            <a:avLst/>
          </a:prstGeom>
          <a:noFill/>
          <a:ln/>
        </p:spPr>
        <p:txBody>
          <a:bodyPr wrap="square" lIns="0" tIns="0" rIns="0" bIns="0" rtlCol="0" anchor="t">
            <a:normAutofit/>
          </a:bodyPr>
          <a:lstStyle/>
          <a:p>
            <a:pPr marL="0" indent="0" algn="r">
              <a:lnSpc>
                <a:spcPts val="1820"/>
              </a:lnSpc>
              <a:buNone/>
            </a:pPr>
            <a:r>
              <a:rPr lang="en-US" sz="1300" dirty="0">
                <a:solidFill>
                  <a:srgbClr val="3A3E43"/>
                </a:solidFill>
                <a:latin typeface="IBM Plex Sans" pitchFamily="34" charset="0"/>
                <a:ea typeface="IBM Plex Sans" pitchFamily="34" charset="-122"/>
                <a:cs typeface="IBM Plex Sans" pitchFamily="34" charset="-120"/>
              </a:rPr>
              <a:t>P95 response time</a:t>
            </a:r>
            <a:endParaRPr lang="en-US" sz="1300" dirty="0"/>
          </a:p>
        </p:txBody>
      </p:sp>
      <p:sp>
        <p:nvSpPr>
          <p:cNvPr id="6" name="Shape 4"/>
          <p:cNvSpPr/>
          <p:nvPr/>
        </p:nvSpPr>
        <p:spPr>
          <a:xfrm>
            <a:off x="3632200" y="1879501"/>
            <a:ext cx="6477000" cy="304800"/>
          </a:xfrm>
          <a:prstGeom prst="roundRect">
            <a:avLst>
              <a:gd name="adj" fmla="val 8333"/>
            </a:avLst>
          </a:prstGeom>
          <a:solidFill>
            <a:srgbClr val="00697B"/>
          </a:solidFill>
          <a:ln/>
        </p:spPr>
        <p:txBody>
          <a:bodyPr/>
          <a:lstStyle/>
          <a:p>
            <a:endParaRPr lang="en-US"/>
          </a:p>
        </p:txBody>
      </p:sp>
      <p:sp>
        <p:nvSpPr>
          <p:cNvPr id="7" name="Text 5"/>
          <p:cNvSpPr/>
          <p:nvPr/>
        </p:nvSpPr>
        <p:spPr>
          <a:xfrm>
            <a:off x="10261600" y="1916311"/>
            <a:ext cx="965835"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0697B"/>
                </a:solidFill>
                <a:latin typeface="IBM Plex Sans" pitchFamily="34" charset="0"/>
                <a:ea typeface="IBM Plex Sans" pitchFamily="34" charset="-122"/>
                <a:cs typeface="IBM Plex Sans" pitchFamily="34" charset="-120"/>
              </a:rPr>
              <a:t>6.4 s · met</a:t>
            </a:r>
            <a:endParaRPr lang="en-US" sz="1300" dirty="0"/>
          </a:p>
        </p:txBody>
      </p:sp>
      <p:sp>
        <p:nvSpPr>
          <p:cNvPr id="8" name="Text 6"/>
          <p:cNvSpPr/>
          <p:nvPr/>
        </p:nvSpPr>
        <p:spPr>
          <a:xfrm>
            <a:off x="732790" y="2322711"/>
            <a:ext cx="2747010" cy="256480"/>
          </a:xfrm>
          <a:prstGeom prst="rect">
            <a:avLst/>
          </a:prstGeom>
          <a:noFill/>
          <a:ln/>
        </p:spPr>
        <p:txBody>
          <a:bodyPr wrap="square" lIns="0" tIns="0" rIns="0" bIns="0" rtlCol="0" anchor="t">
            <a:normAutofit/>
          </a:bodyPr>
          <a:lstStyle/>
          <a:p>
            <a:pPr marL="0" indent="0" algn="r">
              <a:lnSpc>
                <a:spcPts val="1820"/>
              </a:lnSpc>
              <a:buNone/>
            </a:pPr>
            <a:r>
              <a:rPr lang="en-US" sz="1300" dirty="0">
                <a:solidFill>
                  <a:srgbClr val="3A3E43"/>
                </a:solidFill>
                <a:latin typeface="IBM Plex Sans" pitchFamily="34" charset="0"/>
                <a:ea typeface="IBM Plex Sans" pitchFamily="34" charset="-122"/>
                <a:cs typeface="IBM Plex Sans" pitchFamily="34" charset="-120"/>
              </a:rPr>
              <a:t>User satisfaction</a:t>
            </a:r>
            <a:endParaRPr lang="en-US" sz="1300" dirty="0"/>
          </a:p>
        </p:txBody>
      </p:sp>
      <p:sp>
        <p:nvSpPr>
          <p:cNvPr id="9" name="Shape 7"/>
          <p:cNvSpPr/>
          <p:nvPr/>
        </p:nvSpPr>
        <p:spPr>
          <a:xfrm>
            <a:off x="3632200" y="2285901"/>
            <a:ext cx="5670550" cy="304800"/>
          </a:xfrm>
          <a:prstGeom prst="roundRect">
            <a:avLst>
              <a:gd name="adj" fmla="val 8333"/>
            </a:avLst>
          </a:prstGeom>
          <a:solidFill>
            <a:srgbClr val="00697B"/>
          </a:solidFill>
          <a:ln/>
        </p:spPr>
        <p:txBody>
          <a:bodyPr/>
          <a:lstStyle/>
          <a:p>
            <a:endParaRPr lang="en-US"/>
          </a:p>
        </p:txBody>
      </p:sp>
      <p:sp>
        <p:nvSpPr>
          <p:cNvPr id="10" name="Text 8"/>
          <p:cNvSpPr/>
          <p:nvPr/>
        </p:nvSpPr>
        <p:spPr>
          <a:xfrm>
            <a:off x="9455150" y="2322711"/>
            <a:ext cx="1119188"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0697B"/>
                </a:solidFill>
                <a:latin typeface="IBM Plex Sans" pitchFamily="34" charset="0"/>
                <a:ea typeface="IBM Plex Sans" pitchFamily="34" charset="-122"/>
                <a:cs typeface="IBM Plex Sans" pitchFamily="34" charset="-120"/>
              </a:rPr>
              <a:t>4.2 / 5 · met</a:t>
            </a:r>
            <a:endParaRPr lang="en-US" sz="1300" dirty="0"/>
          </a:p>
        </p:txBody>
      </p:sp>
      <p:sp>
        <p:nvSpPr>
          <p:cNvPr id="11" name="Text 9"/>
          <p:cNvSpPr/>
          <p:nvPr/>
        </p:nvSpPr>
        <p:spPr>
          <a:xfrm>
            <a:off x="732790" y="2729111"/>
            <a:ext cx="2747010" cy="256480"/>
          </a:xfrm>
          <a:prstGeom prst="rect">
            <a:avLst/>
          </a:prstGeom>
          <a:noFill/>
          <a:ln/>
        </p:spPr>
        <p:txBody>
          <a:bodyPr wrap="square" lIns="0" tIns="0" rIns="0" bIns="0" rtlCol="0" anchor="t">
            <a:normAutofit/>
          </a:bodyPr>
          <a:lstStyle/>
          <a:p>
            <a:pPr marL="0" indent="0" algn="r">
              <a:lnSpc>
                <a:spcPts val="1820"/>
              </a:lnSpc>
              <a:buNone/>
            </a:pPr>
            <a:r>
              <a:rPr lang="en-US" sz="1300" dirty="0">
                <a:solidFill>
                  <a:srgbClr val="3A3E43"/>
                </a:solidFill>
                <a:latin typeface="IBM Plex Sans" pitchFamily="34" charset="0"/>
                <a:ea typeface="IBM Plex Sans" pitchFamily="34" charset="-122"/>
                <a:cs typeface="IBM Plex Sans" pitchFamily="34" charset="-120"/>
              </a:rPr>
              <a:t>Retrieval recall@5</a:t>
            </a:r>
            <a:endParaRPr lang="en-US" sz="1300" dirty="0"/>
          </a:p>
        </p:txBody>
      </p:sp>
      <p:sp>
        <p:nvSpPr>
          <p:cNvPr id="12" name="Shape 10"/>
          <p:cNvSpPr/>
          <p:nvPr/>
        </p:nvSpPr>
        <p:spPr>
          <a:xfrm>
            <a:off x="3632200" y="2692301"/>
            <a:ext cx="5588000" cy="304800"/>
          </a:xfrm>
          <a:prstGeom prst="roundRect">
            <a:avLst>
              <a:gd name="adj" fmla="val 8333"/>
            </a:avLst>
          </a:prstGeom>
          <a:solidFill>
            <a:srgbClr val="00697B"/>
          </a:solidFill>
          <a:ln/>
        </p:spPr>
        <p:txBody>
          <a:bodyPr/>
          <a:lstStyle/>
          <a:p>
            <a:endParaRPr lang="en-US"/>
          </a:p>
        </p:txBody>
      </p:sp>
      <p:sp>
        <p:nvSpPr>
          <p:cNvPr id="13" name="Text 11"/>
          <p:cNvSpPr/>
          <p:nvPr/>
        </p:nvSpPr>
        <p:spPr>
          <a:xfrm>
            <a:off x="9372600" y="2729111"/>
            <a:ext cx="95119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0697B"/>
                </a:solidFill>
                <a:latin typeface="IBM Plex Sans" pitchFamily="34" charset="0"/>
                <a:ea typeface="IBM Plex Sans" pitchFamily="34" charset="-122"/>
                <a:cs typeface="IBM Plex Sans" pitchFamily="34" charset="-120"/>
              </a:rPr>
              <a:t>88% · met</a:t>
            </a:r>
            <a:endParaRPr lang="en-US" sz="1300" dirty="0"/>
          </a:p>
        </p:txBody>
      </p:sp>
      <p:sp>
        <p:nvSpPr>
          <p:cNvPr id="14" name="Text 12"/>
          <p:cNvSpPr/>
          <p:nvPr/>
        </p:nvSpPr>
        <p:spPr>
          <a:xfrm>
            <a:off x="732790" y="3135511"/>
            <a:ext cx="2747010" cy="256480"/>
          </a:xfrm>
          <a:prstGeom prst="rect">
            <a:avLst/>
          </a:prstGeom>
          <a:noFill/>
          <a:ln/>
        </p:spPr>
        <p:txBody>
          <a:bodyPr wrap="square" lIns="0" tIns="0" rIns="0" bIns="0" rtlCol="0" anchor="t">
            <a:normAutofit/>
          </a:bodyPr>
          <a:lstStyle/>
          <a:p>
            <a:pPr marL="0" indent="0" algn="r">
              <a:lnSpc>
                <a:spcPts val="1820"/>
              </a:lnSpc>
              <a:buNone/>
            </a:pPr>
            <a:r>
              <a:rPr lang="en-US" sz="1300" dirty="0">
                <a:solidFill>
                  <a:srgbClr val="3A3E43"/>
                </a:solidFill>
                <a:latin typeface="IBM Plex Sans" pitchFamily="34" charset="0"/>
                <a:ea typeface="IBM Plex Sans" pitchFamily="34" charset="-122"/>
                <a:cs typeface="IBM Plex Sans" pitchFamily="34" charset="-120"/>
              </a:rPr>
              <a:t>Unauthorised access</a:t>
            </a:r>
            <a:endParaRPr lang="en-US" sz="1300" dirty="0"/>
          </a:p>
        </p:txBody>
      </p:sp>
      <p:sp>
        <p:nvSpPr>
          <p:cNvPr id="15" name="Shape 13"/>
          <p:cNvSpPr/>
          <p:nvPr/>
        </p:nvSpPr>
        <p:spPr>
          <a:xfrm>
            <a:off x="3632200" y="3098701"/>
            <a:ext cx="5397500" cy="304800"/>
          </a:xfrm>
          <a:prstGeom prst="roundRect">
            <a:avLst>
              <a:gd name="adj" fmla="val 8333"/>
            </a:avLst>
          </a:prstGeom>
          <a:solidFill>
            <a:srgbClr val="00697B"/>
          </a:solidFill>
          <a:ln/>
        </p:spPr>
        <p:txBody>
          <a:bodyPr/>
          <a:lstStyle/>
          <a:p>
            <a:endParaRPr lang="en-US"/>
          </a:p>
        </p:txBody>
      </p:sp>
      <p:sp>
        <p:nvSpPr>
          <p:cNvPr id="16" name="Text 14"/>
          <p:cNvSpPr/>
          <p:nvPr/>
        </p:nvSpPr>
        <p:spPr>
          <a:xfrm>
            <a:off x="9182100" y="3135511"/>
            <a:ext cx="642223"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0697B"/>
                </a:solidFill>
                <a:latin typeface="IBM Plex Sans" pitchFamily="34" charset="0"/>
                <a:ea typeface="IBM Plex Sans" pitchFamily="34" charset="-122"/>
                <a:cs typeface="IBM Plex Sans" pitchFamily="34" charset="-120"/>
              </a:rPr>
              <a:t>0 · met</a:t>
            </a:r>
            <a:endParaRPr lang="en-US" sz="1300" dirty="0"/>
          </a:p>
        </p:txBody>
      </p:sp>
      <p:sp>
        <p:nvSpPr>
          <p:cNvPr id="17" name="Text 15"/>
          <p:cNvSpPr/>
          <p:nvPr/>
        </p:nvSpPr>
        <p:spPr>
          <a:xfrm>
            <a:off x="732790" y="3541911"/>
            <a:ext cx="2747010" cy="256480"/>
          </a:xfrm>
          <a:prstGeom prst="rect">
            <a:avLst/>
          </a:prstGeom>
          <a:noFill/>
          <a:ln/>
        </p:spPr>
        <p:txBody>
          <a:bodyPr wrap="square" lIns="0" tIns="0" rIns="0" bIns="0" rtlCol="0" anchor="t">
            <a:normAutofit/>
          </a:bodyPr>
          <a:lstStyle/>
          <a:p>
            <a:pPr marL="0" indent="0" algn="r">
              <a:lnSpc>
                <a:spcPts val="1820"/>
              </a:lnSpc>
              <a:buNone/>
            </a:pPr>
            <a:r>
              <a:rPr lang="en-US" sz="1300" dirty="0">
                <a:solidFill>
                  <a:srgbClr val="3A3E43"/>
                </a:solidFill>
                <a:latin typeface="IBM Plex Sans" pitchFamily="34" charset="0"/>
                <a:ea typeface="IBM Plex Sans" pitchFamily="34" charset="-122"/>
                <a:cs typeface="IBM Plex Sans" pitchFamily="34" charset="-120"/>
              </a:rPr>
              <a:t>Tool-call success</a:t>
            </a:r>
            <a:endParaRPr lang="en-US" sz="1300" dirty="0"/>
          </a:p>
        </p:txBody>
      </p:sp>
      <p:sp>
        <p:nvSpPr>
          <p:cNvPr id="18" name="Shape 16"/>
          <p:cNvSpPr/>
          <p:nvPr/>
        </p:nvSpPr>
        <p:spPr>
          <a:xfrm>
            <a:off x="3632200" y="3505101"/>
            <a:ext cx="5257800" cy="304800"/>
          </a:xfrm>
          <a:prstGeom prst="roundRect">
            <a:avLst>
              <a:gd name="adj" fmla="val 8333"/>
            </a:avLst>
          </a:prstGeom>
          <a:solidFill>
            <a:srgbClr val="F0A33C"/>
          </a:solidFill>
          <a:ln/>
        </p:spPr>
        <p:txBody>
          <a:bodyPr/>
          <a:lstStyle/>
          <a:p>
            <a:endParaRPr lang="en-US"/>
          </a:p>
        </p:txBody>
      </p:sp>
      <p:sp>
        <p:nvSpPr>
          <p:cNvPr id="19" name="Text 17"/>
          <p:cNvSpPr/>
          <p:nvPr/>
        </p:nvSpPr>
        <p:spPr>
          <a:xfrm>
            <a:off x="9042400" y="3541911"/>
            <a:ext cx="1249561"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9A5205"/>
                </a:solidFill>
                <a:latin typeface="IBM Plex Sans" pitchFamily="34" charset="0"/>
                <a:ea typeface="IBM Plex Sans" pitchFamily="34" charset="-122"/>
                <a:cs typeface="IBM Plex Sans" pitchFamily="34" charset="-120"/>
              </a:rPr>
              <a:t>95.5% · close</a:t>
            </a:r>
            <a:endParaRPr lang="en-US" sz="1300" dirty="0"/>
          </a:p>
        </p:txBody>
      </p:sp>
      <p:sp>
        <p:nvSpPr>
          <p:cNvPr id="20" name="Text 18"/>
          <p:cNvSpPr/>
          <p:nvPr/>
        </p:nvSpPr>
        <p:spPr>
          <a:xfrm>
            <a:off x="732790" y="3948311"/>
            <a:ext cx="2747010" cy="256480"/>
          </a:xfrm>
          <a:prstGeom prst="rect">
            <a:avLst/>
          </a:prstGeom>
          <a:noFill/>
          <a:ln/>
        </p:spPr>
        <p:txBody>
          <a:bodyPr wrap="square" lIns="0" tIns="0" rIns="0" bIns="0" rtlCol="0" anchor="t">
            <a:normAutofit/>
          </a:bodyPr>
          <a:lstStyle/>
          <a:p>
            <a:pPr marL="0" indent="0" algn="r">
              <a:lnSpc>
                <a:spcPts val="1820"/>
              </a:lnSpc>
              <a:buNone/>
            </a:pPr>
            <a:r>
              <a:rPr lang="en-US" sz="1300" dirty="0">
                <a:solidFill>
                  <a:srgbClr val="3A3E43"/>
                </a:solidFill>
                <a:latin typeface="IBM Plex Sans" pitchFamily="34" charset="0"/>
                <a:ea typeface="IBM Plex Sans" pitchFamily="34" charset="-122"/>
                <a:cs typeface="IBM Plex Sans" pitchFamily="34" charset="-120"/>
              </a:rPr>
              <a:t>Answer groundedness</a:t>
            </a:r>
            <a:endParaRPr lang="en-US" sz="1300" dirty="0"/>
          </a:p>
        </p:txBody>
      </p:sp>
      <p:sp>
        <p:nvSpPr>
          <p:cNvPr id="21" name="Shape 19"/>
          <p:cNvSpPr/>
          <p:nvPr/>
        </p:nvSpPr>
        <p:spPr>
          <a:xfrm>
            <a:off x="3632200" y="3911501"/>
            <a:ext cx="5219700" cy="304800"/>
          </a:xfrm>
          <a:prstGeom prst="roundRect">
            <a:avLst>
              <a:gd name="adj" fmla="val 8333"/>
            </a:avLst>
          </a:prstGeom>
          <a:solidFill>
            <a:srgbClr val="F0A33C"/>
          </a:solidFill>
          <a:ln/>
        </p:spPr>
        <p:txBody>
          <a:bodyPr/>
          <a:lstStyle/>
          <a:p>
            <a:endParaRPr lang="en-US"/>
          </a:p>
        </p:txBody>
      </p:sp>
      <p:sp>
        <p:nvSpPr>
          <p:cNvPr id="22" name="Text 20"/>
          <p:cNvSpPr/>
          <p:nvPr/>
        </p:nvSpPr>
        <p:spPr>
          <a:xfrm>
            <a:off x="9004300" y="3948311"/>
            <a:ext cx="1071443"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9A5205"/>
                </a:solidFill>
                <a:latin typeface="IBM Plex Sans" pitchFamily="34" charset="0"/>
                <a:ea typeface="IBM Plex Sans" pitchFamily="34" charset="-122"/>
                <a:cs typeface="IBM Plex Sans" pitchFamily="34" charset="-120"/>
              </a:rPr>
              <a:t>87% · close</a:t>
            </a:r>
            <a:endParaRPr lang="en-US" sz="1300" dirty="0"/>
          </a:p>
        </p:txBody>
      </p:sp>
      <p:sp>
        <p:nvSpPr>
          <p:cNvPr id="23" name="Text 21"/>
          <p:cNvSpPr/>
          <p:nvPr/>
        </p:nvSpPr>
        <p:spPr>
          <a:xfrm>
            <a:off x="732790" y="4354711"/>
            <a:ext cx="2747010" cy="256480"/>
          </a:xfrm>
          <a:prstGeom prst="rect">
            <a:avLst/>
          </a:prstGeom>
          <a:noFill/>
          <a:ln/>
        </p:spPr>
        <p:txBody>
          <a:bodyPr wrap="square" lIns="0" tIns="0" rIns="0" bIns="0" rtlCol="0" anchor="t">
            <a:normAutofit/>
          </a:bodyPr>
          <a:lstStyle/>
          <a:p>
            <a:pPr marL="0" indent="0" algn="r">
              <a:lnSpc>
                <a:spcPts val="1820"/>
              </a:lnSpc>
              <a:buNone/>
            </a:pPr>
            <a:r>
              <a:rPr lang="en-US" sz="1300" dirty="0">
                <a:solidFill>
                  <a:srgbClr val="3A3E43"/>
                </a:solidFill>
                <a:latin typeface="IBM Plex Sans" pitchFamily="34" charset="0"/>
                <a:ea typeface="IBM Plex Sans" pitchFamily="34" charset="-122"/>
                <a:cs typeface="IBM Plex Sans" pitchFamily="34" charset="-120"/>
              </a:rPr>
              <a:t>Citation correctness</a:t>
            </a:r>
            <a:endParaRPr lang="en-US" sz="1300" dirty="0"/>
          </a:p>
        </p:txBody>
      </p:sp>
      <p:sp>
        <p:nvSpPr>
          <p:cNvPr id="24" name="Shape 22"/>
          <p:cNvSpPr/>
          <p:nvPr/>
        </p:nvSpPr>
        <p:spPr>
          <a:xfrm>
            <a:off x="3632200" y="4317901"/>
            <a:ext cx="5168900" cy="304800"/>
          </a:xfrm>
          <a:prstGeom prst="roundRect">
            <a:avLst>
              <a:gd name="adj" fmla="val 8333"/>
            </a:avLst>
          </a:prstGeom>
          <a:solidFill>
            <a:srgbClr val="F0A33C"/>
          </a:solidFill>
          <a:ln/>
        </p:spPr>
        <p:txBody>
          <a:bodyPr/>
          <a:lstStyle/>
          <a:p>
            <a:endParaRPr lang="en-US"/>
          </a:p>
        </p:txBody>
      </p:sp>
      <p:sp>
        <p:nvSpPr>
          <p:cNvPr id="25" name="Text 23"/>
          <p:cNvSpPr/>
          <p:nvPr/>
        </p:nvSpPr>
        <p:spPr>
          <a:xfrm>
            <a:off x="8953500" y="4354711"/>
            <a:ext cx="1071443"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9A5205"/>
                </a:solidFill>
                <a:latin typeface="IBM Plex Sans" pitchFamily="34" charset="0"/>
                <a:ea typeface="IBM Plex Sans" pitchFamily="34" charset="-122"/>
                <a:cs typeface="IBM Plex Sans" pitchFamily="34" charset="-120"/>
              </a:rPr>
              <a:t>91% · close</a:t>
            </a:r>
            <a:endParaRPr lang="en-US" sz="1300" dirty="0"/>
          </a:p>
        </p:txBody>
      </p:sp>
      <p:sp>
        <p:nvSpPr>
          <p:cNvPr id="26" name="Text 24"/>
          <p:cNvSpPr/>
          <p:nvPr/>
        </p:nvSpPr>
        <p:spPr>
          <a:xfrm>
            <a:off x="732790" y="4761111"/>
            <a:ext cx="2747010" cy="256480"/>
          </a:xfrm>
          <a:prstGeom prst="rect">
            <a:avLst/>
          </a:prstGeom>
          <a:noFill/>
          <a:ln/>
        </p:spPr>
        <p:txBody>
          <a:bodyPr wrap="square" lIns="0" tIns="0" rIns="0" bIns="0" rtlCol="0" anchor="t">
            <a:normAutofit/>
          </a:bodyPr>
          <a:lstStyle/>
          <a:p>
            <a:pPr marL="0" indent="0" algn="r">
              <a:lnSpc>
                <a:spcPts val="1820"/>
              </a:lnSpc>
              <a:buNone/>
            </a:pPr>
            <a:r>
              <a:rPr lang="en-US" sz="1300" dirty="0">
                <a:solidFill>
                  <a:srgbClr val="3A3E43"/>
                </a:solidFill>
                <a:latin typeface="IBM Plex Sans" pitchFamily="34" charset="0"/>
                <a:ea typeface="IBM Plex Sans" pitchFamily="34" charset="-122"/>
                <a:cs typeface="IBM Plex Sans" pitchFamily="34" charset="-120"/>
              </a:rPr>
              <a:t>Lookup effort reduction</a:t>
            </a:r>
            <a:endParaRPr lang="en-US" sz="1300" dirty="0"/>
          </a:p>
        </p:txBody>
      </p:sp>
      <p:sp>
        <p:nvSpPr>
          <p:cNvPr id="27" name="Shape 25"/>
          <p:cNvSpPr/>
          <p:nvPr/>
        </p:nvSpPr>
        <p:spPr>
          <a:xfrm>
            <a:off x="3632200" y="4724301"/>
            <a:ext cx="4318000" cy="304800"/>
          </a:xfrm>
          <a:prstGeom prst="roundRect">
            <a:avLst>
              <a:gd name="adj" fmla="val 8333"/>
            </a:avLst>
          </a:prstGeom>
          <a:solidFill>
            <a:srgbClr val="F0A33C"/>
          </a:solidFill>
          <a:ln/>
        </p:spPr>
        <p:txBody>
          <a:bodyPr/>
          <a:lstStyle/>
          <a:p>
            <a:endParaRPr lang="en-US"/>
          </a:p>
        </p:txBody>
      </p:sp>
      <p:sp>
        <p:nvSpPr>
          <p:cNvPr id="28" name="Text 26"/>
          <p:cNvSpPr/>
          <p:nvPr/>
        </p:nvSpPr>
        <p:spPr>
          <a:xfrm>
            <a:off x="8102600" y="4761111"/>
            <a:ext cx="92075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9A5205"/>
                </a:solidFill>
                <a:latin typeface="IBM Plex Sans" pitchFamily="34" charset="0"/>
                <a:ea typeface="IBM Plex Sans" pitchFamily="34" charset="-122"/>
                <a:cs typeface="IBM Plex Sans" pitchFamily="34" charset="-120"/>
              </a:rPr>
              <a:t>32% · pilot</a:t>
            </a:r>
            <a:endParaRPr lang="en-US" sz="1300" dirty="0"/>
          </a:p>
        </p:txBody>
      </p:sp>
      <p:sp>
        <p:nvSpPr>
          <p:cNvPr id="29" name="Text 27"/>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076"/>
                </a:solidFill>
                <a:latin typeface="IBM Plex Sans" pitchFamily="34" charset="0"/>
                <a:ea typeface="IBM Plex Sans" pitchFamily="34" charset="-122"/>
                <a:cs typeface="IBM Plex Sans" pitchFamily="34" charset="-120"/>
              </a:rPr>
              <a:t>Bar = current value as % of target, capped at 120% · dashed line = target (100%) · teal = met, amber = below target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A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00000"/>
                </a:solidFill>
                <a:latin typeface="IBM Plex Sans" pitchFamily="34" charset="0"/>
                <a:ea typeface="IBM Plex Sans" pitchFamily="34" charset="-122"/>
                <a:cs typeface="IBM Plex Sans" pitchFamily="34" charset="-120"/>
              </a:rPr>
              <a:t>02 · STATUS AT WEEK 13</a:t>
            </a:r>
            <a:endParaRPr lang="en-US" sz="1200" dirty="0"/>
          </a:p>
        </p:txBody>
      </p:sp>
      <p:sp>
        <p:nvSpPr>
          <p:cNvPr id="3" name="Text 1"/>
          <p:cNvSpPr>
            <a:spLocks noGrp="1"/>
          </p:cNvSpPr>
          <p:nvPr>
            <p:ph type="title"/>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F2226"/>
                </a:solidFill>
                <a:latin typeface="Rubik" pitchFamily="34" charset="0"/>
                <a:ea typeface="Rubik" pitchFamily="34" charset="-122"/>
                <a:cs typeface="Rubik" pitchFamily="34" charset="-120"/>
              </a:rPr>
              <a:t>AI quality: four KPIs met, four close to target</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41401"/>
          <a:ext cx="10553700" cy="3473649"/>
        </p:xfrm>
        <a:graphic>
          <a:graphicData uri="http://schemas.openxmlformats.org/drawingml/2006/table">
            <a:tbl>
              <a:tblPr/>
              <a:tblGrid>
                <a:gridCol w="3588258">
                  <a:extLst>
                    <a:ext uri="{9D8B030D-6E8A-4147-A177-3AD203B41FA5}">
                      <a16:colId xmlns:a16="http://schemas.microsoft.com/office/drawing/2014/main" val="20000"/>
                    </a:ext>
                  </a:extLst>
                </a:gridCol>
                <a:gridCol w="1688592">
                  <a:extLst>
                    <a:ext uri="{9D8B030D-6E8A-4147-A177-3AD203B41FA5}">
                      <a16:colId xmlns:a16="http://schemas.microsoft.com/office/drawing/2014/main" val="20001"/>
                    </a:ext>
                  </a:extLst>
                </a:gridCol>
                <a:gridCol w="1688592">
                  <a:extLst>
                    <a:ext uri="{9D8B030D-6E8A-4147-A177-3AD203B41FA5}">
                      <a16:colId xmlns:a16="http://schemas.microsoft.com/office/drawing/2014/main" val="20002"/>
                    </a:ext>
                  </a:extLst>
                </a:gridCol>
                <a:gridCol w="1688592">
                  <a:extLst>
                    <a:ext uri="{9D8B030D-6E8A-4147-A177-3AD203B41FA5}">
                      <a16:colId xmlns:a16="http://schemas.microsoft.com/office/drawing/2014/main" val="20003"/>
                    </a:ext>
                  </a:extLst>
                </a:gridCol>
                <a:gridCol w="1899666">
                  <a:extLst>
                    <a:ext uri="{9D8B030D-6E8A-4147-A177-3AD203B41FA5}">
                      <a16:colId xmlns:a16="http://schemas.microsoft.com/office/drawing/2014/main" val="20004"/>
                    </a:ext>
                  </a:extLst>
                </a:gridCol>
              </a:tblGrid>
              <a:tr h="385961">
                <a:tc>
                  <a:txBody>
                    <a:bodyPr/>
                    <a:lstStyle/>
                    <a:p>
                      <a:pPr marL="0" indent="0">
                        <a:lnSpc>
                          <a:spcPts val="1960"/>
                        </a:lnSpc>
                        <a:buNone/>
                      </a:pPr>
                      <a:r>
                        <a:rPr lang="en-US" sz="1400" b="1" dirty="0">
                          <a:solidFill>
                            <a:srgbClr val="1F2226"/>
                          </a:solidFill>
                          <a:latin typeface="IBM Plex Sans" pitchFamily="34" charset="0"/>
                          <a:ea typeface="IBM Plex Sans" pitchFamily="34" charset="-122"/>
                          <a:cs typeface="IBM Plex Sans" pitchFamily="34" charset="-120"/>
                        </a:rPr>
                        <a:t>KPI</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6"/>
                      </a:solidFill>
                      <a:prstDash val="solid"/>
                      <a:round/>
                      <a:headEnd type="none" w="med" len="med"/>
                      <a:tailEnd type="none" w="med" len="med"/>
                    </a:lnL>
                    <a:lnR w="12700" cap="flat" cmpd="sng" algn="ctr">
                      <a:solidFill>
                        <a:srgbClr val="BAB9B8"/>
                      </a:solidFill>
                      <a:prstDash val="solid"/>
                      <a:round/>
                      <a:headEnd type="none" w="med" len="med"/>
                      <a:tailEnd type="none" w="med" len="med"/>
                    </a:lnR>
                    <a:lnT w="12700" cap="flat" cmpd="sng" algn="ctr">
                      <a:solidFill>
                        <a:srgbClr val="C8C7C6"/>
                      </a:solidFill>
                      <a:prstDash val="solid"/>
                      <a:round/>
                      <a:headEnd type="none" w="med" len="med"/>
                      <a:tailEnd type="none" w="med" len="med"/>
                    </a:lnT>
                    <a:lnB w="12700" cap="flat" cmpd="sng" algn="ctr">
                      <a:solidFill>
                        <a:srgbClr val="BAB9B8"/>
                      </a:solidFill>
                      <a:prstDash val="solid"/>
                      <a:round/>
                      <a:headEnd type="none" w="med" len="med"/>
                      <a:tailEnd type="none" w="med" len="med"/>
                    </a:lnB>
                    <a:solidFill>
                      <a:srgbClr val="E9E8E6"/>
                    </a:solidFill>
                  </a:tcPr>
                </a:tc>
                <a:tc>
                  <a:txBody>
                    <a:bodyPr/>
                    <a:lstStyle/>
                    <a:p>
                      <a:pPr marL="0" indent="0" algn="r">
                        <a:lnSpc>
                          <a:spcPts val="1960"/>
                        </a:lnSpc>
                        <a:buNone/>
                      </a:pPr>
                      <a:r>
                        <a:rPr lang="en-US" sz="1400" b="1" dirty="0">
                          <a:solidFill>
                            <a:srgbClr val="1F2226"/>
                          </a:solidFill>
                          <a:latin typeface="IBM Plex Sans" pitchFamily="34" charset="0"/>
                          <a:ea typeface="IBM Plex Sans" pitchFamily="34" charset="-122"/>
                          <a:cs typeface="IBM Plex Sans" pitchFamily="34" charset="-120"/>
                        </a:rPr>
                        <a:t>Baseline</a:t>
                      </a:r>
                      <a:endParaRPr lang="en-US" sz="1400" dirty="0">
                        <a:latin typeface="IBM Plex Sans" charset="0"/>
                        <a:ea typeface="IBM Plex Sans" charset="0"/>
                        <a:cs typeface="IBM Plex Sans" charset="0"/>
                      </a:endParaRPr>
                    </a:p>
                  </a:txBody>
                  <a:tcPr marL="62230" marR="62230" marT="62230" marB="62230">
                    <a:lnL w="12700" cap="flat" cmpd="sng" algn="ctr">
                      <a:solidFill>
                        <a:srgbClr val="BAB9B8"/>
                      </a:solidFill>
                      <a:prstDash val="solid"/>
                      <a:round/>
                      <a:headEnd type="none" w="med" len="med"/>
                      <a:tailEnd type="none" w="med" len="med"/>
                    </a:lnL>
                    <a:lnR w="12700" cap="flat" cmpd="sng" algn="ctr">
                      <a:solidFill>
                        <a:srgbClr val="BAB9B8"/>
                      </a:solidFill>
                      <a:prstDash val="solid"/>
                      <a:round/>
                      <a:headEnd type="none" w="med" len="med"/>
                      <a:tailEnd type="none" w="med" len="med"/>
                    </a:lnR>
                    <a:lnT w="12700" cap="flat" cmpd="sng" algn="ctr">
                      <a:solidFill>
                        <a:srgbClr val="C8C7C6"/>
                      </a:solidFill>
                      <a:prstDash val="solid"/>
                      <a:round/>
                      <a:headEnd type="none" w="med" len="med"/>
                      <a:tailEnd type="none" w="med" len="med"/>
                    </a:lnT>
                    <a:lnB w="12700" cap="flat" cmpd="sng" algn="ctr">
                      <a:solidFill>
                        <a:srgbClr val="BAB9B8"/>
                      </a:solidFill>
                      <a:prstDash val="solid"/>
                      <a:round/>
                      <a:headEnd type="none" w="med" len="med"/>
                      <a:tailEnd type="none" w="med" len="med"/>
                    </a:lnB>
                    <a:solidFill>
                      <a:srgbClr val="E9E8E6"/>
                    </a:solidFill>
                  </a:tcPr>
                </a:tc>
                <a:tc>
                  <a:txBody>
                    <a:bodyPr/>
                    <a:lstStyle/>
                    <a:p>
                      <a:pPr marL="0" indent="0" algn="r">
                        <a:lnSpc>
                          <a:spcPts val="1960"/>
                        </a:lnSpc>
                        <a:buNone/>
                      </a:pPr>
                      <a:r>
                        <a:rPr lang="en-US" sz="1400" b="1" dirty="0">
                          <a:solidFill>
                            <a:srgbClr val="1F2226"/>
                          </a:solidFill>
                          <a:latin typeface="IBM Plex Sans" pitchFamily="34" charset="0"/>
                          <a:ea typeface="IBM Plex Sans" pitchFamily="34" charset="-122"/>
                          <a:cs typeface="IBM Plex Sans" pitchFamily="34" charset="-120"/>
                        </a:rPr>
                        <a:t>Target</a:t>
                      </a:r>
                      <a:endParaRPr lang="en-US" sz="1400" dirty="0">
                        <a:latin typeface="IBM Plex Sans" charset="0"/>
                        <a:ea typeface="IBM Plex Sans" charset="0"/>
                        <a:cs typeface="IBM Plex Sans" charset="0"/>
                      </a:endParaRPr>
                    </a:p>
                  </a:txBody>
                  <a:tcPr marL="62230" marR="62230" marT="62230" marB="62230">
                    <a:lnL w="12700" cap="flat" cmpd="sng" algn="ctr">
                      <a:solidFill>
                        <a:srgbClr val="BAB9B8"/>
                      </a:solidFill>
                      <a:prstDash val="solid"/>
                      <a:round/>
                      <a:headEnd type="none" w="med" len="med"/>
                      <a:tailEnd type="none" w="med" len="med"/>
                    </a:lnL>
                    <a:lnR w="12700" cap="flat" cmpd="sng" algn="ctr">
                      <a:solidFill>
                        <a:srgbClr val="BAB9B8"/>
                      </a:solidFill>
                      <a:prstDash val="solid"/>
                      <a:round/>
                      <a:headEnd type="none" w="med" len="med"/>
                      <a:tailEnd type="none" w="med" len="med"/>
                    </a:lnR>
                    <a:lnT w="12700" cap="flat" cmpd="sng" algn="ctr">
                      <a:solidFill>
                        <a:srgbClr val="C8C7C6"/>
                      </a:solidFill>
                      <a:prstDash val="solid"/>
                      <a:round/>
                      <a:headEnd type="none" w="med" len="med"/>
                      <a:tailEnd type="none" w="med" len="med"/>
                    </a:lnT>
                    <a:lnB w="12700" cap="flat" cmpd="sng" algn="ctr">
                      <a:solidFill>
                        <a:srgbClr val="BAB9B8"/>
                      </a:solidFill>
                      <a:prstDash val="solid"/>
                      <a:round/>
                      <a:headEnd type="none" w="med" len="med"/>
                      <a:tailEnd type="none" w="med" len="med"/>
                    </a:lnB>
                    <a:solidFill>
                      <a:srgbClr val="E9E8E6"/>
                    </a:solidFill>
                  </a:tcPr>
                </a:tc>
                <a:tc>
                  <a:txBody>
                    <a:bodyPr/>
                    <a:lstStyle/>
                    <a:p>
                      <a:pPr marL="0" indent="0" algn="r">
                        <a:lnSpc>
                          <a:spcPts val="1960"/>
                        </a:lnSpc>
                        <a:buNone/>
                      </a:pPr>
                      <a:r>
                        <a:rPr lang="en-US" sz="1400" b="1" dirty="0">
                          <a:solidFill>
                            <a:srgbClr val="1F2226"/>
                          </a:solidFill>
                          <a:latin typeface="IBM Plex Sans" pitchFamily="34" charset="0"/>
                          <a:ea typeface="IBM Plex Sans" pitchFamily="34" charset="-122"/>
                          <a:cs typeface="IBM Plex Sans" pitchFamily="34" charset="-120"/>
                        </a:rPr>
                        <a:t>Current</a:t>
                      </a:r>
                      <a:endParaRPr lang="en-US" sz="1400" dirty="0">
                        <a:latin typeface="IBM Plex Sans" charset="0"/>
                        <a:ea typeface="IBM Plex Sans" charset="0"/>
                        <a:cs typeface="IBM Plex Sans" charset="0"/>
                      </a:endParaRPr>
                    </a:p>
                  </a:txBody>
                  <a:tcPr marL="62230" marR="62230" marT="62230" marB="62230">
                    <a:lnL w="12700" cap="flat" cmpd="sng" algn="ctr">
                      <a:solidFill>
                        <a:srgbClr val="BAB9B8"/>
                      </a:solidFill>
                      <a:prstDash val="solid"/>
                      <a:round/>
                      <a:headEnd type="none" w="med" len="med"/>
                      <a:tailEnd type="none" w="med" len="med"/>
                    </a:lnL>
                    <a:lnR w="12700" cap="flat" cmpd="sng" algn="ctr">
                      <a:solidFill>
                        <a:srgbClr val="BAB9B8"/>
                      </a:solidFill>
                      <a:prstDash val="solid"/>
                      <a:round/>
                      <a:headEnd type="none" w="med" len="med"/>
                      <a:tailEnd type="none" w="med" len="med"/>
                    </a:lnR>
                    <a:lnT w="12700" cap="flat" cmpd="sng" algn="ctr">
                      <a:solidFill>
                        <a:srgbClr val="C8C7C6"/>
                      </a:solidFill>
                      <a:prstDash val="solid"/>
                      <a:round/>
                      <a:headEnd type="none" w="med" len="med"/>
                      <a:tailEnd type="none" w="med" len="med"/>
                    </a:lnT>
                    <a:lnB w="12700" cap="flat" cmpd="sng" algn="ctr">
                      <a:solidFill>
                        <a:srgbClr val="BAB9B8"/>
                      </a:solidFill>
                      <a:prstDash val="solid"/>
                      <a:round/>
                      <a:headEnd type="none" w="med" len="med"/>
                      <a:tailEnd type="none" w="med" len="med"/>
                    </a:lnB>
                    <a:solidFill>
                      <a:srgbClr val="E9E8E6"/>
                    </a:solidFill>
                  </a:tcPr>
                </a:tc>
                <a:tc>
                  <a:txBody>
                    <a:bodyPr/>
                    <a:lstStyle/>
                    <a:p>
                      <a:pPr marL="0" indent="0">
                        <a:lnSpc>
                          <a:spcPts val="1960"/>
                        </a:lnSpc>
                        <a:buNone/>
                      </a:pPr>
                      <a:r>
                        <a:rPr lang="en-US" sz="1400" b="1" dirty="0">
                          <a:solidFill>
                            <a:srgbClr val="1F2226"/>
                          </a:solidFill>
                          <a:latin typeface="IBM Plex Sans" pitchFamily="34" charset="0"/>
                          <a:ea typeface="IBM Plex Sans" pitchFamily="34" charset="-122"/>
                          <a:cs typeface="IBM Plex Sans" pitchFamily="34" charset="-120"/>
                        </a:rPr>
                        <a:t>Status</a:t>
                      </a:r>
                      <a:endParaRPr lang="en-US" sz="1400" dirty="0">
                        <a:latin typeface="IBM Plex Sans" charset="0"/>
                        <a:ea typeface="IBM Plex Sans" charset="0"/>
                        <a:cs typeface="IBM Plex Sans" charset="0"/>
                      </a:endParaRPr>
                    </a:p>
                  </a:txBody>
                  <a:tcPr marL="62230" marR="62230" marT="62230" marB="62230">
                    <a:lnL w="12700" cap="flat" cmpd="sng" algn="ctr">
                      <a:solidFill>
                        <a:srgbClr val="BAB9B8"/>
                      </a:solidFill>
                      <a:prstDash val="solid"/>
                      <a:round/>
                      <a:headEnd type="none" w="med" len="med"/>
                      <a:tailEnd type="none" w="med" len="med"/>
                    </a:lnL>
                    <a:lnR w="12700" cap="flat" cmpd="sng" algn="ctr">
                      <a:solidFill>
                        <a:srgbClr val="BAB9B8"/>
                      </a:solidFill>
                      <a:prstDash val="solid"/>
                      <a:round/>
                      <a:headEnd type="none" w="med" len="med"/>
                      <a:tailEnd type="none" w="med" len="med"/>
                    </a:lnR>
                    <a:lnT w="12700" cap="flat" cmpd="sng" algn="ctr">
                      <a:solidFill>
                        <a:srgbClr val="C8C7C6"/>
                      </a:solidFill>
                      <a:prstDash val="solid"/>
                      <a:round/>
                      <a:headEnd type="none" w="med" len="med"/>
                      <a:tailEnd type="none" w="med" len="med"/>
                    </a:lnT>
                    <a:lnB w="12700" cap="flat" cmpd="sng" algn="ctr">
                      <a:solidFill>
                        <a:srgbClr val="BAB9B8"/>
                      </a:solidFill>
                      <a:prstDash val="solid"/>
                      <a:round/>
                      <a:headEnd type="none" w="med" len="med"/>
                      <a:tailEnd type="none" w="med" len="med"/>
                    </a:lnB>
                    <a:solidFill>
                      <a:srgbClr val="E9E8E6"/>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1F2226"/>
                          </a:solidFill>
                          <a:latin typeface="IBM Plex Sans" pitchFamily="34" charset="0"/>
                          <a:ea typeface="IBM Plex Sans" pitchFamily="34" charset="-122"/>
                          <a:cs typeface="IBM Plex Sans" pitchFamily="34" charset="-120"/>
                        </a:rPr>
                        <a:t>Retrieval recall@5</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6"/>
                      </a:solidFill>
                      <a:prstDash val="solid"/>
                      <a:round/>
                      <a:headEnd type="none" w="med" len="med"/>
                      <a:tailEnd type="none" w="med" len="med"/>
                    </a:lnL>
                    <a:lnR w="12700" cap="flat" cmpd="sng" algn="ctr">
                      <a:solidFill>
                        <a:srgbClr val="C8C7C6"/>
                      </a:solidFill>
                      <a:prstDash val="solid"/>
                      <a:round/>
                      <a:headEnd type="none" w="med" len="med"/>
                      <a:tailEnd type="none" w="med" len="med"/>
                    </a:lnR>
                    <a:lnT w="12700" cap="flat" cmpd="sng" algn="ctr">
                      <a:solidFill>
                        <a:srgbClr val="BAB9B8"/>
                      </a:solidFill>
                      <a:prstDash val="solid"/>
                      <a:round/>
                      <a:headEnd type="none" w="med" len="med"/>
                      <a:tailEnd type="none" w="med" len="med"/>
                    </a:lnT>
                    <a:lnB w="12700" cap="flat" cmpd="sng" algn="ctr">
                      <a:solidFill>
                        <a:srgbClr val="C8C7C6"/>
                      </a:solidFill>
                      <a:prstDash val="solid"/>
                      <a:round/>
                      <a:headEnd type="none" w="med" len="med"/>
                      <a:tailEnd type="none" w="med" len="med"/>
                    </a:lnB>
                  </a:tcPr>
                </a:tc>
                <a:tc>
                  <a:txBody>
                    <a:bodyPr/>
                    <a:lstStyle/>
                    <a:p>
                      <a:pPr marL="0" indent="0" algn="r">
                        <a:lnSpc>
                          <a:spcPts val="1960"/>
                        </a:lnSpc>
                        <a:buNone/>
                      </a:pPr>
                      <a:r>
                        <a:rPr lang="en-US" sz="1400" dirty="0">
                          <a:solidFill>
                            <a:srgbClr val="1F2226"/>
                          </a:solidFill>
                          <a:latin typeface="IBM Plex Sans" pitchFamily="34" charset="0"/>
                          <a:ea typeface="IBM Plex Sans" pitchFamily="34" charset="-122"/>
                          <a:cs typeface="IBM Plex Sans" pitchFamily="34" charset="-120"/>
                        </a:rPr>
                        <a:t>64%</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6"/>
                      </a:solidFill>
                      <a:prstDash val="solid"/>
                      <a:round/>
                      <a:headEnd type="none" w="med" len="med"/>
                      <a:tailEnd type="none" w="med" len="med"/>
                    </a:lnL>
                    <a:lnR w="12700" cap="flat" cmpd="sng" algn="ctr">
                      <a:solidFill>
                        <a:srgbClr val="C8C7C6"/>
                      </a:solidFill>
                      <a:prstDash val="solid"/>
                      <a:round/>
                      <a:headEnd type="none" w="med" len="med"/>
                      <a:tailEnd type="none" w="med" len="med"/>
                    </a:lnR>
                    <a:lnT w="12700" cap="flat" cmpd="sng" algn="ctr">
                      <a:solidFill>
                        <a:srgbClr val="BAB9B8"/>
                      </a:solidFill>
                      <a:prstDash val="solid"/>
                      <a:round/>
                      <a:headEnd type="none" w="med" len="med"/>
                      <a:tailEnd type="none" w="med" len="med"/>
                    </a:lnT>
                    <a:lnB w="12700" cap="flat" cmpd="sng" algn="ctr">
                      <a:solidFill>
                        <a:srgbClr val="C8C7C6"/>
                      </a:solidFill>
                      <a:prstDash val="solid"/>
                      <a:round/>
                      <a:headEnd type="none" w="med" len="med"/>
                      <a:tailEnd type="none" w="med" len="med"/>
                    </a:lnB>
                  </a:tcPr>
                </a:tc>
                <a:tc>
                  <a:txBody>
                    <a:bodyPr/>
                    <a:lstStyle/>
                    <a:p>
                      <a:pPr marL="0" indent="0" algn="r">
                        <a:lnSpc>
                          <a:spcPts val="1960"/>
                        </a:lnSpc>
                        <a:buNone/>
                      </a:pPr>
                      <a:r>
                        <a:rPr lang="en-US" sz="1400" dirty="0">
                          <a:solidFill>
                            <a:srgbClr val="1F2226"/>
                          </a:solidFill>
                          <a:latin typeface="IBM Plex Sans" pitchFamily="34" charset="0"/>
                          <a:ea typeface="IBM Plex Sans" pitchFamily="34" charset="-122"/>
                          <a:cs typeface="IBM Plex Sans" pitchFamily="34" charset="-120"/>
                        </a:rPr>
                        <a:t>85%</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6"/>
                      </a:solidFill>
                      <a:prstDash val="solid"/>
                      <a:round/>
                      <a:headEnd type="none" w="med" len="med"/>
                      <a:tailEnd type="none" w="med" len="med"/>
                    </a:lnL>
                    <a:lnR w="12700" cap="flat" cmpd="sng" algn="ctr">
                      <a:solidFill>
                        <a:srgbClr val="C8C7C6"/>
                      </a:solidFill>
                      <a:prstDash val="solid"/>
                      <a:round/>
                      <a:headEnd type="none" w="med" len="med"/>
                      <a:tailEnd type="none" w="med" len="med"/>
                    </a:lnR>
                    <a:lnT w="12700" cap="flat" cmpd="sng" algn="ctr">
                      <a:solidFill>
                        <a:srgbClr val="BAB9B8"/>
                      </a:solidFill>
                      <a:prstDash val="solid"/>
                      <a:round/>
                      <a:headEnd type="none" w="med" len="med"/>
                      <a:tailEnd type="none" w="med" len="med"/>
                    </a:lnT>
                    <a:lnB w="12700" cap="flat" cmpd="sng" algn="ctr">
                      <a:solidFill>
                        <a:srgbClr val="C8C7C6"/>
                      </a:solidFill>
                      <a:prstDash val="solid"/>
                      <a:round/>
                      <a:headEnd type="none" w="med" len="med"/>
                      <a:tailEnd type="none" w="med" len="med"/>
                    </a:lnB>
                  </a:tcPr>
                </a:tc>
                <a:tc>
                  <a:txBody>
                    <a:bodyPr/>
                    <a:lstStyle/>
                    <a:p>
                      <a:pPr marL="0" indent="0" algn="r">
                        <a:lnSpc>
                          <a:spcPts val="1960"/>
                        </a:lnSpc>
                        <a:buNone/>
                      </a:pPr>
                      <a:r>
                        <a:rPr lang="en-US" sz="1400" dirty="0">
                          <a:solidFill>
                            <a:srgbClr val="1F2226"/>
                          </a:solidFill>
                          <a:latin typeface="IBM Plex Sans" pitchFamily="34" charset="0"/>
                          <a:ea typeface="IBM Plex Sans" pitchFamily="34" charset="-122"/>
                          <a:cs typeface="IBM Plex Sans" pitchFamily="34" charset="-120"/>
                        </a:rPr>
                        <a:t>88%</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6"/>
                      </a:solidFill>
                      <a:prstDash val="solid"/>
                      <a:round/>
                      <a:headEnd type="none" w="med" len="med"/>
                      <a:tailEnd type="none" w="med" len="med"/>
                    </a:lnL>
                    <a:lnR w="12700" cap="flat" cmpd="sng" algn="ctr">
                      <a:solidFill>
                        <a:srgbClr val="C8C7C6"/>
                      </a:solidFill>
                      <a:prstDash val="solid"/>
                      <a:round/>
                      <a:headEnd type="none" w="med" len="med"/>
                      <a:tailEnd type="none" w="med" len="med"/>
                    </a:lnR>
                    <a:lnT w="12700" cap="flat" cmpd="sng" algn="ctr">
                      <a:solidFill>
                        <a:srgbClr val="BAB9B8"/>
                      </a:solidFill>
                      <a:prstDash val="solid"/>
                      <a:round/>
                      <a:headEnd type="none" w="med" len="med"/>
                      <a:tailEnd type="none" w="med" len="med"/>
                    </a:lnT>
                    <a:lnB w="12700" cap="flat" cmpd="sng" algn="ctr">
                      <a:solidFill>
                        <a:srgbClr val="C8C7C6"/>
                      </a:solidFill>
                      <a:prstDash val="solid"/>
                      <a:round/>
                      <a:headEnd type="none" w="med" len="med"/>
                      <a:tailEnd type="none" w="med" len="med"/>
                    </a:lnB>
                  </a:tcPr>
                </a:tc>
                <a:tc>
                  <a:txBody>
                    <a:bodyPr/>
                    <a:lstStyle/>
                    <a:p>
                      <a:pPr marL="0" indent="0">
                        <a:lnSpc>
                          <a:spcPts val="1960"/>
                        </a:lnSpc>
                        <a:buNone/>
                      </a:pPr>
                      <a:r>
                        <a:rPr lang="en-US" sz="1400" dirty="0">
                          <a:solidFill>
                            <a:srgbClr val="2E7D4F"/>
                          </a:solidFill>
                          <a:latin typeface="IBM Plex Sans" pitchFamily="34" charset="0"/>
                          <a:ea typeface="IBM Plex Sans" pitchFamily="34" charset="-122"/>
                          <a:cs typeface="IBM Plex Sans" pitchFamily="34" charset="-120"/>
                        </a:rPr>
                        <a:t>Met</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6"/>
                      </a:solidFill>
                      <a:prstDash val="solid"/>
                      <a:round/>
                      <a:headEnd type="none" w="med" len="med"/>
                      <a:tailEnd type="none" w="med" len="med"/>
                    </a:lnL>
                    <a:lnR w="12700" cap="flat" cmpd="sng" algn="ctr">
                      <a:solidFill>
                        <a:srgbClr val="C8C7C6"/>
                      </a:solidFill>
                      <a:prstDash val="solid"/>
                      <a:round/>
                      <a:headEnd type="none" w="med" len="med"/>
                      <a:tailEnd type="none" w="med" len="med"/>
                    </a:lnR>
                    <a:lnT w="12700" cap="flat" cmpd="sng" algn="ctr">
                      <a:solidFill>
                        <a:srgbClr val="BAB9B8"/>
                      </a:solidFill>
                      <a:prstDash val="solid"/>
                      <a:round/>
                      <a:headEnd type="none" w="med" len="med"/>
                      <a:tailEnd type="none" w="med" len="med"/>
                    </a:lnT>
                    <a:lnB w="12700" cap="flat" cmpd="sng" algn="ctr">
                      <a:solidFill>
                        <a:srgbClr val="C8C7C6"/>
                      </a:solidFill>
                      <a:prstDash val="solid"/>
                      <a:round/>
                      <a:headEnd type="none" w="med" len="med"/>
                      <a:tailEnd type="none" w="med" len="med"/>
                    </a:lnB>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1F2226"/>
                          </a:solidFill>
                          <a:latin typeface="IBM Plex Sans" pitchFamily="34" charset="0"/>
                          <a:ea typeface="IBM Plex Sans" pitchFamily="34" charset="-122"/>
                          <a:cs typeface="IBM Plex Sans" pitchFamily="34" charset="-120"/>
                        </a:rPr>
                        <a:t>Unauthorised data access</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6"/>
                      </a:solidFill>
                      <a:prstDash val="solid"/>
                      <a:round/>
                      <a:headEnd type="none" w="med" len="med"/>
                      <a:tailEnd type="none" w="med" len="med"/>
                    </a:lnL>
                    <a:lnR w="12700" cap="flat" cmpd="sng" algn="ctr">
                      <a:solidFill>
                        <a:srgbClr val="C4C2BF"/>
                      </a:solidFill>
                      <a:prstDash val="solid"/>
                      <a:round/>
                      <a:headEnd type="none" w="med" len="med"/>
                      <a:tailEnd type="none" w="med" len="med"/>
                    </a:lnR>
                    <a:lnT w="12700" cap="flat" cmpd="sng" algn="ctr">
                      <a:solidFill>
                        <a:srgbClr val="C8C7C6"/>
                      </a:solidFill>
                      <a:prstDash val="solid"/>
                      <a:round/>
                      <a:headEnd type="none" w="med" len="med"/>
                      <a:tailEnd type="none" w="med" len="med"/>
                    </a:lnT>
                    <a:lnB w="12700" cap="flat" cmpd="sng" algn="ctr">
                      <a:solidFill>
                        <a:srgbClr val="C4C2BF"/>
                      </a:solidFill>
                      <a:prstDash val="solid"/>
                      <a:round/>
                      <a:headEnd type="none" w="med" len="med"/>
                      <a:tailEnd type="none" w="med" len="med"/>
                    </a:lnB>
                    <a:solidFill>
                      <a:srgbClr val="F5F3EF"/>
                    </a:solidFill>
                  </a:tcPr>
                </a:tc>
                <a:tc>
                  <a:txBody>
                    <a:bodyPr/>
                    <a:lstStyle/>
                    <a:p>
                      <a:pPr marL="0" indent="0" algn="r">
                        <a:lnSpc>
                          <a:spcPts val="1960"/>
                        </a:lnSpc>
                        <a:buNone/>
                      </a:pPr>
                      <a:r>
                        <a:rPr lang="en-US" sz="1400" dirty="0">
                          <a:solidFill>
                            <a:srgbClr val="1F2226"/>
                          </a:solidFill>
                          <a:latin typeface="IBM Plex Sans" pitchFamily="34" charset="0"/>
                          <a:ea typeface="IBM Plex Sans" pitchFamily="34" charset="-122"/>
                          <a:cs typeface="IBM Plex Sans" pitchFamily="34" charset="-120"/>
                        </a:rPr>
                        <a:t>–</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F"/>
                      </a:solidFill>
                      <a:prstDash val="solid"/>
                      <a:round/>
                      <a:headEnd type="none" w="med" len="med"/>
                      <a:tailEnd type="none" w="med" len="med"/>
                    </a:lnL>
                    <a:lnR w="12700" cap="flat" cmpd="sng" algn="ctr">
                      <a:solidFill>
                        <a:srgbClr val="C4C2BF"/>
                      </a:solidFill>
                      <a:prstDash val="solid"/>
                      <a:round/>
                      <a:headEnd type="none" w="med" len="med"/>
                      <a:tailEnd type="none" w="med" len="med"/>
                    </a:lnR>
                    <a:lnT w="12700" cap="flat" cmpd="sng" algn="ctr">
                      <a:solidFill>
                        <a:srgbClr val="C8C7C6"/>
                      </a:solidFill>
                      <a:prstDash val="solid"/>
                      <a:round/>
                      <a:headEnd type="none" w="med" len="med"/>
                      <a:tailEnd type="none" w="med" len="med"/>
                    </a:lnT>
                    <a:lnB w="12700" cap="flat" cmpd="sng" algn="ctr">
                      <a:solidFill>
                        <a:srgbClr val="C4C2BF"/>
                      </a:solidFill>
                      <a:prstDash val="solid"/>
                      <a:round/>
                      <a:headEnd type="none" w="med" len="med"/>
                      <a:tailEnd type="none" w="med" len="med"/>
                    </a:lnB>
                    <a:solidFill>
                      <a:srgbClr val="F5F3EF"/>
                    </a:solidFill>
                  </a:tcPr>
                </a:tc>
                <a:tc>
                  <a:txBody>
                    <a:bodyPr/>
                    <a:lstStyle/>
                    <a:p>
                      <a:pPr marL="0" indent="0" algn="r">
                        <a:lnSpc>
                          <a:spcPts val="1960"/>
                        </a:lnSpc>
                        <a:buNone/>
                      </a:pPr>
                      <a:r>
                        <a:rPr lang="en-US" sz="1400" dirty="0">
                          <a:solidFill>
                            <a:srgbClr val="1F2226"/>
                          </a:solidFill>
                          <a:latin typeface="IBM Plex Sans" pitchFamily="34" charset="0"/>
                          <a:ea typeface="IBM Plex Sans" pitchFamily="34" charset="-122"/>
                          <a:cs typeface="IBM Plex Sans" pitchFamily="34" charset="-120"/>
                        </a:rPr>
                        <a:t>0</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F"/>
                      </a:solidFill>
                      <a:prstDash val="solid"/>
                      <a:round/>
                      <a:headEnd type="none" w="med" len="med"/>
                      <a:tailEnd type="none" w="med" len="med"/>
                    </a:lnL>
                    <a:lnR w="12700" cap="flat" cmpd="sng" algn="ctr">
                      <a:solidFill>
                        <a:srgbClr val="C4C2BF"/>
                      </a:solidFill>
                      <a:prstDash val="solid"/>
                      <a:round/>
                      <a:headEnd type="none" w="med" len="med"/>
                      <a:tailEnd type="none" w="med" len="med"/>
                    </a:lnR>
                    <a:lnT w="12700" cap="flat" cmpd="sng" algn="ctr">
                      <a:solidFill>
                        <a:srgbClr val="C8C7C6"/>
                      </a:solidFill>
                      <a:prstDash val="solid"/>
                      <a:round/>
                      <a:headEnd type="none" w="med" len="med"/>
                      <a:tailEnd type="none" w="med" len="med"/>
                    </a:lnT>
                    <a:lnB w="12700" cap="flat" cmpd="sng" algn="ctr">
                      <a:solidFill>
                        <a:srgbClr val="C4C2BF"/>
                      </a:solidFill>
                      <a:prstDash val="solid"/>
                      <a:round/>
                      <a:headEnd type="none" w="med" len="med"/>
                      <a:tailEnd type="none" w="med" len="med"/>
                    </a:lnB>
                    <a:solidFill>
                      <a:srgbClr val="F5F3EF"/>
                    </a:solidFill>
                  </a:tcPr>
                </a:tc>
                <a:tc>
                  <a:txBody>
                    <a:bodyPr/>
                    <a:lstStyle/>
                    <a:p>
                      <a:pPr marL="0" indent="0" algn="r">
                        <a:lnSpc>
                          <a:spcPts val="1960"/>
                        </a:lnSpc>
                        <a:buNone/>
                      </a:pPr>
                      <a:r>
                        <a:rPr lang="en-US" sz="1400" dirty="0">
                          <a:solidFill>
                            <a:srgbClr val="1F2226"/>
                          </a:solidFill>
                          <a:latin typeface="IBM Plex Sans" pitchFamily="34" charset="0"/>
                          <a:ea typeface="IBM Plex Sans" pitchFamily="34" charset="-122"/>
                          <a:cs typeface="IBM Plex Sans" pitchFamily="34" charset="-120"/>
                        </a:rPr>
                        <a:t>0</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F"/>
                      </a:solidFill>
                      <a:prstDash val="solid"/>
                      <a:round/>
                      <a:headEnd type="none" w="med" len="med"/>
                      <a:tailEnd type="none" w="med" len="med"/>
                    </a:lnL>
                    <a:lnR w="12700" cap="flat" cmpd="sng" algn="ctr">
                      <a:solidFill>
                        <a:srgbClr val="C4C2BF"/>
                      </a:solidFill>
                      <a:prstDash val="solid"/>
                      <a:round/>
                      <a:headEnd type="none" w="med" len="med"/>
                      <a:tailEnd type="none" w="med" len="med"/>
                    </a:lnR>
                    <a:lnT w="12700" cap="flat" cmpd="sng" algn="ctr">
                      <a:solidFill>
                        <a:srgbClr val="C8C7C6"/>
                      </a:solidFill>
                      <a:prstDash val="solid"/>
                      <a:round/>
                      <a:headEnd type="none" w="med" len="med"/>
                      <a:tailEnd type="none" w="med" len="med"/>
                    </a:lnT>
                    <a:lnB w="12700" cap="flat" cmpd="sng" algn="ctr">
                      <a:solidFill>
                        <a:srgbClr val="C4C2BF"/>
                      </a:solidFill>
                      <a:prstDash val="solid"/>
                      <a:round/>
                      <a:headEnd type="none" w="med" len="med"/>
                      <a:tailEnd type="none" w="med" len="med"/>
                    </a:lnB>
                    <a:solidFill>
                      <a:srgbClr val="F5F3EF"/>
                    </a:solidFill>
                  </a:tcPr>
                </a:tc>
                <a:tc>
                  <a:txBody>
                    <a:bodyPr/>
                    <a:lstStyle/>
                    <a:p>
                      <a:pPr marL="0" indent="0">
                        <a:lnSpc>
                          <a:spcPts val="1960"/>
                        </a:lnSpc>
                        <a:buNone/>
                      </a:pPr>
                      <a:r>
                        <a:rPr lang="en-US" sz="1400" dirty="0">
                          <a:solidFill>
                            <a:srgbClr val="2E7D4F"/>
                          </a:solidFill>
                          <a:latin typeface="IBM Plex Sans" pitchFamily="34" charset="0"/>
                          <a:ea typeface="IBM Plex Sans" pitchFamily="34" charset="-122"/>
                          <a:cs typeface="IBM Plex Sans" pitchFamily="34" charset="-120"/>
                        </a:rPr>
                        <a:t>Met</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F"/>
                      </a:solidFill>
                      <a:prstDash val="solid"/>
                      <a:round/>
                      <a:headEnd type="none" w="med" len="med"/>
                      <a:tailEnd type="none" w="med" len="med"/>
                    </a:lnL>
                    <a:lnR w="12700" cap="flat" cmpd="sng" algn="ctr">
                      <a:solidFill>
                        <a:srgbClr val="C4C2BF"/>
                      </a:solidFill>
                      <a:prstDash val="solid"/>
                      <a:round/>
                      <a:headEnd type="none" w="med" len="med"/>
                      <a:tailEnd type="none" w="med" len="med"/>
                    </a:lnR>
                    <a:lnT w="12700" cap="flat" cmpd="sng" algn="ctr">
                      <a:solidFill>
                        <a:srgbClr val="C8C7C6"/>
                      </a:solidFill>
                      <a:prstDash val="solid"/>
                      <a:round/>
                      <a:headEnd type="none" w="med" len="med"/>
                      <a:tailEnd type="none" w="med" len="med"/>
                    </a:lnT>
                    <a:lnB w="12700" cap="flat" cmpd="sng" algn="ctr">
                      <a:solidFill>
                        <a:srgbClr val="C4C2BF"/>
                      </a:solidFill>
                      <a:prstDash val="solid"/>
                      <a:round/>
                      <a:headEnd type="none" w="med" len="med"/>
                      <a:tailEnd type="none" w="med" len="med"/>
                    </a:lnB>
                    <a:solidFill>
                      <a:srgbClr val="F5F3EF"/>
                    </a:solidFill>
                  </a:tcPr>
                </a:tc>
                <a:extLst>
                  <a:ext uri="{0D108BD9-81ED-4DB2-BD59-A6C34878D82A}">
                    <a16:rowId xmlns:a16="http://schemas.microsoft.com/office/drawing/2014/main" val="10002"/>
                  </a:ext>
                </a:extLst>
              </a:tr>
              <a:tr h="385961">
                <a:tc>
                  <a:txBody>
                    <a:bodyPr/>
                    <a:lstStyle/>
                    <a:p>
                      <a:pPr marL="0" indent="0">
                        <a:lnSpc>
                          <a:spcPts val="1960"/>
                        </a:lnSpc>
                        <a:buNone/>
                      </a:pPr>
                      <a:r>
                        <a:rPr lang="en-US" sz="1400" dirty="0">
                          <a:solidFill>
                            <a:srgbClr val="1F2226"/>
                          </a:solidFill>
                          <a:latin typeface="IBM Plex Sans" pitchFamily="34" charset="0"/>
                          <a:ea typeface="IBM Plex Sans" pitchFamily="34" charset="-122"/>
                          <a:cs typeface="IBM Plex Sans" pitchFamily="34" charset="-120"/>
                        </a:rPr>
                        <a:t>P95 response time</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6"/>
                      </a:solidFill>
                      <a:prstDash val="solid"/>
                      <a:round/>
                      <a:headEnd type="none" w="med" len="med"/>
                      <a:tailEnd type="none" w="med" len="med"/>
                    </a:lnL>
                    <a:lnR w="12700" cap="flat" cmpd="sng" algn="ctr">
                      <a:solidFill>
                        <a:srgbClr val="C8C7C6"/>
                      </a:solidFill>
                      <a:prstDash val="solid"/>
                      <a:round/>
                      <a:headEnd type="none" w="med" len="med"/>
                      <a:tailEnd type="none" w="med" len="med"/>
                    </a:lnR>
                    <a:lnT w="12700" cap="flat" cmpd="sng" algn="ctr">
                      <a:solidFill>
                        <a:srgbClr val="C4C2BF"/>
                      </a:solidFill>
                      <a:prstDash val="solid"/>
                      <a:round/>
                      <a:headEnd type="none" w="med" len="med"/>
                      <a:tailEnd type="none" w="med" len="med"/>
                    </a:lnT>
                    <a:lnB w="12700" cap="flat" cmpd="sng" algn="ctr">
                      <a:solidFill>
                        <a:srgbClr val="C8C7C6"/>
                      </a:solidFill>
                      <a:prstDash val="solid"/>
                      <a:round/>
                      <a:headEnd type="none" w="med" len="med"/>
                      <a:tailEnd type="none" w="med" len="med"/>
                    </a:lnB>
                  </a:tcPr>
                </a:tc>
                <a:tc>
                  <a:txBody>
                    <a:bodyPr/>
                    <a:lstStyle/>
                    <a:p>
                      <a:pPr marL="0" indent="0" algn="r">
                        <a:lnSpc>
                          <a:spcPts val="1960"/>
                        </a:lnSpc>
                        <a:buNone/>
                      </a:pPr>
                      <a:r>
                        <a:rPr lang="en-US" sz="1400" dirty="0">
                          <a:solidFill>
                            <a:srgbClr val="1F2226"/>
                          </a:solidFill>
                          <a:latin typeface="IBM Plex Sans" pitchFamily="34" charset="0"/>
                          <a:ea typeface="IBM Plex Sans" pitchFamily="34" charset="-122"/>
                          <a:cs typeface="IBM Plex Sans" pitchFamily="34" charset="-120"/>
                        </a:rPr>
                        <a:t>11.2 s</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6"/>
                      </a:solidFill>
                      <a:prstDash val="solid"/>
                      <a:round/>
                      <a:headEnd type="none" w="med" len="med"/>
                      <a:tailEnd type="none" w="med" len="med"/>
                    </a:lnL>
                    <a:lnR w="12700" cap="flat" cmpd="sng" algn="ctr">
                      <a:solidFill>
                        <a:srgbClr val="C8C7C6"/>
                      </a:solidFill>
                      <a:prstDash val="solid"/>
                      <a:round/>
                      <a:headEnd type="none" w="med" len="med"/>
                      <a:tailEnd type="none" w="med" len="med"/>
                    </a:lnR>
                    <a:lnT w="12700" cap="flat" cmpd="sng" algn="ctr">
                      <a:solidFill>
                        <a:srgbClr val="C4C2BF"/>
                      </a:solidFill>
                      <a:prstDash val="solid"/>
                      <a:round/>
                      <a:headEnd type="none" w="med" len="med"/>
                      <a:tailEnd type="none" w="med" len="med"/>
                    </a:lnT>
                    <a:lnB w="12700" cap="flat" cmpd="sng" algn="ctr">
                      <a:solidFill>
                        <a:srgbClr val="C8C7C6"/>
                      </a:solidFill>
                      <a:prstDash val="solid"/>
                      <a:round/>
                      <a:headEnd type="none" w="med" len="med"/>
                      <a:tailEnd type="none" w="med" len="med"/>
                    </a:lnB>
                  </a:tcPr>
                </a:tc>
                <a:tc>
                  <a:txBody>
                    <a:bodyPr/>
                    <a:lstStyle/>
                    <a:p>
                      <a:pPr marL="0" indent="0" algn="r">
                        <a:lnSpc>
                          <a:spcPts val="1960"/>
                        </a:lnSpc>
                        <a:buNone/>
                      </a:pPr>
                      <a:r>
                        <a:rPr lang="en-US" sz="1400" dirty="0">
                          <a:solidFill>
                            <a:srgbClr val="1F2226"/>
                          </a:solidFill>
                          <a:latin typeface="IBM Plex Sans" pitchFamily="34" charset="0"/>
                          <a:ea typeface="IBM Plex Sans" pitchFamily="34" charset="-122"/>
                          <a:cs typeface="IBM Plex Sans" pitchFamily="34" charset="-120"/>
                        </a:rPr>
                        <a:t>≤ 8.0 s</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6"/>
                      </a:solidFill>
                      <a:prstDash val="solid"/>
                      <a:round/>
                      <a:headEnd type="none" w="med" len="med"/>
                      <a:tailEnd type="none" w="med" len="med"/>
                    </a:lnL>
                    <a:lnR w="12700" cap="flat" cmpd="sng" algn="ctr">
                      <a:solidFill>
                        <a:srgbClr val="C8C7C6"/>
                      </a:solidFill>
                      <a:prstDash val="solid"/>
                      <a:round/>
                      <a:headEnd type="none" w="med" len="med"/>
                      <a:tailEnd type="none" w="med" len="med"/>
                    </a:lnR>
                    <a:lnT w="12700" cap="flat" cmpd="sng" algn="ctr">
                      <a:solidFill>
                        <a:srgbClr val="C4C2BF"/>
                      </a:solidFill>
                      <a:prstDash val="solid"/>
                      <a:round/>
                      <a:headEnd type="none" w="med" len="med"/>
                      <a:tailEnd type="none" w="med" len="med"/>
                    </a:lnT>
                    <a:lnB w="12700" cap="flat" cmpd="sng" algn="ctr">
                      <a:solidFill>
                        <a:srgbClr val="C8C7C6"/>
                      </a:solidFill>
                      <a:prstDash val="solid"/>
                      <a:round/>
                      <a:headEnd type="none" w="med" len="med"/>
                      <a:tailEnd type="none" w="med" len="med"/>
                    </a:lnB>
                  </a:tcPr>
                </a:tc>
                <a:tc>
                  <a:txBody>
                    <a:bodyPr/>
                    <a:lstStyle/>
                    <a:p>
                      <a:pPr marL="0" indent="0" algn="r">
                        <a:lnSpc>
                          <a:spcPts val="1960"/>
                        </a:lnSpc>
                        <a:buNone/>
                      </a:pPr>
                      <a:r>
                        <a:rPr lang="en-US" sz="1400" dirty="0">
                          <a:solidFill>
                            <a:srgbClr val="1F2226"/>
                          </a:solidFill>
                          <a:latin typeface="IBM Plex Sans" pitchFamily="34" charset="0"/>
                          <a:ea typeface="IBM Plex Sans" pitchFamily="34" charset="-122"/>
                          <a:cs typeface="IBM Plex Sans" pitchFamily="34" charset="-120"/>
                        </a:rPr>
                        <a:t>6.4 s</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6"/>
                      </a:solidFill>
                      <a:prstDash val="solid"/>
                      <a:round/>
                      <a:headEnd type="none" w="med" len="med"/>
                      <a:tailEnd type="none" w="med" len="med"/>
                    </a:lnL>
                    <a:lnR w="12700" cap="flat" cmpd="sng" algn="ctr">
                      <a:solidFill>
                        <a:srgbClr val="C8C7C6"/>
                      </a:solidFill>
                      <a:prstDash val="solid"/>
                      <a:round/>
                      <a:headEnd type="none" w="med" len="med"/>
                      <a:tailEnd type="none" w="med" len="med"/>
                    </a:lnR>
                    <a:lnT w="12700" cap="flat" cmpd="sng" algn="ctr">
                      <a:solidFill>
                        <a:srgbClr val="C4C2BF"/>
                      </a:solidFill>
                      <a:prstDash val="solid"/>
                      <a:round/>
                      <a:headEnd type="none" w="med" len="med"/>
                      <a:tailEnd type="none" w="med" len="med"/>
                    </a:lnT>
                    <a:lnB w="12700" cap="flat" cmpd="sng" algn="ctr">
                      <a:solidFill>
                        <a:srgbClr val="C8C7C6"/>
                      </a:solidFill>
                      <a:prstDash val="solid"/>
                      <a:round/>
                      <a:headEnd type="none" w="med" len="med"/>
                      <a:tailEnd type="none" w="med" len="med"/>
                    </a:lnB>
                  </a:tcPr>
                </a:tc>
                <a:tc>
                  <a:txBody>
                    <a:bodyPr/>
                    <a:lstStyle/>
                    <a:p>
                      <a:pPr marL="0" indent="0">
                        <a:lnSpc>
                          <a:spcPts val="1960"/>
                        </a:lnSpc>
                        <a:buNone/>
                      </a:pPr>
                      <a:r>
                        <a:rPr lang="en-US" sz="1400" dirty="0">
                          <a:solidFill>
                            <a:srgbClr val="2E7D4F"/>
                          </a:solidFill>
                          <a:latin typeface="IBM Plex Sans" pitchFamily="34" charset="0"/>
                          <a:ea typeface="IBM Plex Sans" pitchFamily="34" charset="-122"/>
                          <a:cs typeface="IBM Plex Sans" pitchFamily="34" charset="-120"/>
                        </a:rPr>
                        <a:t>Met</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6"/>
                      </a:solidFill>
                      <a:prstDash val="solid"/>
                      <a:round/>
                      <a:headEnd type="none" w="med" len="med"/>
                      <a:tailEnd type="none" w="med" len="med"/>
                    </a:lnL>
                    <a:lnR w="12700" cap="flat" cmpd="sng" algn="ctr">
                      <a:solidFill>
                        <a:srgbClr val="C8C7C6"/>
                      </a:solidFill>
                      <a:prstDash val="solid"/>
                      <a:round/>
                      <a:headEnd type="none" w="med" len="med"/>
                      <a:tailEnd type="none" w="med" len="med"/>
                    </a:lnR>
                    <a:lnT w="12700" cap="flat" cmpd="sng" algn="ctr">
                      <a:solidFill>
                        <a:srgbClr val="C4C2BF"/>
                      </a:solidFill>
                      <a:prstDash val="solid"/>
                      <a:round/>
                      <a:headEnd type="none" w="med" len="med"/>
                      <a:tailEnd type="none" w="med" len="med"/>
                    </a:lnT>
                    <a:lnB w="12700" cap="flat" cmpd="sng" algn="ctr">
                      <a:solidFill>
                        <a:srgbClr val="C8C7C6"/>
                      </a:solidFill>
                      <a:prstDash val="solid"/>
                      <a:round/>
                      <a:headEnd type="none" w="med" len="med"/>
                      <a:tailEnd type="none" w="med" len="med"/>
                    </a:lnB>
                  </a:tcPr>
                </a:tc>
                <a:extLst>
                  <a:ext uri="{0D108BD9-81ED-4DB2-BD59-A6C34878D82A}">
                    <a16:rowId xmlns:a16="http://schemas.microsoft.com/office/drawing/2014/main" val="10003"/>
                  </a:ext>
                </a:extLst>
              </a:tr>
              <a:tr h="385961">
                <a:tc>
                  <a:txBody>
                    <a:bodyPr/>
                    <a:lstStyle/>
                    <a:p>
                      <a:pPr marL="0" indent="0">
                        <a:lnSpc>
                          <a:spcPts val="1960"/>
                        </a:lnSpc>
                        <a:buNone/>
                      </a:pPr>
                      <a:r>
                        <a:rPr lang="en-US" sz="1400" dirty="0">
                          <a:solidFill>
                            <a:srgbClr val="1F2226"/>
                          </a:solidFill>
                          <a:latin typeface="IBM Plex Sans" pitchFamily="34" charset="0"/>
                          <a:ea typeface="IBM Plex Sans" pitchFamily="34" charset="-122"/>
                          <a:cs typeface="IBM Plex Sans" pitchFamily="34" charset="-120"/>
                        </a:rPr>
                        <a:t>User satisfaction (1–5)</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6"/>
                      </a:solidFill>
                      <a:prstDash val="solid"/>
                      <a:round/>
                      <a:headEnd type="none" w="med" len="med"/>
                      <a:tailEnd type="none" w="med" len="med"/>
                    </a:lnL>
                    <a:lnR w="12700" cap="flat" cmpd="sng" algn="ctr">
                      <a:solidFill>
                        <a:srgbClr val="C4C2BF"/>
                      </a:solidFill>
                      <a:prstDash val="solid"/>
                      <a:round/>
                      <a:headEnd type="none" w="med" len="med"/>
                      <a:tailEnd type="none" w="med" len="med"/>
                    </a:lnR>
                    <a:lnT w="12700" cap="flat" cmpd="sng" algn="ctr">
                      <a:solidFill>
                        <a:srgbClr val="C8C7C6"/>
                      </a:solidFill>
                      <a:prstDash val="solid"/>
                      <a:round/>
                      <a:headEnd type="none" w="med" len="med"/>
                      <a:tailEnd type="none" w="med" len="med"/>
                    </a:lnT>
                    <a:lnB w="12700" cap="flat" cmpd="sng" algn="ctr">
                      <a:solidFill>
                        <a:srgbClr val="C4C2BF"/>
                      </a:solidFill>
                      <a:prstDash val="solid"/>
                      <a:round/>
                      <a:headEnd type="none" w="med" len="med"/>
                      <a:tailEnd type="none" w="med" len="med"/>
                    </a:lnB>
                    <a:solidFill>
                      <a:srgbClr val="F5F3EF"/>
                    </a:solidFill>
                  </a:tcPr>
                </a:tc>
                <a:tc>
                  <a:txBody>
                    <a:bodyPr/>
                    <a:lstStyle/>
                    <a:p>
                      <a:pPr marL="0" indent="0" algn="r">
                        <a:lnSpc>
                          <a:spcPts val="1960"/>
                        </a:lnSpc>
                        <a:buNone/>
                      </a:pPr>
                      <a:r>
                        <a:rPr lang="en-US" sz="1400" dirty="0">
                          <a:solidFill>
                            <a:srgbClr val="1F2226"/>
                          </a:solidFill>
                          <a:latin typeface="IBM Plex Sans" pitchFamily="34" charset="0"/>
                          <a:ea typeface="IBM Plex Sans" pitchFamily="34" charset="-122"/>
                          <a:cs typeface="IBM Plex Sans" pitchFamily="34" charset="-120"/>
                        </a:rPr>
                        <a:t>3.1</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F"/>
                      </a:solidFill>
                      <a:prstDash val="solid"/>
                      <a:round/>
                      <a:headEnd type="none" w="med" len="med"/>
                      <a:tailEnd type="none" w="med" len="med"/>
                    </a:lnL>
                    <a:lnR w="12700" cap="flat" cmpd="sng" algn="ctr">
                      <a:solidFill>
                        <a:srgbClr val="C4C2BF"/>
                      </a:solidFill>
                      <a:prstDash val="solid"/>
                      <a:round/>
                      <a:headEnd type="none" w="med" len="med"/>
                      <a:tailEnd type="none" w="med" len="med"/>
                    </a:lnR>
                    <a:lnT w="12700" cap="flat" cmpd="sng" algn="ctr">
                      <a:solidFill>
                        <a:srgbClr val="C8C7C6"/>
                      </a:solidFill>
                      <a:prstDash val="solid"/>
                      <a:round/>
                      <a:headEnd type="none" w="med" len="med"/>
                      <a:tailEnd type="none" w="med" len="med"/>
                    </a:lnT>
                    <a:lnB w="12700" cap="flat" cmpd="sng" algn="ctr">
                      <a:solidFill>
                        <a:srgbClr val="C4C2BF"/>
                      </a:solidFill>
                      <a:prstDash val="solid"/>
                      <a:round/>
                      <a:headEnd type="none" w="med" len="med"/>
                      <a:tailEnd type="none" w="med" len="med"/>
                    </a:lnB>
                    <a:solidFill>
                      <a:srgbClr val="F5F3EF"/>
                    </a:solidFill>
                  </a:tcPr>
                </a:tc>
                <a:tc>
                  <a:txBody>
                    <a:bodyPr/>
                    <a:lstStyle/>
                    <a:p>
                      <a:pPr marL="0" indent="0" algn="r">
                        <a:lnSpc>
                          <a:spcPts val="1960"/>
                        </a:lnSpc>
                        <a:buNone/>
                      </a:pPr>
                      <a:r>
                        <a:rPr lang="en-US" sz="1400" dirty="0">
                          <a:solidFill>
                            <a:srgbClr val="1F2226"/>
                          </a:solidFill>
                          <a:latin typeface="IBM Plex Sans" pitchFamily="34" charset="0"/>
                          <a:ea typeface="IBM Plex Sans" pitchFamily="34" charset="-122"/>
                          <a:cs typeface="IBM Plex Sans" pitchFamily="34" charset="-120"/>
                        </a:rPr>
                        <a:t>4.0</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F"/>
                      </a:solidFill>
                      <a:prstDash val="solid"/>
                      <a:round/>
                      <a:headEnd type="none" w="med" len="med"/>
                      <a:tailEnd type="none" w="med" len="med"/>
                    </a:lnL>
                    <a:lnR w="12700" cap="flat" cmpd="sng" algn="ctr">
                      <a:solidFill>
                        <a:srgbClr val="C4C2BF"/>
                      </a:solidFill>
                      <a:prstDash val="solid"/>
                      <a:round/>
                      <a:headEnd type="none" w="med" len="med"/>
                      <a:tailEnd type="none" w="med" len="med"/>
                    </a:lnR>
                    <a:lnT w="12700" cap="flat" cmpd="sng" algn="ctr">
                      <a:solidFill>
                        <a:srgbClr val="C8C7C6"/>
                      </a:solidFill>
                      <a:prstDash val="solid"/>
                      <a:round/>
                      <a:headEnd type="none" w="med" len="med"/>
                      <a:tailEnd type="none" w="med" len="med"/>
                    </a:lnT>
                    <a:lnB w="12700" cap="flat" cmpd="sng" algn="ctr">
                      <a:solidFill>
                        <a:srgbClr val="C4C2BF"/>
                      </a:solidFill>
                      <a:prstDash val="solid"/>
                      <a:round/>
                      <a:headEnd type="none" w="med" len="med"/>
                      <a:tailEnd type="none" w="med" len="med"/>
                    </a:lnB>
                    <a:solidFill>
                      <a:srgbClr val="F5F3EF"/>
                    </a:solidFill>
                  </a:tcPr>
                </a:tc>
                <a:tc>
                  <a:txBody>
                    <a:bodyPr/>
                    <a:lstStyle/>
                    <a:p>
                      <a:pPr marL="0" indent="0" algn="r">
                        <a:lnSpc>
                          <a:spcPts val="1960"/>
                        </a:lnSpc>
                        <a:buNone/>
                      </a:pPr>
                      <a:r>
                        <a:rPr lang="en-US" sz="1400" dirty="0">
                          <a:solidFill>
                            <a:srgbClr val="1F2226"/>
                          </a:solidFill>
                          <a:latin typeface="IBM Plex Sans" pitchFamily="34" charset="0"/>
                          <a:ea typeface="IBM Plex Sans" pitchFamily="34" charset="-122"/>
                          <a:cs typeface="IBM Plex Sans" pitchFamily="34" charset="-120"/>
                        </a:rPr>
                        <a:t>4.2</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F"/>
                      </a:solidFill>
                      <a:prstDash val="solid"/>
                      <a:round/>
                      <a:headEnd type="none" w="med" len="med"/>
                      <a:tailEnd type="none" w="med" len="med"/>
                    </a:lnL>
                    <a:lnR w="12700" cap="flat" cmpd="sng" algn="ctr">
                      <a:solidFill>
                        <a:srgbClr val="C4C2BF"/>
                      </a:solidFill>
                      <a:prstDash val="solid"/>
                      <a:round/>
                      <a:headEnd type="none" w="med" len="med"/>
                      <a:tailEnd type="none" w="med" len="med"/>
                    </a:lnR>
                    <a:lnT w="12700" cap="flat" cmpd="sng" algn="ctr">
                      <a:solidFill>
                        <a:srgbClr val="C8C7C6"/>
                      </a:solidFill>
                      <a:prstDash val="solid"/>
                      <a:round/>
                      <a:headEnd type="none" w="med" len="med"/>
                      <a:tailEnd type="none" w="med" len="med"/>
                    </a:lnT>
                    <a:lnB w="12700" cap="flat" cmpd="sng" algn="ctr">
                      <a:solidFill>
                        <a:srgbClr val="C4C2BF"/>
                      </a:solidFill>
                      <a:prstDash val="solid"/>
                      <a:round/>
                      <a:headEnd type="none" w="med" len="med"/>
                      <a:tailEnd type="none" w="med" len="med"/>
                    </a:lnB>
                    <a:solidFill>
                      <a:srgbClr val="F5F3EF"/>
                    </a:solidFill>
                  </a:tcPr>
                </a:tc>
                <a:tc>
                  <a:txBody>
                    <a:bodyPr/>
                    <a:lstStyle/>
                    <a:p>
                      <a:pPr marL="0" indent="0">
                        <a:lnSpc>
                          <a:spcPts val="1960"/>
                        </a:lnSpc>
                        <a:buNone/>
                      </a:pPr>
                      <a:r>
                        <a:rPr lang="en-US" sz="1400" dirty="0">
                          <a:solidFill>
                            <a:srgbClr val="2E7D4F"/>
                          </a:solidFill>
                          <a:latin typeface="IBM Plex Sans" pitchFamily="34" charset="0"/>
                          <a:ea typeface="IBM Plex Sans" pitchFamily="34" charset="-122"/>
                          <a:cs typeface="IBM Plex Sans" pitchFamily="34" charset="-120"/>
                        </a:rPr>
                        <a:t>Met</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F"/>
                      </a:solidFill>
                      <a:prstDash val="solid"/>
                      <a:round/>
                      <a:headEnd type="none" w="med" len="med"/>
                      <a:tailEnd type="none" w="med" len="med"/>
                    </a:lnL>
                    <a:lnR w="12700" cap="flat" cmpd="sng" algn="ctr">
                      <a:solidFill>
                        <a:srgbClr val="C4C2BF"/>
                      </a:solidFill>
                      <a:prstDash val="solid"/>
                      <a:round/>
                      <a:headEnd type="none" w="med" len="med"/>
                      <a:tailEnd type="none" w="med" len="med"/>
                    </a:lnR>
                    <a:lnT w="12700" cap="flat" cmpd="sng" algn="ctr">
                      <a:solidFill>
                        <a:srgbClr val="C8C7C6"/>
                      </a:solidFill>
                      <a:prstDash val="solid"/>
                      <a:round/>
                      <a:headEnd type="none" w="med" len="med"/>
                      <a:tailEnd type="none" w="med" len="med"/>
                    </a:lnT>
                    <a:lnB w="12700" cap="flat" cmpd="sng" algn="ctr">
                      <a:solidFill>
                        <a:srgbClr val="C4C2BF"/>
                      </a:solidFill>
                      <a:prstDash val="solid"/>
                      <a:round/>
                      <a:headEnd type="none" w="med" len="med"/>
                      <a:tailEnd type="none" w="med" len="med"/>
                    </a:lnB>
                    <a:solidFill>
                      <a:srgbClr val="F5F3EF"/>
                    </a:solidFill>
                  </a:tcPr>
                </a:tc>
                <a:extLst>
                  <a:ext uri="{0D108BD9-81ED-4DB2-BD59-A6C34878D82A}">
                    <a16:rowId xmlns:a16="http://schemas.microsoft.com/office/drawing/2014/main" val="10004"/>
                  </a:ext>
                </a:extLst>
              </a:tr>
              <a:tr h="385961">
                <a:tc>
                  <a:txBody>
                    <a:bodyPr/>
                    <a:lstStyle/>
                    <a:p>
                      <a:pPr marL="0" indent="0">
                        <a:lnSpc>
                          <a:spcPts val="1960"/>
                        </a:lnSpc>
                        <a:buNone/>
                      </a:pPr>
                      <a:r>
                        <a:rPr lang="en-US" sz="1400" dirty="0">
                          <a:solidFill>
                            <a:srgbClr val="1F2226"/>
                          </a:solidFill>
                          <a:latin typeface="IBM Plex Sans" pitchFamily="34" charset="0"/>
                          <a:ea typeface="IBM Plex Sans" pitchFamily="34" charset="-122"/>
                          <a:cs typeface="IBM Plex Sans" pitchFamily="34" charset="-120"/>
                        </a:rPr>
                        <a:t>Answer groundedness</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6"/>
                      </a:solidFill>
                      <a:prstDash val="solid"/>
                      <a:round/>
                      <a:headEnd type="none" w="med" len="med"/>
                      <a:tailEnd type="none" w="med" len="med"/>
                    </a:lnL>
                    <a:lnR w="12700" cap="flat" cmpd="sng" algn="ctr">
                      <a:solidFill>
                        <a:srgbClr val="C8C7C6"/>
                      </a:solidFill>
                      <a:prstDash val="solid"/>
                      <a:round/>
                      <a:headEnd type="none" w="med" len="med"/>
                      <a:tailEnd type="none" w="med" len="med"/>
                    </a:lnR>
                    <a:lnT w="12700" cap="flat" cmpd="sng" algn="ctr">
                      <a:solidFill>
                        <a:srgbClr val="C4C2BF"/>
                      </a:solidFill>
                      <a:prstDash val="solid"/>
                      <a:round/>
                      <a:headEnd type="none" w="med" len="med"/>
                      <a:tailEnd type="none" w="med" len="med"/>
                    </a:lnT>
                    <a:lnB w="12700" cap="flat" cmpd="sng" algn="ctr">
                      <a:solidFill>
                        <a:srgbClr val="C8C7C6"/>
                      </a:solidFill>
                      <a:prstDash val="solid"/>
                      <a:round/>
                      <a:headEnd type="none" w="med" len="med"/>
                      <a:tailEnd type="none" w="med" len="med"/>
                    </a:lnB>
                  </a:tcPr>
                </a:tc>
                <a:tc>
                  <a:txBody>
                    <a:bodyPr/>
                    <a:lstStyle/>
                    <a:p>
                      <a:pPr marL="0" indent="0" algn="r">
                        <a:lnSpc>
                          <a:spcPts val="1960"/>
                        </a:lnSpc>
                        <a:buNone/>
                      </a:pPr>
                      <a:r>
                        <a:rPr lang="en-US" sz="1400" dirty="0">
                          <a:solidFill>
                            <a:srgbClr val="1F2226"/>
                          </a:solidFill>
                          <a:latin typeface="IBM Plex Sans" pitchFamily="34" charset="0"/>
                          <a:ea typeface="IBM Plex Sans" pitchFamily="34" charset="-122"/>
                          <a:cs typeface="IBM Plex Sans" pitchFamily="34" charset="-120"/>
                        </a:rPr>
                        <a:t>72%</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6"/>
                      </a:solidFill>
                      <a:prstDash val="solid"/>
                      <a:round/>
                      <a:headEnd type="none" w="med" len="med"/>
                      <a:tailEnd type="none" w="med" len="med"/>
                    </a:lnL>
                    <a:lnR w="12700" cap="flat" cmpd="sng" algn="ctr">
                      <a:solidFill>
                        <a:srgbClr val="C8C7C6"/>
                      </a:solidFill>
                      <a:prstDash val="solid"/>
                      <a:round/>
                      <a:headEnd type="none" w="med" len="med"/>
                      <a:tailEnd type="none" w="med" len="med"/>
                    </a:lnR>
                    <a:lnT w="12700" cap="flat" cmpd="sng" algn="ctr">
                      <a:solidFill>
                        <a:srgbClr val="C4C2BF"/>
                      </a:solidFill>
                      <a:prstDash val="solid"/>
                      <a:round/>
                      <a:headEnd type="none" w="med" len="med"/>
                      <a:tailEnd type="none" w="med" len="med"/>
                    </a:lnT>
                    <a:lnB w="12700" cap="flat" cmpd="sng" algn="ctr">
                      <a:solidFill>
                        <a:srgbClr val="C8C7C6"/>
                      </a:solidFill>
                      <a:prstDash val="solid"/>
                      <a:round/>
                      <a:headEnd type="none" w="med" len="med"/>
                      <a:tailEnd type="none" w="med" len="med"/>
                    </a:lnB>
                  </a:tcPr>
                </a:tc>
                <a:tc>
                  <a:txBody>
                    <a:bodyPr/>
                    <a:lstStyle/>
                    <a:p>
                      <a:pPr marL="0" indent="0" algn="r">
                        <a:lnSpc>
                          <a:spcPts val="1960"/>
                        </a:lnSpc>
                        <a:buNone/>
                      </a:pPr>
                      <a:r>
                        <a:rPr lang="en-US" sz="1400" dirty="0">
                          <a:solidFill>
                            <a:srgbClr val="1F2226"/>
                          </a:solidFill>
                          <a:latin typeface="IBM Plex Sans" pitchFamily="34" charset="0"/>
                          <a:ea typeface="IBM Plex Sans" pitchFamily="34" charset="-122"/>
                          <a:cs typeface="IBM Plex Sans" pitchFamily="34" charset="-120"/>
                        </a:rPr>
                        <a:t>90%</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6"/>
                      </a:solidFill>
                      <a:prstDash val="solid"/>
                      <a:round/>
                      <a:headEnd type="none" w="med" len="med"/>
                      <a:tailEnd type="none" w="med" len="med"/>
                    </a:lnL>
                    <a:lnR w="12700" cap="flat" cmpd="sng" algn="ctr">
                      <a:solidFill>
                        <a:srgbClr val="C8C7C6"/>
                      </a:solidFill>
                      <a:prstDash val="solid"/>
                      <a:round/>
                      <a:headEnd type="none" w="med" len="med"/>
                      <a:tailEnd type="none" w="med" len="med"/>
                    </a:lnR>
                    <a:lnT w="12700" cap="flat" cmpd="sng" algn="ctr">
                      <a:solidFill>
                        <a:srgbClr val="C4C2BF"/>
                      </a:solidFill>
                      <a:prstDash val="solid"/>
                      <a:round/>
                      <a:headEnd type="none" w="med" len="med"/>
                      <a:tailEnd type="none" w="med" len="med"/>
                    </a:lnT>
                    <a:lnB w="12700" cap="flat" cmpd="sng" algn="ctr">
                      <a:solidFill>
                        <a:srgbClr val="C8C7C6"/>
                      </a:solidFill>
                      <a:prstDash val="solid"/>
                      <a:round/>
                      <a:headEnd type="none" w="med" len="med"/>
                      <a:tailEnd type="none" w="med" len="med"/>
                    </a:lnB>
                  </a:tcPr>
                </a:tc>
                <a:tc>
                  <a:txBody>
                    <a:bodyPr/>
                    <a:lstStyle/>
                    <a:p>
                      <a:pPr marL="0" indent="0" algn="r">
                        <a:lnSpc>
                          <a:spcPts val="1960"/>
                        </a:lnSpc>
                        <a:buNone/>
                      </a:pPr>
                      <a:r>
                        <a:rPr lang="en-US" sz="1400" dirty="0">
                          <a:solidFill>
                            <a:srgbClr val="1F2226"/>
                          </a:solidFill>
                          <a:latin typeface="IBM Plex Sans" pitchFamily="34" charset="0"/>
                          <a:ea typeface="IBM Plex Sans" pitchFamily="34" charset="-122"/>
                          <a:cs typeface="IBM Plex Sans" pitchFamily="34" charset="-120"/>
                        </a:rPr>
                        <a:t>87%</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6"/>
                      </a:solidFill>
                      <a:prstDash val="solid"/>
                      <a:round/>
                      <a:headEnd type="none" w="med" len="med"/>
                      <a:tailEnd type="none" w="med" len="med"/>
                    </a:lnL>
                    <a:lnR w="12700" cap="flat" cmpd="sng" algn="ctr">
                      <a:solidFill>
                        <a:srgbClr val="C8C7C6"/>
                      </a:solidFill>
                      <a:prstDash val="solid"/>
                      <a:round/>
                      <a:headEnd type="none" w="med" len="med"/>
                      <a:tailEnd type="none" w="med" len="med"/>
                    </a:lnR>
                    <a:lnT w="12700" cap="flat" cmpd="sng" algn="ctr">
                      <a:solidFill>
                        <a:srgbClr val="C4C2BF"/>
                      </a:solidFill>
                      <a:prstDash val="solid"/>
                      <a:round/>
                      <a:headEnd type="none" w="med" len="med"/>
                      <a:tailEnd type="none" w="med" len="med"/>
                    </a:lnT>
                    <a:lnB w="12700" cap="flat" cmpd="sng" algn="ctr">
                      <a:solidFill>
                        <a:srgbClr val="C8C7C6"/>
                      </a:solidFill>
                      <a:prstDash val="solid"/>
                      <a:round/>
                      <a:headEnd type="none" w="med" len="med"/>
                      <a:tailEnd type="none" w="med" len="med"/>
                    </a:lnB>
                  </a:tcPr>
                </a:tc>
                <a:tc>
                  <a:txBody>
                    <a:bodyPr/>
                    <a:lstStyle/>
                    <a:p>
                      <a:pPr marL="0" indent="0">
                        <a:lnSpc>
                          <a:spcPts val="1960"/>
                        </a:lnSpc>
                        <a:buNone/>
                      </a:pPr>
                      <a:r>
                        <a:rPr lang="en-US" sz="1400" dirty="0">
                          <a:solidFill>
                            <a:srgbClr val="9A5205"/>
                          </a:solidFill>
                          <a:latin typeface="IBM Plex Sans" pitchFamily="34" charset="0"/>
                          <a:ea typeface="IBM Plex Sans" pitchFamily="34" charset="-122"/>
                          <a:cs typeface="IBM Plex Sans" pitchFamily="34" charset="-120"/>
                        </a:rPr>
                        <a:t>Close · tuning</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6"/>
                      </a:solidFill>
                      <a:prstDash val="solid"/>
                      <a:round/>
                      <a:headEnd type="none" w="med" len="med"/>
                      <a:tailEnd type="none" w="med" len="med"/>
                    </a:lnL>
                    <a:lnR w="12700" cap="flat" cmpd="sng" algn="ctr">
                      <a:solidFill>
                        <a:srgbClr val="C8C7C6"/>
                      </a:solidFill>
                      <a:prstDash val="solid"/>
                      <a:round/>
                      <a:headEnd type="none" w="med" len="med"/>
                      <a:tailEnd type="none" w="med" len="med"/>
                    </a:lnR>
                    <a:lnT w="12700" cap="flat" cmpd="sng" algn="ctr">
                      <a:solidFill>
                        <a:srgbClr val="C4C2BF"/>
                      </a:solidFill>
                      <a:prstDash val="solid"/>
                      <a:round/>
                      <a:headEnd type="none" w="med" len="med"/>
                      <a:tailEnd type="none" w="med" len="med"/>
                    </a:lnT>
                    <a:lnB w="12700" cap="flat" cmpd="sng" algn="ctr">
                      <a:solidFill>
                        <a:srgbClr val="C8C7C6"/>
                      </a:solidFill>
                      <a:prstDash val="solid"/>
                      <a:round/>
                      <a:headEnd type="none" w="med" len="med"/>
                      <a:tailEnd type="none" w="med" len="med"/>
                    </a:lnB>
                  </a:tcPr>
                </a:tc>
                <a:extLst>
                  <a:ext uri="{0D108BD9-81ED-4DB2-BD59-A6C34878D82A}">
                    <a16:rowId xmlns:a16="http://schemas.microsoft.com/office/drawing/2014/main" val="10005"/>
                  </a:ext>
                </a:extLst>
              </a:tr>
              <a:tr h="385961">
                <a:tc>
                  <a:txBody>
                    <a:bodyPr/>
                    <a:lstStyle/>
                    <a:p>
                      <a:pPr marL="0" indent="0">
                        <a:lnSpc>
                          <a:spcPts val="1960"/>
                        </a:lnSpc>
                        <a:buNone/>
                      </a:pPr>
                      <a:r>
                        <a:rPr lang="en-US" sz="1400" dirty="0">
                          <a:solidFill>
                            <a:srgbClr val="1F2226"/>
                          </a:solidFill>
                          <a:latin typeface="IBM Plex Sans" pitchFamily="34" charset="0"/>
                          <a:ea typeface="IBM Plex Sans" pitchFamily="34" charset="-122"/>
                          <a:cs typeface="IBM Plex Sans" pitchFamily="34" charset="-120"/>
                        </a:rPr>
                        <a:t>Citation correctness</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6"/>
                      </a:solidFill>
                      <a:prstDash val="solid"/>
                      <a:round/>
                      <a:headEnd type="none" w="med" len="med"/>
                      <a:tailEnd type="none" w="med" len="med"/>
                    </a:lnL>
                    <a:lnR w="12700" cap="flat" cmpd="sng" algn="ctr">
                      <a:solidFill>
                        <a:srgbClr val="C4C2BF"/>
                      </a:solidFill>
                      <a:prstDash val="solid"/>
                      <a:round/>
                      <a:headEnd type="none" w="med" len="med"/>
                      <a:tailEnd type="none" w="med" len="med"/>
                    </a:lnR>
                    <a:lnT w="12700" cap="flat" cmpd="sng" algn="ctr">
                      <a:solidFill>
                        <a:srgbClr val="C8C7C6"/>
                      </a:solidFill>
                      <a:prstDash val="solid"/>
                      <a:round/>
                      <a:headEnd type="none" w="med" len="med"/>
                      <a:tailEnd type="none" w="med" len="med"/>
                    </a:lnT>
                    <a:lnB w="12700" cap="flat" cmpd="sng" algn="ctr">
                      <a:solidFill>
                        <a:srgbClr val="C4C2BF"/>
                      </a:solidFill>
                      <a:prstDash val="solid"/>
                      <a:round/>
                      <a:headEnd type="none" w="med" len="med"/>
                      <a:tailEnd type="none" w="med" len="med"/>
                    </a:lnB>
                    <a:solidFill>
                      <a:srgbClr val="F5F3EF"/>
                    </a:solidFill>
                  </a:tcPr>
                </a:tc>
                <a:tc>
                  <a:txBody>
                    <a:bodyPr/>
                    <a:lstStyle/>
                    <a:p>
                      <a:pPr marL="0" indent="0" algn="r">
                        <a:lnSpc>
                          <a:spcPts val="1960"/>
                        </a:lnSpc>
                        <a:buNone/>
                      </a:pPr>
                      <a:r>
                        <a:rPr lang="en-US" sz="1400" dirty="0">
                          <a:solidFill>
                            <a:srgbClr val="1F2226"/>
                          </a:solidFill>
                          <a:latin typeface="IBM Plex Sans" pitchFamily="34" charset="0"/>
                          <a:ea typeface="IBM Plex Sans" pitchFamily="34" charset="-122"/>
                          <a:cs typeface="IBM Plex Sans" pitchFamily="34" charset="-120"/>
                        </a:rPr>
                        <a:t>65%</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F"/>
                      </a:solidFill>
                      <a:prstDash val="solid"/>
                      <a:round/>
                      <a:headEnd type="none" w="med" len="med"/>
                      <a:tailEnd type="none" w="med" len="med"/>
                    </a:lnL>
                    <a:lnR w="12700" cap="flat" cmpd="sng" algn="ctr">
                      <a:solidFill>
                        <a:srgbClr val="C4C2BF"/>
                      </a:solidFill>
                      <a:prstDash val="solid"/>
                      <a:round/>
                      <a:headEnd type="none" w="med" len="med"/>
                      <a:tailEnd type="none" w="med" len="med"/>
                    </a:lnR>
                    <a:lnT w="12700" cap="flat" cmpd="sng" algn="ctr">
                      <a:solidFill>
                        <a:srgbClr val="C8C7C6"/>
                      </a:solidFill>
                      <a:prstDash val="solid"/>
                      <a:round/>
                      <a:headEnd type="none" w="med" len="med"/>
                      <a:tailEnd type="none" w="med" len="med"/>
                    </a:lnT>
                    <a:lnB w="12700" cap="flat" cmpd="sng" algn="ctr">
                      <a:solidFill>
                        <a:srgbClr val="C4C2BF"/>
                      </a:solidFill>
                      <a:prstDash val="solid"/>
                      <a:round/>
                      <a:headEnd type="none" w="med" len="med"/>
                      <a:tailEnd type="none" w="med" len="med"/>
                    </a:lnB>
                    <a:solidFill>
                      <a:srgbClr val="F5F3EF"/>
                    </a:solidFill>
                  </a:tcPr>
                </a:tc>
                <a:tc>
                  <a:txBody>
                    <a:bodyPr/>
                    <a:lstStyle/>
                    <a:p>
                      <a:pPr marL="0" indent="0" algn="r">
                        <a:lnSpc>
                          <a:spcPts val="1960"/>
                        </a:lnSpc>
                        <a:buNone/>
                      </a:pPr>
                      <a:r>
                        <a:rPr lang="en-US" sz="1400" dirty="0">
                          <a:solidFill>
                            <a:srgbClr val="1F2226"/>
                          </a:solidFill>
                          <a:latin typeface="IBM Plex Sans" pitchFamily="34" charset="0"/>
                          <a:ea typeface="IBM Plex Sans" pitchFamily="34" charset="-122"/>
                          <a:cs typeface="IBM Plex Sans" pitchFamily="34" charset="-120"/>
                        </a:rPr>
                        <a:t>95%</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F"/>
                      </a:solidFill>
                      <a:prstDash val="solid"/>
                      <a:round/>
                      <a:headEnd type="none" w="med" len="med"/>
                      <a:tailEnd type="none" w="med" len="med"/>
                    </a:lnL>
                    <a:lnR w="12700" cap="flat" cmpd="sng" algn="ctr">
                      <a:solidFill>
                        <a:srgbClr val="C4C2BF"/>
                      </a:solidFill>
                      <a:prstDash val="solid"/>
                      <a:round/>
                      <a:headEnd type="none" w="med" len="med"/>
                      <a:tailEnd type="none" w="med" len="med"/>
                    </a:lnR>
                    <a:lnT w="12700" cap="flat" cmpd="sng" algn="ctr">
                      <a:solidFill>
                        <a:srgbClr val="C8C7C6"/>
                      </a:solidFill>
                      <a:prstDash val="solid"/>
                      <a:round/>
                      <a:headEnd type="none" w="med" len="med"/>
                      <a:tailEnd type="none" w="med" len="med"/>
                    </a:lnT>
                    <a:lnB w="12700" cap="flat" cmpd="sng" algn="ctr">
                      <a:solidFill>
                        <a:srgbClr val="C4C2BF"/>
                      </a:solidFill>
                      <a:prstDash val="solid"/>
                      <a:round/>
                      <a:headEnd type="none" w="med" len="med"/>
                      <a:tailEnd type="none" w="med" len="med"/>
                    </a:lnB>
                    <a:solidFill>
                      <a:srgbClr val="F5F3EF"/>
                    </a:solidFill>
                  </a:tcPr>
                </a:tc>
                <a:tc>
                  <a:txBody>
                    <a:bodyPr/>
                    <a:lstStyle/>
                    <a:p>
                      <a:pPr marL="0" indent="0" algn="r">
                        <a:lnSpc>
                          <a:spcPts val="1960"/>
                        </a:lnSpc>
                        <a:buNone/>
                      </a:pPr>
                      <a:r>
                        <a:rPr lang="en-US" sz="1400" dirty="0">
                          <a:solidFill>
                            <a:srgbClr val="1F2226"/>
                          </a:solidFill>
                          <a:latin typeface="IBM Plex Sans" pitchFamily="34" charset="0"/>
                          <a:ea typeface="IBM Plex Sans" pitchFamily="34" charset="-122"/>
                          <a:cs typeface="IBM Plex Sans" pitchFamily="34" charset="-120"/>
                        </a:rPr>
                        <a:t>91%</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F"/>
                      </a:solidFill>
                      <a:prstDash val="solid"/>
                      <a:round/>
                      <a:headEnd type="none" w="med" len="med"/>
                      <a:tailEnd type="none" w="med" len="med"/>
                    </a:lnL>
                    <a:lnR w="12700" cap="flat" cmpd="sng" algn="ctr">
                      <a:solidFill>
                        <a:srgbClr val="C4C2BF"/>
                      </a:solidFill>
                      <a:prstDash val="solid"/>
                      <a:round/>
                      <a:headEnd type="none" w="med" len="med"/>
                      <a:tailEnd type="none" w="med" len="med"/>
                    </a:lnR>
                    <a:lnT w="12700" cap="flat" cmpd="sng" algn="ctr">
                      <a:solidFill>
                        <a:srgbClr val="C8C7C6"/>
                      </a:solidFill>
                      <a:prstDash val="solid"/>
                      <a:round/>
                      <a:headEnd type="none" w="med" len="med"/>
                      <a:tailEnd type="none" w="med" len="med"/>
                    </a:lnT>
                    <a:lnB w="12700" cap="flat" cmpd="sng" algn="ctr">
                      <a:solidFill>
                        <a:srgbClr val="C4C2BF"/>
                      </a:solidFill>
                      <a:prstDash val="solid"/>
                      <a:round/>
                      <a:headEnd type="none" w="med" len="med"/>
                      <a:tailEnd type="none" w="med" len="med"/>
                    </a:lnB>
                    <a:solidFill>
                      <a:srgbClr val="F5F3EF"/>
                    </a:solidFill>
                  </a:tcPr>
                </a:tc>
                <a:tc>
                  <a:txBody>
                    <a:bodyPr/>
                    <a:lstStyle/>
                    <a:p>
                      <a:pPr marL="0" indent="0">
                        <a:lnSpc>
                          <a:spcPts val="1960"/>
                        </a:lnSpc>
                        <a:buNone/>
                      </a:pPr>
                      <a:r>
                        <a:rPr lang="en-US" sz="1400" dirty="0">
                          <a:solidFill>
                            <a:srgbClr val="9A5205"/>
                          </a:solidFill>
                          <a:latin typeface="IBM Plex Sans" pitchFamily="34" charset="0"/>
                          <a:ea typeface="IBM Plex Sans" pitchFamily="34" charset="-122"/>
                          <a:cs typeface="IBM Plex Sans" pitchFamily="34" charset="-120"/>
                        </a:rPr>
                        <a:t>Close · tuning</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F"/>
                      </a:solidFill>
                      <a:prstDash val="solid"/>
                      <a:round/>
                      <a:headEnd type="none" w="med" len="med"/>
                      <a:tailEnd type="none" w="med" len="med"/>
                    </a:lnL>
                    <a:lnR w="12700" cap="flat" cmpd="sng" algn="ctr">
                      <a:solidFill>
                        <a:srgbClr val="C4C2BF"/>
                      </a:solidFill>
                      <a:prstDash val="solid"/>
                      <a:round/>
                      <a:headEnd type="none" w="med" len="med"/>
                      <a:tailEnd type="none" w="med" len="med"/>
                    </a:lnR>
                    <a:lnT w="12700" cap="flat" cmpd="sng" algn="ctr">
                      <a:solidFill>
                        <a:srgbClr val="C8C7C6"/>
                      </a:solidFill>
                      <a:prstDash val="solid"/>
                      <a:round/>
                      <a:headEnd type="none" w="med" len="med"/>
                      <a:tailEnd type="none" w="med" len="med"/>
                    </a:lnT>
                    <a:lnB w="12700" cap="flat" cmpd="sng" algn="ctr">
                      <a:solidFill>
                        <a:srgbClr val="C4C2BF"/>
                      </a:solidFill>
                      <a:prstDash val="solid"/>
                      <a:round/>
                      <a:headEnd type="none" w="med" len="med"/>
                      <a:tailEnd type="none" w="med" len="med"/>
                    </a:lnB>
                    <a:solidFill>
                      <a:srgbClr val="F5F3EF"/>
                    </a:solidFill>
                  </a:tcPr>
                </a:tc>
                <a:extLst>
                  <a:ext uri="{0D108BD9-81ED-4DB2-BD59-A6C34878D82A}">
                    <a16:rowId xmlns:a16="http://schemas.microsoft.com/office/drawing/2014/main" val="10006"/>
                  </a:ext>
                </a:extLst>
              </a:tr>
              <a:tr h="385961">
                <a:tc>
                  <a:txBody>
                    <a:bodyPr/>
                    <a:lstStyle/>
                    <a:p>
                      <a:pPr marL="0" indent="0">
                        <a:lnSpc>
                          <a:spcPts val="1960"/>
                        </a:lnSpc>
                        <a:buNone/>
                      </a:pPr>
                      <a:r>
                        <a:rPr lang="en-US" sz="1400" dirty="0">
                          <a:solidFill>
                            <a:srgbClr val="1F2226"/>
                          </a:solidFill>
                          <a:latin typeface="IBM Plex Sans" pitchFamily="34" charset="0"/>
                          <a:ea typeface="IBM Plex Sans" pitchFamily="34" charset="-122"/>
                          <a:cs typeface="IBM Plex Sans" pitchFamily="34" charset="-120"/>
                        </a:rPr>
                        <a:t>Tool-call success</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6"/>
                      </a:solidFill>
                      <a:prstDash val="solid"/>
                      <a:round/>
                      <a:headEnd type="none" w="med" len="med"/>
                      <a:tailEnd type="none" w="med" len="med"/>
                    </a:lnL>
                    <a:lnR w="12700" cap="flat" cmpd="sng" algn="ctr">
                      <a:solidFill>
                        <a:srgbClr val="C8C7C6"/>
                      </a:solidFill>
                      <a:prstDash val="solid"/>
                      <a:round/>
                      <a:headEnd type="none" w="med" len="med"/>
                      <a:tailEnd type="none" w="med" len="med"/>
                    </a:lnR>
                    <a:lnT w="12700" cap="flat" cmpd="sng" algn="ctr">
                      <a:solidFill>
                        <a:srgbClr val="C4C2BF"/>
                      </a:solidFill>
                      <a:prstDash val="solid"/>
                      <a:round/>
                      <a:headEnd type="none" w="med" len="med"/>
                      <a:tailEnd type="none" w="med" len="med"/>
                    </a:lnT>
                    <a:lnB w="12700" cap="flat" cmpd="sng" algn="ctr">
                      <a:solidFill>
                        <a:srgbClr val="C8C7C6"/>
                      </a:solidFill>
                      <a:prstDash val="solid"/>
                      <a:round/>
                      <a:headEnd type="none" w="med" len="med"/>
                      <a:tailEnd type="none" w="med" len="med"/>
                    </a:lnB>
                  </a:tcPr>
                </a:tc>
                <a:tc>
                  <a:txBody>
                    <a:bodyPr/>
                    <a:lstStyle/>
                    <a:p>
                      <a:pPr marL="0" indent="0" algn="r">
                        <a:lnSpc>
                          <a:spcPts val="1960"/>
                        </a:lnSpc>
                        <a:buNone/>
                      </a:pPr>
                      <a:r>
                        <a:rPr lang="en-US" sz="1400" dirty="0">
                          <a:solidFill>
                            <a:srgbClr val="1F2226"/>
                          </a:solidFill>
                          <a:latin typeface="IBM Plex Sans" pitchFamily="34" charset="0"/>
                          <a:ea typeface="IBM Plex Sans" pitchFamily="34" charset="-122"/>
                          <a:cs typeface="IBM Plex Sans" pitchFamily="34" charset="-120"/>
                        </a:rPr>
                        <a:t>90%</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6"/>
                      </a:solidFill>
                      <a:prstDash val="solid"/>
                      <a:round/>
                      <a:headEnd type="none" w="med" len="med"/>
                      <a:tailEnd type="none" w="med" len="med"/>
                    </a:lnL>
                    <a:lnR w="12700" cap="flat" cmpd="sng" algn="ctr">
                      <a:solidFill>
                        <a:srgbClr val="C8C7C6"/>
                      </a:solidFill>
                      <a:prstDash val="solid"/>
                      <a:round/>
                      <a:headEnd type="none" w="med" len="med"/>
                      <a:tailEnd type="none" w="med" len="med"/>
                    </a:lnR>
                    <a:lnT w="12700" cap="flat" cmpd="sng" algn="ctr">
                      <a:solidFill>
                        <a:srgbClr val="C4C2BF"/>
                      </a:solidFill>
                      <a:prstDash val="solid"/>
                      <a:round/>
                      <a:headEnd type="none" w="med" len="med"/>
                      <a:tailEnd type="none" w="med" len="med"/>
                    </a:lnT>
                    <a:lnB w="12700" cap="flat" cmpd="sng" algn="ctr">
                      <a:solidFill>
                        <a:srgbClr val="C8C7C6"/>
                      </a:solidFill>
                      <a:prstDash val="solid"/>
                      <a:round/>
                      <a:headEnd type="none" w="med" len="med"/>
                      <a:tailEnd type="none" w="med" len="med"/>
                    </a:lnB>
                  </a:tcPr>
                </a:tc>
                <a:tc>
                  <a:txBody>
                    <a:bodyPr/>
                    <a:lstStyle/>
                    <a:p>
                      <a:pPr marL="0" indent="0" algn="r">
                        <a:lnSpc>
                          <a:spcPts val="1960"/>
                        </a:lnSpc>
                        <a:buNone/>
                      </a:pPr>
                      <a:r>
                        <a:rPr lang="en-US" sz="1400" dirty="0">
                          <a:solidFill>
                            <a:srgbClr val="1F2226"/>
                          </a:solidFill>
                          <a:latin typeface="IBM Plex Sans" pitchFamily="34" charset="0"/>
                          <a:ea typeface="IBM Plex Sans" pitchFamily="34" charset="-122"/>
                          <a:cs typeface="IBM Plex Sans" pitchFamily="34" charset="-120"/>
                        </a:rPr>
                        <a:t>98%</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6"/>
                      </a:solidFill>
                      <a:prstDash val="solid"/>
                      <a:round/>
                      <a:headEnd type="none" w="med" len="med"/>
                      <a:tailEnd type="none" w="med" len="med"/>
                    </a:lnL>
                    <a:lnR w="12700" cap="flat" cmpd="sng" algn="ctr">
                      <a:solidFill>
                        <a:srgbClr val="C8C7C6"/>
                      </a:solidFill>
                      <a:prstDash val="solid"/>
                      <a:round/>
                      <a:headEnd type="none" w="med" len="med"/>
                      <a:tailEnd type="none" w="med" len="med"/>
                    </a:lnR>
                    <a:lnT w="12700" cap="flat" cmpd="sng" algn="ctr">
                      <a:solidFill>
                        <a:srgbClr val="C4C2BF"/>
                      </a:solidFill>
                      <a:prstDash val="solid"/>
                      <a:round/>
                      <a:headEnd type="none" w="med" len="med"/>
                      <a:tailEnd type="none" w="med" len="med"/>
                    </a:lnT>
                    <a:lnB w="12700" cap="flat" cmpd="sng" algn="ctr">
                      <a:solidFill>
                        <a:srgbClr val="C8C7C6"/>
                      </a:solidFill>
                      <a:prstDash val="solid"/>
                      <a:round/>
                      <a:headEnd type="none" w="med" len="med"/>
                      <a:tailEnd type="none" w="med" len="med"/>
                    </a:lnB>
                  </a:tcPr>
                </a:tc>
                <a:tc>
                  <a:txBody>
                    <a:bodyPr/>
                    <a:lstStyle/>
                    <a:p>
                      <a:pPr marL="0" indent="0" algn="r">
                        <a:lnSpc>
                          <a:spcPts val="1960"/>
                        </a:lnSpc>
                        <a:buNone/>
                      </a:pPr>
                      <a:r>
                        <a:rPr lang="en-US" sz="1400" dirty="0">
                          <a:solidFill>
                            <a:srgbClr val="1F2226"/>
                          </a:solidFill>
                          <a:latin typeface="IBM Plex Sans" pitchFamily="34" charset="0"/>
                          <a:ea typeface="IBM Plex Sans" pitchFamily="34" charset="-122"/>
                          <a:cs typeface="IBM Plex Sans" pitchFamily="34" charset="-120"/>
                        </a:rPr>
                        <a:t>95.5%</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6"/>
                      </a:solidFill>
                      <a:prstDash val="solid"/>
                      <a:round/>
                      <a:headEnd type="none" w="med" len="med"/>
                      <a:tailEnd type="none" w="med" len="med"/>
                    </a:lnL>
                    <a:lnR w="12700" cap="flat" cmpd="sng" algn="ctr">
                      <a:solidFill>
                        <a:srgbClr val="C8C7C6"/>
                      </a:solidFill>
                      <a:prstDash val="solid"/>
                      <a:round/>
                      <a:headEnd type="none" w="med" len="med"/>
                      <a:tailEnd type="none" w="med" len="med"/>
                    </a:lnR>
                    <a:lnT w="12700" cap="flat" cmpd="sng" algn="ctr">
                      <a:solidFill>
                        <a:srgbClr val="C4C2BF"/>
                      </a:solidFill>
                      <a:prstDash val="solid"/>
                      <a:round/>
                      <a:headEnd type="none" w="med" len="med"/>
                      <a:tailEnd type="none" w="med" len="med"/>
                    </a:lnT>
                    <a:lnB w="12700" cap="flat" cmpd="sng" algn="ctr">
                      <a:solidFill>
                        <a:srgbClr val="C8C7C6"/>
                      </a:solidFill>
                      <a:prstDash val="solid"/>
                      <a:round/>
                      <a:headEnd type="none" w="med" len="med"/>
                      <a:tailEnd type="none" w="med" len="med"/>
                    </a:lnB>
                  </a:tcPr>
                </a:tc>
                <a:tc>
                  <a:txBody>
                    <a:bodyPr/>
                    <a:lstStyle/>
                    <a:p>
                      <a:pPr marL="0" indent="0">
                        <a:lnSpc>
                          <a:spcPts val="1960"/>
                        </a:lnSpc>
                        <a:buNone/>
                      </a:pPr>
                      <a:r>
                        <a:rPr lang="en-US" sz="1400" dirty="0">
                          <a:solidFill>
                            <a:srgbClr val="9A5205"/>
                          </a:solidFill>
                          <a:latin typeface="IBM Plex Sans" pitchFamily="34" charset="0"/>
                          <a:ea typeface="IBM Plex Sans" pitchFamily="34" charset="-122"/>
                          <a:cs typeface="IBM Plex Sans" pitchFamily="34" charset="-120"/>
                        </a:rPr>
                        <a:t>Close · Oracle</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6"/>
                      </a:solidFill>
                      <a:prstDash val="solid"/>
                      <a:round/>
                      <a:headEnd type="none" w="med" len="med"/>
                      <a:tailEnd type="none" w="med" len="med"/>
                    </a:lnL>
                    <a:lnR w="12700" cap="flat" cmpd="sng" algn="ctr">
                      <a:solidFill>
                        <a:srgbClr val="C8C7C6"/>
                      </a:solidFill>
                      <a:prstDash val="solid"/>
                      <a:round/>
                      <a:headEnd type="none" w="med" len="med"/>
                      <a:tailEnd type="none" w="med" len="med"/>
                    </a:lnR>
                    <a:lnT w="12700" cap="flat" cmpd="sng" algn="ctr">
                      <a:solidFill>
                        <a:srgbClr val="C4C2BF"/>
                      </a:solidFill>
                      <a:prstDash val="solid"/>
                      <a:round/>
                      <a:headEnd type="none" w="med" len="med"/>
                      <a:tailEnd type="none" w="med" len="med"/>
                    </a:lnT>
                    <a:lnB w="12700" cap="flat" cmpd="sng" algn="ctr">
                      <a:solidFill>
                        <a:srgbClr val="C8C7C6"/>
                      </a:solidFill>
                      <a:prstDash val="solid"/>
                      <a:round/>
                      <a:headEnd type="none" w="med" len="med"/>
                      <a:tailEnd type="none" w="med" len="med"/>
                    </a:lnB>
                  </a:tcPr>
                </a:tc>
                <a:extLst>
                  <a:ext uri="{0D108BD9-81ED-4DB2-BD59-A6C34878D82A}">
                    <a16:rowId xmlns:a16="http://schemas.microsoft.com/office/drawing/2014/main" val="10007"/>
                  </a:ext>
                </a:extLst>
              </a:tr>
              <a:tr h="385961">
                <a:tc>
                  <a:txBody>
                    <a:bodyPr/>
                    <a:lstStyle/>
                    <a:p>
                      <a:pPr marL="0" indent="0">
                        <a:lnSpc>
                          <a:spcPts val="1960"/>
                        </a:lnSpc>
                        <a:buNone/>
                      </a:pPr>
                      <a:r>
                        <a:rPr lang="en-US" sz="1400" dirty="0">
                          <a:solidFill>
                            <a:srgbClr val="1F2226"/>
                          </a:solidFill>
                          <a:latin typeface="IBM Plex Sans" pitchFamily="34" charset="0"/>
                          <a:ea typeface="IBM Plex Sans" pitchFamily="34" charset="-122"/>
                          <a:cs typeface="IBM Plex Sans" pitchFamily="34" charset="-120"/>
                        </a:rPr>
                        <a:t>Lookup effort reduction</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6"/>
                      </a:solidFill>
                      <a:prstDash val="solid"/>
                      <a:round/>
                      <a:headEnd type="none" w="med" len="med"/>
                      <a:tailEnd type="none" w="med" len="med"/>
                    </a:lnL>
                    <a:lnR w="12700" cap="flat" cmpd="sng" algn="ctr">
                      <a:solidFill>
                        <a:srgbClr val="C4C2BF"/>
                      </a:solidFill>
                      <a:prstDash val="solid"/>
                      <a:round/>
                      <a:headEnd type="none" w="med" len="med"/>
                      <a:tailEnd type="none" w="med" len="med"/>
                    </a:lnR>
                    <a:lnT w="12700" cap="flat" cmpd="sng" algn="ctr">
                      <a:solidFill>
                        <a:srgbClr val="C8C7C6"/>
                      </a:solidFill>
                      <a:prstDash val="solid"/>
                      <a:round/>
                      <a:headEnd type="none" w="med" len="med"/>
                      <a:tailEnd type="none" w="med" len="med"/>
                    </a:lnT>
                    <a:lnB w="12700" cap="flat" cmpd="sng" algn="ctr">
                      <a:solidFill>
                        <a:srgbClr val="C4C2BF"/>
                      </a:solidFill>
                      <a:prstDash val="solid"/>
                      <a:round/>
                      <a:headEnd type="none" w="med" len="med"/>
                      <a:tailEnd type="none" w="med" len="med"/>
                    </a:lnB>
                    <a:solidFill>
                      <a:srgbClr val="F5F3EF"/>
                    </a:solidFill>
                  </a:tcPr>
                </a:tc>
                <a:tc>
                  <a:txBody>
                    <a:bodyPr/>
                    <a:lstStyle/>
                    <a:p>
                      <a:pPr marL="0" indent="0" algn="r">
                        <a:lnSpc>
                          <a:spcPts val="1960"/>
                        </a:lnSpc>
                        <a:buNone/>
                      </a:pPr>
                      <a:r>
                        <a:rPr lang="en-US" sz="1400" dirty="0">
                          <a:solidFill>
                            <a:srgbClr val="1F2226"/>
                          </a:solidFill>
                          <a:latin typeface="IBM Plex Sans" pitchFamily="34" charset="0"/>
                          <a:ea typeface="IBM Plex Sans" pitchFamily="34" charset="-122"/>
                          <a:cs typeface="IBM Plex Sans" pitchFamily="34" charset="-120"/>
                        </a:rPr>
                        <a:t>0%</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F"/>
                      </a:solidFill>
                      <a:prstDash val="solid"/>
                      <a:round/>
                      <a:headEnd type="none" w="med" len="med"/>
                      <a:tailEnd type="none" w="med" len="med"/>
                    </a:lnL>
                    <a:lnR w="12700" cap="flat" cmpd="sng" algn="ctr">
                      <a:solidFill>
                        <a:srgbClr val="C4C2BF"/>
                      </a:solidFill>
                      <a:prstDash val="solid"/>
                      <a:round/>
                      <a:headEnd type="none" w="med" len="med"/>
                      <a:tailEnd type="none" w="med" len="med"/>
                    </a:lnR>
                    <a:lnT w="12700" cap="flat" cmpd="sng" algn="ctr">
                      <a:solidFill>
                        <a:srgbClr val="C8C7C6"/>
                      </a:solidFill>
                      <a:prstDash val="solid"/>
                      <a:round/>
                      <a:headEnd type="none" w="med" len="med"/>
                      <a:tailEnd type="none" w="med" len="med"/>
                    </a:lnT>
                    <a:lnB w="12700" cap="flat" cmpd="sng" algn="ctr">
                      <a:solidFill>
                        <a:srgbClr val="C4C2BF"/>
                      </a:solidFill>
                      <a:prstDash val="solid"/>
                      <a:round/>
                      <a:headEnd type="none" w="med" len="med"/>
                      <a:tailEnd type="none" w="med" len="med"/>
                    </a:lnB>
                    <a:solidFill>
                      <a:srgbClr val="F5F3EF"/>
                    </a:solidFill>
                  </a:tcPr>
                </a:tc>
                <a:tc>
                  <a:txBody>
                    <a:bodyPr/>
                    <a:lstStyle/>
                    <a:p>
                      <a:pPr marL="0" indent="0" algn="r">
                        <a:lnSpc>
                          <a:spcPts val="1960"/>
                        </a:lnSpc>
                        <a:buNone/>
                      </a:pPr>
                      <a:r>
                        <a:rPr lang="en-US" sz="1400" dirty="0">
                          <a:solidFill>
                            <a:srgbClr val="1F2226"/>
                          </a:solidFill>
                          <a:latin typeface="IBM Plex Sans" pitchFamily="34" charset="0"/>
                          <a:ea typeface="IBM Plex Sans" pitchFamily="34" charset="-122"/>
                          <a:cs typeface="IBM Plex Sans" pitchFamily="34" charset="-120"/>
                        </a:rPr>
                        <a:t>40%</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F"/>
                      </a:solidFill>
                      <a:prstDash val="solid"/>
                      <a:round/>
                      <a:headEnd type="none" w="med" len="med"/>
                      <a:tailEnd type="none" w="med" len="med"/>
                    </a:lnL>
                    <a:lnR w="12700" cap="flat" cmpd="sng" algn="ctr">
                      <a:solidFill>
                        <a:srgbClr val="C4C2BF"/>
                      </a:solidFill>
                      <a:prstDash val="solid"/>
                      <a:round/>
                      <a:headEnd type="none" w="med" len="med"/>
                      <a:tailEnd type="none" w="med" len="med"/>
                    </a:lnR>
                    <a:lnT w="12700" cap="flat" cmpd="sng" algn="ctr">
                      <a:solidFill>
                        <a:srgbClr val="C8C7C6"/>
                      </a:solidFill>
                      <a:prstDash val="solid"/>
                      <a:round/>
                      <a:headEnd type="none" w="med" len="med"/>
                      <a:tailEnd type="none" w="med" len="med"/>
                    </a:lnT>
                    <a:lnB w="12700" cap="flat" cmpd="sng" algn="ctr">
                      <a:solidFill>
                        <a:srgbClr val="C4C2BF"/>
                      </a:solidFill>
                      <a:prstDash val="solid"/>
                      <a:round/>
                      <a:headEnd type="none" w="med" len="med"/>
                      <a:tailEnd type="none" w="med" len="med"/>
                    </a:lnB>
                    <a:solidFill>
                      <a:srgbClr val="F5F3EF"/>
                    </a:solidFill>
                  </a:tcPr>
                </a:tc>
                <a:tc>
                  <a:txBody>
                    <a:bodyPr/>
                    <a:lstStyle/>
                    <a:p>
                      <a:pPr marL="0" indent="0" algn="r">
                        <a:lnSpc>
                          <a:spcPts val="1960"/>
                        </a:lnSpc>
                        <a:buNone/>
                      </a:pPr>
                      <a:r>
                        <a:rPr lang="en-US" sz="1400" dirty="0">
                          <a:solidFill>
                            <a:srgbClr val="1F2226"/>
                          </a:solidFill>
                          <a:latin typeface="IBM Plex Sans" pitchFamily="34" charset="0"/>
                          <a:ea typeface="IBM Plex Sans" pitchFamily="34" charset="-122"/>
                          <a:cs typeface="IBM Plex Sans" pitchFamily="34" charset="-120"/>
                        </a:rPr>
                        <a:t>32%</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F"/>
                      </a:solidFill>
                      <a:prstDash val="solid"/>
                      <a:round/>
                      <a:headEnd type="none" w="med" len="med"/>
                      <a:tailEnd type="none" w="med" len="med"/>
                    </a:lnL>
                    <a:lnR w="12700" cap="flat" cmpd="sng" algn="ctr">
                      <a:solidFill>
                        <a:srgbClr val="C4C2BF"/>
                      </a:solidFill>
                      <a:prstDash val="solid"/>
                      <a:round/>
                      <a:headEnd type="none" w="med" len="med"/>
                      <a:tailEnd type="none" w="med" len="med"/>
                    </a:lnR>
                    <a:lnT w="12700" cap="flat" cmpd="sng" algn="ctr">
                      <a:solidFill>
                        <a:srgbClr val="C8C7C6"/>
                      </a:solidFill>
                      <a:prstDash val="solid"/>
                      <a:round/>
                      <a:headEnd type="none" w="med" len="med"/>
                      <a:tailEnd type="none" w="med" len="med"/>
                    </a:lnT>
                    <a:lnB w="12700" cap="flat" cmpd="sng" algn="ctr">
                      <a:solidFill>
                        <a:srgbClr val="C4C2BF"/>
                      </a:solidFill>
                      <a:prstDash val="solid"/>
                      <a:round/>
                      <a:headEnd type="none" w="med" len="med"/>
                      <a:tailEnd type="none" w="med" len="med"/>
                    </a:lnB>
                    <a:solidFill>
                      <a:srgbClr val="F5F3EF"/>
                    </a:solidFill>
                  </a:tcPr>
                </a:tc>
                <a:tc>
                  <a:txBody>
                    <a:bodyPr/>
                    <a:lstStyle/>
                    <a:p>
                      <a:pPr marL="0" indent="0">
                        <a:lnSpc>
                          <a:spcPts val="1960"/>
                        </a:lnSpc>
                        <a:buNone/>
                      </a:pPr>
                      <a:r>
                        <a:rPr lang="en-US" sz="1400" dirty="0">
                          <a:solidFill>
                            <a:srgbClr val="9A5205"/>
                          </a:solidFill>
                          <a:latin typeface="IBM Plex Sans" pitchFamily="34" charset="0"/>
                          <a:ea typeface="IBM Plex Sans" pitchFamily="34" charset="-122"/>
                          <a:cs typeface="IBM Plex Sans" pitchFamily="34" charset="-120"/>
                        </a:rPr>
                        <a:t>Pilot will confirm</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F"/>
                      </a:solidFill>
                      <a:prstDash val="solid"/>
                      <a:round/>
                      <a:headEnd type="none" w="med" len="med"/>
                      <a:tailEnd type="none" w="med" len="med"/>
                    </a:lnL>
                    <a:lnR w="12700" cap="flat" cmpd="sng" algn="ctr">
                      <a:solidFill>
                        <a:srgbClr val="C4C2BF"/>
                      </a:solidFill>
                      <a:prstDash val="solid"/>
                      <a:round/>
                      <a:headEnd type="none" w="med" len="med"/>
                      <a:tailEnd type="none" w="med" len="med"/>
                    </a:lnR>
                    <a:lnT w="12700" cap="flat" cmpd="sng" algn="ctr">
                      <a:solidFill>
                        <a:srgbClr val="C8C7C6"/>
                      </a:solidFill>
                      <a:prstDash val="solid"/>
                      <a:round/>
                      <a:headEnd type="none" w="med" len="med"/>
                      <a:tailEnd type="none" w="med" len="med"/>
                    </a:lnT>
                    <a:lnB w="12700" cap="flat" cmpd="sng" algn="ctr">
                      <a:solidFill>
                        <a:srgbClr val="C4C2BF"/>
                      </a:solidFill>
                      <a:prstDash val="solid"/>
                      <a:round/>
                      <a:headEnd type="none" w="med" len="med"/>
                      <a:tailEnd type="none" w="med" len="med"/>
                    </a:lnB>
                    <a:solidFill>
                      <a:srgbClr val="F5F3EF"/>
                    </a:solidFill>
                  </a:tcPr>
                </a:tc>
                <a:extLst>
                  <a:ext uri="{0D108BD9-81ED-4DB2-BD59-A6C34878D82A}">
                    <a16:rowId xmlns:a16="http://schemas.microsoft.com/office/drawing/2014/main" val="10008"/>
                  </a:ext>
                </a:extLst>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076"/>
                </a:solidFill>
                <a:latin typeface="IBM Plex Sans" pitchFamily="34" charset="0"/>
                <a:ea typeface="IBM Plex Sans" pitchFamily="34" charset="-122"/>
                <a:cs typeface="IBM Plex Sans" pitchFamily="34" charset="-120"/>
              </a:rPr>
              <a:t>Measured on the 250-question benchmark and test environment · formal evaluation gate at M4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3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00000"/>
                </a:solidFill>
                <a:latin typeface="IBM Plex Sans" pitchFamily="34" charset="0"/>
                <a:ea typeface="IBM Plex Sans" pitchFamily="34" charset="-122"/>
                <a:cs typeface="IBM Plex Sans" pitchFamily="34" charset="-120"/>
              </a:rPr>
              <a:t>03 · RISKS AND LESSONS LEARNED</a:t>
            </a:r>
            <a:endParaRPr lang="en-US" sz="1200" dirty="0"/>
          </a:p>
        </p:txBody>
      </p:sp>
      <p:sp>
        <p:nvSpPr>
          <p:cNvPr id="3" name="Text 1"/>
          <p:cNvSpPr>
            <a:spLocks noGrp="1"/>
          </p:cNvSpPr>
          <p:nvPr>
            <p:ph type="title"/>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F2226"/>
                </a:solidFill>
                <a:latin typeface="Rubik" pitchFamily="34" charset="0"/>
                <a:ea typeface="Rubik" pitchFamily="34" charset="-122"/>
                <a:cs typeface="Rubik" pitchFamily="34" charset="-120"/>
              </a:rPr>
              <a:t>Oracle access is the risk that matters most</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41401"/>
          <a:ext cx="10553700" cy="2848770"/>
        </p:xfrm>
        <a:graphic>
          <a:graphicData uri="http://schemas.openxmlformats.org/drawingml/2006/table">
            <a:tbl>
              <a:tblPr/>
              <a:tblGrid>
                <a:gridCol w="3799332">
                  <a:extLst>
                    <a:ext uri="{9D8B030D-6E8A-4147-A177-3AD203B41FA5}">
                      <a16:colId xmlns:a16="http://schemas.microsoft.com/office/drawing/2014/main" val="20000"/>
                    </a:ext>
                  </a:extLst>
                </a:gridCol>
                <a:gridCol w="1055370">
                  <a:extLst>
                    <a:ext uri="{9D8B030D-6E8A-4147-A177-3AD203B41FA5}">
                      <a16:colId xmlns:a16="http://schemas.microsoft.com/office/drawing/2014/main" val="20001"/>
                    </a:ext>
                  </a:extLst>
                </a:gridCol>
                <a:gridCol w="4221480">
                  <a:extLst>
                    <a:ext uri="{9D8B030D-6E8A-4147-A177-3AD203B41FA5}">
                      <a16:colId xmlns:a16="http://schemas.microsoft.com/office/drawing/2014/main" val="20002"/>
                    </a:ext>
                  </a:extLst>
                </a:gridCol>
                <a:gridCol w="1477518">
                  <a:extLst>
                    <a:ext uri="{9D8B030D-6E8A-4147-A177-3AD203B41FA5}">
                      <a16:colId xmlns:a16="http://schemas.microsoft.com/office/drawing/2014/main" val="20003"/>
                    </a:ext>
                  </a:extLst>
                </a:gridCol>
              </a:tblGrid>
              <a:tr h="332581">
                <a:tc>
                  <a:txBody>
                    <a:bodyPr/>
                    <a:lstStyle/>
                    <a:p>
                      <a:pPr marL="0" indent="0">
                        <a:lnSpc>
                          <a:spcPts val="1680"/>
                        </a:lnSpc>
                        <a:buNone/>
                      </a:pPr>
                      <a:r>
                        <a:rPr lang="en-US" sz="1200" b="1" dirty="0">
                          <a:solidFill>
                            <a:srgbClr val="1F2226"/>
                          </a:solidFill>
                          <a:latin typeface="IBM Plex Sans" pitchFamily="34" charset="0"/>
                          <a:ea typeface="IBM Plex Sans" pitchFamily="34" charset="-122"/>
                          <a:cs typeface="IBM Plex Sans" pitchFamily="34" charset="-120"/>
                        </a:rPr>
                        <a:t>Risk or issue</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2BF"/>
                      </a:solidFill>
                      <a:prstDash val="solid"/>
                      <a:round/>
                      <a:headEnd type="none" w="med" len="med"/>
                      <a:tailEnd type="none" w="med" len="med"/>
                    </a:lnL>
                    <a:lnR w="12700" cap="flat" cmpd="sng" algn="ctr">
                      <a:solidFill>
                        <a:srgbClr val="B5B4B1"/>
                      </a:solidFill>
                      <a:prstDash val="solid"/>
                      <a:round/>
                      <a:headEnd type="none" w="med" len="med"/>
                      <a:tailEnd type="none" w="med" len="med"/>
                    </a:lnR>
                    <a:lnT w="12700" cap="flat" cmpd="sng" algn="ctr">
                      <a:solidFill>
                        <a:srgbClr val="C4C2BF"/>
                      </a:solidFill>
                      <a:prstDash val="solid"/>
                      <a:round/>
                      <a:headEnd type="none" w="med" len="med"/>
                      <a:tailEnd type="none" w="med" len="med"/>
                    </a:lnT>
                    <a:lnB w="12700" cap="flat" cmpd="sng" algn="ctr">
                      <a:solidFill>
                        <a:srgbClr val="B5B4B1"/>
                      </a:solidFill>
                      <a:prstDash val="solid"/>
                      <a:round/>
                      <a:headEnd type="none" w="med" len="med"/>
                      <a:tailEnd type="none" w="med" len="med"/>
                    </a:lnB>
                    <a:solidFill>
                      <a:srgbClr val="E3E1DD"/>
                    </a:solidFill>
                  </a:tcPr>
                </a:tc>
                <a:tc>
                  <a:txBody>
                    <a:bodyPr/>
                    <a:lstStyle/>
                    <a:p>
                      <a:pPr marL="0" indent="0">
                        <a:lnSpc>
                          <a:spcPts val="1680"/>
                        </a:lnSpc>
                        <a:buNone/>
                      </a:pPr>
                      <a:r>
                        <a:rPr lang="en-US" sz="1200" b="1" dirty="0">
                          <a:solidFill>
                            <a:srgbClr val="1F2226"/>
                          </a:solidFill>
                          <a:latin typeface="IBM Plex Sans" pitchFamily="34" charset="0"/>
                          <a:ea typeface="IBM Plex Sans" pitchFamily="34" charset="-122"/>
                          <a:cs typeface="IBM Plex Sans" pitchFamily="34" charset="-120"/>
                        </a:rPr>
                        <a:t>Rating</a:t>
                      </a:r>
                      <a:endParaRPr lang="en-US" sz="1200" dirty="0">
                        <a:latin typeface="IBM Plex Sans" charset="0"/>
                        <a:ea typeface="IBM Plex Sans" charset="0"/>
                        <a:cs typeface="IBM Plex Sans" charset="0"/>
                      </a:endParaRPr>
                    </a:p>
                  </a:txBody>
                  <a:tcPr marL="53340" marR="53340" marT="53340" marB="53340">
                    <a:lnL w="12700" cap="flat" cmpd="sng" algn="ctr">
                      <a:solidFill>
                        <a:srgbClr val="B5B4B1"/>
                      </a:solidFill>
                      <a:prstDash val="solid"/>
                      <a:round/>
                      <a:headEnd type="none" w="med" len="med"/>
                      <a:tailEnd type="none" w="med" len="med"/>
                    </a:lnL>
                    <a:lnR w="12700" cap="flat" cmpd="sng" algn="ctr">
                      <a:solidFill>
                        <a:srgbClr val="B5B4B1"/>
                      </a:solidFill>
                      <a:prstDash val="solid"/>
                      <a:round/>
                      <a:headEnd type="none" w="med" len="med"/>
                      <a:tailEnd type="none" w="med" len="med"/>
                    </a:lnR>
                    <a:lnT w="12700" cap="flat" cmpd="sng" algn="ctr">
                      <a:solidFill>
                        <a:srgbClr val="C4C2BF"/>
                      </a:solidFill>
                      <a:prstDash val="solid"/>
                      <a:round/>
                      <a:headEnd type="none" w="med" len="med"/>
                      <a:tailEnd type="none" w="med" len="med"/>
                    </a:lnT>
                    <a:lnB w="12700" cap="flat" cmpd="sng" algn="ctr">
                      <a:solidFill>
                        <a:srgbClr val="B5B4B1"/>
                      </a:solidFill>
                      <a:prstDash val="solid"/>
                      <a:round/>
                      <a:headEnd type="none" w="med" len="med"/>
                      <a:tailEnd type="none" w="med" len="med"/>
                    </a:lnB>
                    <a:solidFill>
                      <a:srgbClr val="E3E1DD"/>
                    </a:solidFill>
                  </a:tcPr>
                </a:tc>
                <a:tc>
                  <a:txBody>
                    <a:bodyPr/>
                    <a:lstStyle/>
                    <a:p>
                      <a:pPr marL="0" indent="0">
                        <a:lnSpc>
                          <a:spcPts val="1680"/>
                        </a:lnSpc>
                        <a:buNone/>
                      </a:pPr>
                      <a:r>
                        <a:rPr lang="en-US" sz="1200" b="1" dirty="0">
                          <a:solidFill>
                            <a:srgbClr val="1F2226"/>
                          </a:solidFill>
                          <a:latin typeface="IBM Plex Sans" pitchFamily="34" charset="0"/>
                          <a:ea typeface="IBM Plex Sans" pitchFamily="34" charset="-122"/>
                          <a:cs typeface="IBM Plex Sans" pitchFamily="34" charset="-120"/>
                        </a:rPr>
                        <a:t>Response</a:t>
                      </a:r>
                      <a:endParaRPr lang="en-US" sz="1200" dirty="0">
                        <a:latin typeface="IBM Plex Sans" charset="0"/>
                        <a:ea typeface="IBM Plex Sans" charset="0"/>
                        <a:cs typeface="IBM Plex Sans" charset="0"/>
                      </a:endParaRPr>
                    </a:p>
                  </a:txBody>
                  <a:tcPr marL="53340" marR="53340" marT="53340" marB="53340">
                    <a:lnL w="12700" cap="flat" cmpd="sng" algn="ctr">
                      <a:solidFill>
                        <a:srgbClr val="B5B4B1"/>
                      </a:solidFill>
                      <a:prstDash val="solid"/>
                      <a:round/>
                      <a:headEnd type="none" w="med" len="med"/>
                      <a:tailEnd type="none" w="med" len="med"/>
                    </a:lnL>
                    <a:lnR w="12700" cap="flat" cmpd="sng" algn="ctr">
                      <a:solidFill>
                        <a:srgbClr val="B5B4B1"/>
                      </a:solidFill>
                      <a:prstDash val="solid"/>
                      <a:round/>
                      <a:headEnd type="none" w="med" len="med"/>
                      <a:tailEnd type="none" w="med" len="med"/>
                    </a:lnR>
                    <a:lnT w="12700" cap="flat" cmpd="sng" algn="ctr">
                      <a:solidFill>
                        <a:srgbClr val="C4C2BF"/>
                      </a:solidFill>
                      <a:prstDash val="solid"/>
                      <a:round/>
                      <a:headEnd type="none" w="med" len="med"/>
                      <a:tailEnd type="none" w="med" len="med"/>
                    </a:lnT>
                    <a:lnB w="12700" cap="flat" cmpd="sng" algn="ctr">
                      <a:solidFill>
                        <a:srgbClr val="B5B4B1"/>
                      </a:solidFill>
                      <a:prstDash val="solid"/>
                      <a:round/>
                      <a:headEnd type="none" w="med" len="med"/>
                      <a:tailEnd type="none" w="med" len="med"/>
                    </a:lnB>
                    <a:solidFill>
                      <a:srgbClr val="E3E1DD"/>
                    </a:solidFill>
                  </a:tcPr>
                </a:tc>
                <a:tc>
                  <a:txBody>
                    <a:bodyPr/>
                    <a:lstStyle/>
                    <a:p>
                      <a:pPr marL="0" indent="0">
                        <a:lnSpc>
                          <a:spcPts val="1680"/>
                        </a:lnSpc>
                        <a:buNone/>
                      </a:pPr>
                      <a:r>
                        <a:rPr lang="en-US" sz="1200" b="1" dirty="0">
                          <a:solidFill>
                            <a:srgbClr val="1F2226"/>
                          </a:solidFill>
                          <a:latin typeface="IBM Plex Sans" pitchFamily="34" charset="0"/>
                          <a:ea typeface="IBM Plex Sans" pitchFamily="34" charset="-122"/>
                          <a:cs typeface="IBM Plex Sans" pitchFamily="34" charset="-120"/>
                        </a:rPr>
                        <a:t>Owner</a:t>
                      </a:r>
                      <a:endParaRPr lang="en-US" sz="1200" dirty="0">
                        <a:latin typeface="IBM Plex Sans" charset="0"/>
                        <a:ea typeface="IBM Plex Sans" charset="0"/>
                        <a:cs typeface="IBM Plex Sans" charset="0"/>
                      </a:endParaRPr>
                    </a:p>
                  </a:txBody>
                  <a:tcPr marL="53340" marR="53340" marT="53340" marB="53340">
                    <a:lnL w="12700" cap="flat" cmpd="sng" algn="ctr">
                      <a:solidFill>
                        <a:srgbClr val="B5B4B1"/>
                      </a:solidFill>
                      <a:prstDash val="solid"/>
                      <a:round/>
                      <a:headEnd type="none" w="med" len="med"/>
                      <a:tailEnd type="none" w="med" len="med"/>
                    </a:lnL>
                    <a:lnR w="12700" cap="flat" cmpd="sng" algn="ctr">
                      <a:solidFill>
                        <a:srgbClr val="B5B4B1"/>
                      </a:solidFill>
                      <a:prstDash val="solid"/>
                      <a:round/>
                      <a:headEnd type="none" w="med" len="med"/>
                      <a:tailEnd type="none" w="med" len="med"/>
                    </a:lnR>
                    <a:lnT w="12700" cap="flat" cmpd="sng" algn="ctr">
                      <a:solidFill>
                        <a:srgbClr val="C4C2BF"/>
                      </a:solidFill>
                      <a:prstDash val="solid"/>
                      <a:round/>
                      <a:headEnd type="none" w="med" len="med"/>
                      <a:tailEnd type="none" w="med" len="med"/>
                    </a:lnT>
                    <a:lnB w="12700" cap="flat" cmpd="sng" algn="ctr">
                      <a:solidFill>
                        <a:srgbClr val="B5B4B1"/>
                      </a:solidFill>
                      <a:prstDash val="solid"/>
                      <a:round/>
                      <a:headEnd type="none" w="med" len="med"/>
                      <a:tailEnd type="none" w="med" len="med"/>
                    </a:lnB>
                    <a:solidFill>
                      <a:srgbClr val="E3E1DD"/>
                    </a:solidFill>
                  </a:tcPr>
                </a:tc>
                <a:extLst>
                  <a:ext uri="{0D108BD9-81ED-4DB2-BD59-A6C34878D82A}">
                    <a16:rowId xmlns:a16="http://schemas.microsoft.com/office/drawing/2014/main" val="10000"/>
                  </a:ext>
                </a:extLst>
              </a:tr>
              <a:tr h="545902">
                <a:tc>
                  <a:txBody>
                    <a:bodyPr/>
                    <a:lstStyle/>
                    <a:p>
                      <a:pPr marL="0" indent="0">
                        <a:lnSpc>
                          <a:spcPts val="1680"/>
                        </a:lnSpc>
                        <a:buNone/>
                      </a:pPr>
                      <a:r>
                        <a:rPr lang="en-US" sz="1200" dirty="0">
                          <a:solidFill>
                            <a:srgbClr val="1F2226"/>
                          </a:solidFill>
                          <a:latin typeface="IBM Plex Sans" pitchFamily="34" charset="0"/>
                          <a:ea typeface="IBM Plex Sans" pitchFamily="34" charset="-122"/>
                          <a:cs typeface="IBM Plex Sans" pitchFamily="34" charset="-120"/>
                        </a:rPr>
                        <a:t>Oracle sandbox access delayed ~2 weeks (issue)</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2BF"/>
                      </a:solidFill>
                      <a:prstDash val="solid"/>
                      <a:round/>
                      <a:headEnd type="none" w="med" len="med"/>
                      <a:tailEnd type="none" w="med" len="med"/>
                    </a:lnL>
                    <a:lnR w="12700" cap="flat" cmpd="sng" algn="ctr">
                      <a:solidFill>
                        <a:srgbClr val="CAC2B8"/>
                      </a:solidFill>
                      <a:prstDash val="solid"/>
                      <a:round/>
                      <a:headEnd type="none" w="med" len="med"/>
                      <a:tailEnd type="none" w="med" len="med"/>
                    </a:lnR>
                    <a:lnT w="12700" cap="flat" cmpd="sng" algn="ctr">
                      <a:solidFill>
                        <a:srgbClr val="B5B4B1"/>
                      </a:solidFill>
                      <a:prstDash val="solid"/>
                      <a:round/>
                      <a:headEnd type="none" w="med" len="med"/>
                      <a:tailEnd type="none" w="med" len="med"/>
                    </a:lnT>
                    <a:lnB w="12700" cap="flat" cmpd="sng" algn="ctr">
                      <a:solidFill>
                        <a:srgbClr val="CAC2B8"/>
                      </a:solidFill>
                      <a:prstDash val="solid"/>
                      <a:round/>
                      <a:headEnd type="none" w="med" len="med"/>
                      <a:tailEnd type="none" w="med" len="med"/>
                    </a:lnB>
                    <a:solidFill>
                      <a:srgbClr val="FDF3E6"/>
                    </a:solidFill>
                  </a:tcPr>
                </a:tc>
                <a:tc>
                  <a:txBody>
                    <a:bodyPr/>
                    <a:lstStyle/>
                    <a:p>
                      <a:pPr marL="0" indent="0">
                        <a:lnSpc>
                          <a:spcPts val="1680"/>
                        </a:lnSpc>
                        <a:buNone/>
                      </a:pPr>
                      <a:r>
                        <a:rPr lang="en-US" sz="1200" dirty="0">
                          <a:solidFill>
                            <a:srgbClr val="B00000"/>
                          </a:solidFill>
                          <a:latin typeface="IBM Plex Sans" pitchFamily="34" charset="0"/>
                          <a:ea typeface="IBM Plex Sans" pitchFamily="34" charset="-122"/>
                          <a:cs typeface="IBM Plex Sans" pitchFamily="34" charset="-120"/>
                        </a:rPr>
                        <a:t>High</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2B8"/>
                      </a:solidFill>
                      <a:prstDash val="solid"/>
                      <a:round/>
                      <a:headEnd type="none" w="med" len="med"/>
                      <a:tailEnd type="none" w="med" len="med"/>
                    </a:lnL>
                    <a:lnR w="12700" cap="flat" cmpd="sng" algn="ctr">
                      <a:solidFill>
                        <a:srgbClr val="CAC2B8"/>
                      </a:solidFill>
                      <a:prstDash val="solid"/>
                      <a:round/>
                      <a:headEnd type="none" w="med" len="med"/>
                      <a:tailEnd type="none" w="med" len="med"/>
                    </a:lnR>
                    <a:lnT w="12700" cap="flat" cmpd="sng" algn="ctr">
                      <a:solidFill>
                        <a:srgbClr val="B5B4B1"/>
                      </a:solidFill>
                      <a:prstDash val="solid"/>
                      <a:round/>
                      <a:headEnd type="none" w="med" len="med"/>
                      <a:tailEnd type="none" w="med" len="med"/>
                    </a:lnT>
                    <a:lnB w="12700" cap="flat" cmpd="sng" algn="ctr">
                      <a:solidFill>
                        <a:srgbClr val="CAC2B8"/>
                      </a:solidFill>
                      <a:prstDash val="solid"/>
                      <a:round/>
                      <a:headEnd type="none" w="med" len="med"/>
                      <a:tailEnd type="none" w="med" len="med"/>
                    </a:lnB>
                    <a:solidFill>
                      <a:srgbClr val="FDF3E6"/>
                    </a:solidFill>
                  </a:tcPr>
                </a:tc>
                <a:tc>
                  <a:txBody>
                    <a:bodyPr/>
                    <a:lstStyle/>
                    <a:p>
                      <a:pPr marL="0" indent="0">
                        <a:lnSpc>
                          <a:spcPts val="1680"/>
                        </a:lnSpc>
                        <a:buNone/>
                      </a:pPr>
                      <a:r>
                        <a:rPr lang="en-US" sz="1200" dirty="0">
                          <a:solidFill>
                            <a:srgbClr val="1F2226"/>
                          </a:solidFill>
                          <a:latin typeface="IBM Plex Sans" pitchFamily="34" charset="0"/>
                          <a:ea typeface="IBM Plex Sans" pitchFamily="34" charset="-122"/>
                          <a:cs typeface="IBM Plex Sans" pitchFamily="34" charset="-120"/>
                        </a:rPr>
                        <a:t>Escalated to sponsor; mock service in use; M3 re-forecast to 22 Jan</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2B8"/>
                      </a:solidFill>
                      <a:prstDash val="solid"/>
                      <a:round/>
                      <a:headEnd type="none" w="med" len="med"/>
                      <a:tailEnd type="none" w="med" len="med"/>
                    </a:lnL>
                    <a:lnR w="12700" cap="flat" cmpd="sng" algn="ctr">
                      <a:solidFill>
                        <a:srgbClr val="CAC2B8"/>
                      </a:solidFill>
                      <a:prstDash val="solid"/>
                      <a:round/>
                      <a:headEnd type="none" w="med" len="med"/>
                      <a:tailEnd type="none" w="med" len="med"/>
                    </a:lnR>
                    <a:lnT w="12700" cap="flat" cmpd="sng" algn="ctr">
                      <a:solidFill>
                        <a:srgbClr val="B5B4B1"/>
                      </a:solidFill>
                      <a:prstDash val="solid"/>
                      <a:round/>
                      <a:headEnd type="none" w="med" len="med"/>
                      <a:tailEnd type="none" w="med" len="med"/>
                    </a:lnT>
                    <a:lnB w="12700" cap="flat" cmpd="sng" algn="ctr">
                      <a:solidFill>
                        <a:srgbClr val="CAC2B8"/>
                      </a:solidFill>
                      <a:prstDash val="solid"/>
                      <a:round/>
                      <a:headEnd type="none" w="med" len="med"/>
                      <a:tailEnd type="none" w="med" len="med"/>
                    </a:lnB>
                    <a:solidFill>
                      <a:srgbClr val="FDF3E6"/>
                    </a:solidFill>
                  </a:tcPr>
                </a:tc>
                <a:tc>
                  <a:txBody>
                    <a:bodyPr/>
                    <a:lstStyle/>
                    <a:p>
                      <a:pPr marL="0" indent="0">
                        <a:lnSpc>
                          <a:spcPts val="1680"/>
                        </a:lnSpc>
                        <a:buNone/>
                      </a:pPr>
                      <a:r>
                        <a:rPr lang="en-US" sz="1200" dirty="0">
                          <a:solidFill>
                            <a:srgbClr val="1F2226"/>
                          </a:solidFill>
                          <a:latin typeface="IBM Plex Sans" pitchFamily="34" charset="0"/>
                          <a:ea typeface="IBM Plex Sans" pitchFamily="34" charset="-122"/>
                          <a:cs typeface="IBM Plex Sans" pitchFamily="34" charset="-120"/>
                        </a:rPr>
                        <a:t>Bipeen Sinha</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2B8"/>
                      </a:solidFill>
                      <a:prstDash val="solid"/>
                      <a:round/>
                      <a:headEnd type="none" w="med" len="med"/>
                      <a:tailEnd type="none" w="med" len="med"/>
                    </a:lnL>
                    <a:lnR w="12700" cap="flat" cmpd="sng" algn="ctr">
                      <a:solidFill>
                        <a:srgbClr val="CAC2B8"/>
                      </a:solidFill>
                      <a:prstDash val="solid"/>
                      <a:round/>
                      <a:headEnd type="none" w="med" len="med"/>
                      <a:tailEnd type="none" w="med" len="med"/>
                    </a:lnR>
                    <a:lnT w="12700" cap="flat" cmpd="sng" algn="ctr">
                      <a:solidFill>
                        <a:srgbClr val="B5B4B1"/>
                      </a:solidFill>
                      <a:prstDash val="solid"/>
                      <a:round/>
                      <a:headEnd type="none" w="med" len="med"/>
                      <a:tailEnd type="none" w="med" len="med"/>
                    </a:lnT>
                    <a:lnB w="12700" cap="flat" cmpd="sng" algn="ctr">
                      <a:solidFill>
                        <a:srgbClr val="CAC2B8"/>
                      </a:solidFill>
                      <a:prstDash val="solid"/>
                      <a:round/>
                      <a:headEnd type="none" w="med" len="med"/>
                      <a:tailEnd type="none" w="med" len="med"/>
                    </a:lnB>
                    <a:solidFill>
                      <a:srgbClr val="FDF3E6"/>
                    </a:solidFill>
                  </a:tcPr>
                </a:tc>
                <a:extLst>
                  <a:ext uri="{0D108BD9-81ED-4DB2-BD59-A6C34878D82A}">
                    <a16:rowId xmlns:a16="http://schemas.microsoft.com/office/drawing/2014/main" val="10001"/>
                  </a:ext>
                </a:extLst>
              </a:tr>
              <a:tr h="545902">
                <a:tc>
                  <a:txBody>
                    <a:bodyPr/>
                    <a:lstStyle/>
                    <a:p>
                      <a:pPr marL="0" indent="0">
                        <a:lnSpc>
                          <a:spcPts val="1680"/>
                        </a:lnSpc>
                        <a:buNone/>
                      </a:pPr>
                      <a:r>
                        <a:rPr lang="en-US" sz="1200" dirty="0">
                          <a:solidFill>
                            <a:srgbClr val="1F2226"/>
                          </a:solidFill>
                          <a:latin typeface="IBM Plex Sans" pitchFamily="34" charset="0"/>
                          <a:ea typeface="IBM Plex Sans" pitchFamily="34" charset="-122"/>
                          <a:cs typeface="IBM Plex Sans" pitchFamily="34" charset="-120"/>
                        </a:rPr>
                        <a:t>Prompt injection or unsafe tool use</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2BF"/>
                      </a:solidFill>
                      <a:prstDash val="solid"/>
                      <a:round/>
                      <a:headEnd type="none" w="med" len="med"/>
                      <a:tailEnd type="none" w="med" len="med"/>
                    </a:lnL>
                    <a:lnR w="12700" cap="flat" cmpd="sng" algn="ctr">
                      <a:solidFill>
                        <a:srgbClr val="C4C2BF"/>
                      </a:solidFill>
                      <a:prstDash val="solid"/>
                      <a:round/>
                      <a:headEnd type="none" w="med" len="med"/>
                      <a:tailEnd type="none" w="med" len="med"/>
                    </a:lnR>
                    <a:lnT w="12700" cap="flat" cmpd="sng" algn="ctr">
                      <a:solidFill>
                        <a:srgbClr val="CAC2B8"/>
                      </a:solidFill>
                      <a:prstDash val="solid"/>
                      <a:round/>
                      <a:headEnd type="none" w="med" len="med"/>
                      <a:tailEnd type="none" w="med" len="med"/>
                    </a:lnT>
                    <a:lnB w="12700" cap="flat" cmpd="sng" algn="ctr">
                      <a:solidFill>
                        <a:srgbClr val="C4C2BF"/>
                      </a:solidFill>
                      <a:prstDash val="solid"/>
                      <a:round/>
                      <a:headEnd type="none" w="med" len="med"/>
                      <a:tailEnd type="none" w="med" len="med"/>
                    </a:lnB>
                  </a:tcPr>
                </a:tc>
                <a:tc>
                  <a:txBody>
                    <a:bodyPr/>
                    <a:lstStyle/>
                    <a:p>
                      <a:pPr marL="0" indent="0">
                        <a:lnSpc>
                          <a:spcPts val="1680"/>
                        </a:lnSpc>
                        <a:buNone/>
                      </a:pPr>
                      <a:r>
                        <a:rPr lang="en-US" sz="1200" dirty="0">
                          <a:solidFill>
                            <a:srgbClr val="B00000"/>
                          </a:solidFill>
                          <a:latin typeface="IBM Plex Sans" pitchFamily="34" charset="0"/>
                          <a:ea typeface="IBM Plex Sans" pitchFamily="34" charset="-122"/>
                          <a:cs typeface="IBM Plex Sans" pitchFamily="34" charset="-120"/>
                        </a:rPr>
                        <a:t>High</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2BF"/>
                      </a:solidFill>
                      <a:prstDash val="solid"/>
                      <a:round/>
                      <a:headEnd type="none" w="med" len="med"/>
                      <a:tailEnd type="none" w="med" len="med"/>
                    </a:lnL>
                    <a:lnR w="12700" cap="flat" cmpd="sng" algn="ctr">
                      <a:solidFill>
                        <a:srgbClr val="C4C2BF"/>
                      </a:solidFill>
                      <a:prstDash val="solid"/>
                      <a:round/>
                      <a:headEnd type="none" w="med" len="med"/>
                      <a:tailEnd type="none" w="med" len="med"/>
                    </a:lnR>
                    <a:lnT w="12700" cap="flat" cmpd="sng" algn="ctr">
                      <a:solidFill>
                        <a:srgbClr val="CAC2B8"/>
                      </a:solidFill>
                      <a:prstDash val="solid"/>
                      <a:round/>
                      <a:headEnd type="none" w="med" len="med"/>
                      <a:tailEnd type="none" w="med" len="med"/>
                    </a:lnT>
                    <a:lnB w="12700" cap="flat" cmpd="sng" algn="ctr">
                      <a:solidFill>
                        <a:srgbClr val="C4C2BF"/>
                      </a:solidFill>
                      <a:prstDash val="solid"/>
                      <a:round/>
                      <a:headEnd type="none" w="med" len="med"/>
                      <a:tailEnd type="none" w="med" len="med"/>
                    </a:lnB>
                  </a:tcPr>
                </a:tc>
                <a:tc>
                  <a:txBody>
                    <a:bodyPr/>
                    <a:lstStyle/>
                    <a:p>
                      <a:pPr marL="0" indent="0">
                        <a:lnSpc>
                          <a:spcPts val="1680"/>
                        </a:lnSpc>
                        <a:buNone/>
                      </a:pPr>
                      <a:r>
                        <a:rPr lang="en-US" sz="1200" dirty="0">
                          <a:solidFill>
                            <a:srgbClr val="1F2226"/>
                          </a:solidFill>
                          <a:latin typeface="IBM Plex Sans" pitchFamily="34" charset="0"/>
                          <a:ea typeface="IBM Plex Sans" pitchFamily="34" charset="-122"/>
                          <a:cs typeface="IBM Plex Sans" pitchFamily="34" charset="-120"/>
                        </a:rPr>
                        <a:t>Read-only tools, Prompt Shields, red-team testing in Month 4</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2BF"/>
                      </a:solidFill>
                      <a:prstDash val="solid"/>
                      <a:round/>
                      <a:headEnd type="none" w="med" len="med"/>
                      <a:tailEnd type="none" w="med" len="med"/>
                    </a:lnL>
                    <a:lnR w="12700" cap="flat" cmpd="sng" algn="ctr">
                      <a:solidFill>
                        <a:srgbClr val="C4C2BF"/>
                      </a:solidFill>
                      <a:prstDash val="solid"/>
                      <a:round/>
                      <a:headEnd type="none" w="med" len="med"/>
                      <a:tailEnd type="none" w="med" len="med"/>
                    </a:lnR>
                    <a:lnT w="12700" cap="flat" cmpd="sng" algn="ctr">
                      <a:solidFill>
                        <a:srgbClr val="CAC2B8"/>
                      </a:solidFill>
                      <a:prstDash val="solid"/>
                      <a:round/>
                      <a:headEnd type="none" w="med" len="med"/>
                      <a:tailEnd type="none" w="med" len="med"/>
                    </a:lnT>
                    <a:lnB w="12700" cap="flat" cmpd="sng" algn="ctr">
                      <a:solidFill>
                        <a:srgbClr val="C4C2BF"/>
                      </a:solidFill>
                      <a:prstDash val="solid"/>
                      <a:round/>
                      <a:headEnd type="none" w="med" len="med"/>
                      <a:tailEnd type="none" w="med" len="med"/>
                    </a:lnB>
                  </a:tcPr>
                </a:tc>
                <a:tc>
                  <a:txBody>
                    <a:bodyPr/>
                    <a:lstStyle/>
                    <a:p>
                      <a:pPr marL="0" indent="0">
                        <a:lnSpc>
                          <a:spcPts val="1680"/>
                        </a:lnSpc>
                        <a:buNone/>
                      </a:pPr>
                      <a:r>
                        <a:rPr lang="en-US" sz="1200" dirty="0">
                          <a:solidFill>
                            <a:srgbClr val="1F2226"/>
                          </a:solidFill>
                          <a:latin typeface="IBM Plex Sans" pitchFamily="34" charset="0"/>
                          <a:ea typeface="IBM Plex Sans" pitchFamily="34" charset="-122"/>
                          <a:cs typeface="IBM Plex Sans" pitchFamily="34" charset="-120"/>
                        </a:rPr>
                        <a:t>Aditya Bose</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2BF"/>
                      </a:solidFill>
                      <a:prstDash val="solid"/>
                      <a:round/>
                      <a:headEnd type="none" w="med" len="med"/>
                      <a:tailEnd type="none" w="med" len="med"/>
                    </a:lnL>
                    <a:lnR w="12700" cap="flat" cmpd="sng" algn="ctr">
                      <a:solidFill>
                        <a:srgbClr val="C4C2BF"/>
                      </a:solidFill>
                      <a:prstDash val="solid"/>
                      <a:round/>
                      <a:headEnd type="none" w="med" len="med"/>
                      <a:tailEnd type="none" w="med" len="med"/>
                    </a:lnR>
                    <a:lnT w="12700" cap="flat" cmpd="sng" algn="ctr">
                      <a:solidFill>
                        <a:srgbClr val="CAC2B8"/>
                      </a:solidFill>
                      <a:prstDash val="solid"/>
                      <a:round/>
                      <a:headEnd type="none" w="med" len="med"/>
                      <a:tailEnd type="none" w="med" len="med"/>
                    </a:lnT>
                    <a:lnB w="12700" cap="flat" cmpd="sng" algn="ctr">
                      <a:solidFill>
                        <a:srgbClr val="C4C2BF"/>
                      </a:solidFill>
                      <a:prstDash val="solid"/>
                      <a:round/>
                      <a:headEnd type="none" w="med" len="med"/>
                      <a:tailEnd type="none" w="med" len="med"/>
                    </a:lnB>
                  </a:tcPr>
                </a:tc>
                <a:extLst>
                  <a:ext uri="{0D108BD9-81ED-4DB2-BD59-A6C34878D82A}">
                    <a16:rowId xmlns:a16="http://schemas.microsoft.com/office/drawing/2014/main" val="10002"/>
                  </a:ext>
                </a:extLst>
              </a:tr>
              <a:tr h="545902">
                <a:tc>
                  <a:txBody>
                    <a:bodyPr/>
                    <a:lstStyle/>
                    <a:p>
                      <a:pPr marL="0" indent="0">
                        <a:lnSpc>
                          <a:spcPts val="1680"/>
                        </a:lnSpc>
                        <a:buNone/>
                      </a:pPr>
                      <a:r>
                        <a:rPr lang="en-US" sz="1200" dirty="0">
                          <a:solidFill>
                            <a:srgbClr val="1F2226"/>
                          </a:solidFill>
                          <a:latin typeface="IBM Plex Sans" pitchFamily="34" charset="0"/>
                          <a:ea typeface="IBM Plex Sans" pitchFamily="34" charset="-122"/>
                          <a:cs typeface="IBM Plex Sans" pitchFamily="34" charset="-120"/>
                        </a:rPr>
                        <a:t>GPT-5 quota limits load testing (issue)</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2BF"/>
                      </a:solidFill>
                      <a:prstDash val="solid"/>
                      <a:round/>
                      <a:headEnd type="none" w="med" len="med"/>
                      <a:tailEnd type="none" w="med" len="med"/>
                    </a:lnL>
                    <a:lnR w="12700" cap="flat" cmpd="sng" algn="ctr">
                      <a:solidFill>
                        <a:srgbClr val="C8C7C6"/>
                      </a:solidFill>
                      <a:prstDash val="solid"/>
                      <a:round/>
                      <a:headEnd type="none" w="med" len="med"/>
                      <a:tailEnd type="none" w="med" len="med"/>
                    </a:lnR>
                    <a:lnT w="12700" cap="flat" cmpd="sng" algn="ctr">
                      <a:solidFill>
                        <a:srgbClr val="C4C2BF"/>
                      </a:solidFill>
                      <a:prstDash val="solid"/>
                      <a:round/>
                      <a:headEnd type="none" w="med" len="med"/>
                      <a:tailEnd type="none" w="med" len="med"/>
                    </a:lnT>
                    <a:lnB w="12700" cap="flat" cmpd="sng" algn="ctr">
                      <a:solidFill>
                        <a:srgbClr val="C8C7C6"/>
                      </a:solidFill>
                      <a:prstDash val="solid"/>
                      <a:round/>
                      <a:headEnd type="none" w="med" len="med"/>
                      <a:tailEnd type="none" w="med" len="med"/>
                    </a:lnB>
                    <a:solidFill>
                      <a:srgbClr val="FBFAF8"/>
                    </a:solidFill>
                  </a:tcPr>
                </a:tc>
                <a:tc>
                  <a:txBody>
                    <a:bodyPr/>
                    <a:lstStyle/>
                    <a:p>
                      <a:pPr marL="0" indent="0">
                        <a:lnSpc>
                          <a:spcPts val="1680"/>
                        </a:lnSpc>
                        <a:buNone/>
                      </a:pPr>
                      <a:r>
                        <a:rPr lang="en-US" sz="1200" dirty="0">
                          <a:solidFill>
                            <a:srgbClr val="9A5205"/>
                          </a:solidFill>
                          <a:latin typeface="IBM Plex Sans" pitchFamily="34" charset="0"/>
                          <a:ea typeface="IBM Plex Sans" pitchFamily="34" charset="-122"/>
                          <a:cs typeface="IBM Plex Sans" pitchFamily="34" charset="-120"/>
                        </a:rPr>
                        <a:t>Medium</a:t>
                      </a:r>
                      <a:endParaRPr lang="en-US" sz="1200" dirty="0">
                        <a:latin typeface="IBM Plex Sans" charset="0"/>
                        <a:ea typeface="IBM Plex Sans" charset="0"/>
                        <a:cs typeface="IBM Plex Sans" charset="0"/>
                      </a:endParaRPr>
                    </a:p>
                  </a:txBody>
                  <a:tcPr marL="53340" marR="53340" marT="53340" marB="53340">
                    <a:lnL w="12700" cap="flat" cmpd="sng" algn="ctr">
                      <a:solidFill>
                        <a:srgbClr val="C8C7C6"/>
                      </a:solidFill>
                      <a:prstDash val="solid"/>
                      <a:round/>
                      <a:headEnd type="none" w="med" len="med"/>
                      <a:tailEnd type="none" w="med" len="med"/>
                    </a:lnL>
                    <a:lnR w="12700" cap="flat" cmpd="sng" algn="ctr">
                      <a:solidFill>
                        <a:srgbClr val="C8C7C6"/>
                      </a:solidFill>
                      <a:prstDash val="solid"/>
                      <a:round/>
                      <a:headEnd type="none" w="med" len="med"/>
                      <a:tailEnd type="none" w="med" len="med"/>
                    </a:lnR>
                    <a:lnT w="12700" cap="flat" cmpd="sng" algn="ctr">
                      <a:solidFill>
                        <a:srgbClr val="C4C2BF"/>
                      </a:solidFill>
                      <a:prstDash val="solid"/>
                      <a:round/>
                      <a:headEnd type="none" w="med" len="med"/>
                      <a:tailEnd type="none" w="med" len="med"/>
                    </a:lnT>
                    <a:lnB w="12700" cap="flat" cmpd="sng" algn="ctr">
                      <a:solidFill>
                        <a:srgbClr val="C8C7C6"/>
                      </a:solidFill>
                      <a:prstDash val="solid"/>
                      <a:round/>
                      <a:headEnd type="none" w="med" len="med"/>
                      <a:tailEnd type="none" w="med" len="med"/>
                    </a:lnB>
                    <a:solidFill>
                      <a:srgbClr val="FBFAF8"/>
                    </a:solidFill>
                  </a:tcPr>
                </a:tc>
                <a:tc>
                  <a:txBody>
                    <a:bodyPr/>
                    <a:lstStyle/>
                    <a:p>
                      <a:pPr marL="0" indent="0">
                        <a:lnSpc>
                          <a:spcPts val="1680"/>
                        </a:lnSpc>
                        <a:buNone/>
                      </a:pPr>
                      <a:r>
                        <a:rPr lang="en-US" sz="1200" dirty="0">
                          <a:solidFill>
                            <a:srgbClr val="1F2226"/>
                          </a:solidFill>
                          <a:latin typeface="IBM Plex Sans" pitchFamily="34" charset="0"/>
                          <a:ea typeface="IBM Plex Sans" pitchFamily="34" charset="-122"/>
                          <a:cs typeface="IBM Plex Sans" pitchFamily="34" charset="-120"/>
                        </a:rPr>
                        <a:t>Quota increase requested from Microsoft; tests throttled meanwhile</a:t>
                      </a:r>
                      <a:endParaRPr lang="en-US" sz="1200" dirty="0">
                        <a:latin typeface="IBM Plex Sans" charset="0"/>
                        <a:ea typeface="IBM Plex Sans" charset="0"/>
                        <a:cs typeface="IBM Plex Sans" charset="0"/>
                      </a:endParaRPr>
                    </a:p>
                  </a:txBody>
                  <a:tcPr marL="53340" marR="53340" marT="53340" marB="53340">
                    <a:lnL w="12700" cap="flat" cmpd="sng" algn="ctr">
                      <a:solidFill>
                        <a:srgbClr val="C8C7C6"/>
                      </a:solidFill>
                      <a:prstDash val="solid"/>
                      <a:round/>
                      <a:headEnd type="none" w="med" len="med"/>
                      <a:tailEnd type="none" w="med" len="med"/>
                    </a:lnL>
                    <a:lnR w="12700" cap="flat" cmpd="sng" algn="ctr">
                      <a:solidFill>
                        <a:srgbClr val="C8C7C6"/>
                      </a:solidFill>
                      <a:prstDash val="solid"/>
                      <a:round/>
                      <a:headEnd type="none" w="med" len="med"/>
                      <a:tailEnd type="none" w="med" len="med"/>
                    </a:lnR>
                    <a:lnT w="12700" cap="flat" cmpd="sng" algn="ctr">
                      <a:solidFill>
                        <a:srgbClr val="C4C2BF"/>
                      </a:solidFill>
                      <a:prstDash val="solid"/>
                      <a:round/>
                      <a:headEnd type="none" w="med" len="med"/>
                      <a:tailEnd type="none" w="med" len="med"/>
                    </a:lnT>
                    <a:lnB w="12700" cap="flat" cmpd="sng" algn="ctr">
                      <a:solidFill>
                        <a:srgbClr val="C8C7C6"/>
                      </a:solidFill>
                      <a:prstDash val="solid"/>
                      <a:round/>
                      <a:headEnd type="none" w="med" len="med"/>
                      <a:tailEnd type="none" w="med" len="med"/>
                    </a:lnB>
                    <a:solidFill>
                      <a:srgbClr val="FBFAF8"/>
                    </a:solidFill>
                  </a:tcPr>
                </a:tc>
                <a:tc>
                  <a:txBody>
                    <a:bodyPr/>
                    <a:lstStyle/>
                    <a:p>
                      <a:pPr marL="0" indent="0">
                        <a:lnSpc>
                          <a:spcPts val="1680"/>
                        </a:lnSpc>
                        <a:buNone/>
                      </a:pPr>
                      <a:r>
                        <a:rPr lang="en-US" sz="1200" dirty="0">
                          <a:solidFill>
                            <a:srgbClr val="1F2226"/>
                          </a:solidFill>
                          <a:latin typeface="IBM Plex Sans" pitchFamily="34" charset="0"/>
                          <a:ea typeface="IBM Plex Sans" pitchFamily="34" charset="-122"/>
                          <a:cs typeface="IBM Plex Sans" pitchFamily="34" charset="-120"/>
                        </a:rPr>
                        <a:t>Farhan Qureshi</a:t>
                      </a:r>
                      <a:endParaRPr lang="en-US" sz="1200" dirty="0">
                        <a:latin typeface="IBM Plex Sans" charset="0"/>
                        <a:ea typeface="IBM Plex Sans" charset="0"/>
                        <a:cs typeface="IBM Plex Sans" charset="0"/>
                      </a:endParaRPr>
                    </a:p>
                  </a:txBody>
                  <a:tcPr marL="53340" marR="53340" marT="53340" marB="53340">
                    <a:lnL w="12700" cap="flat" cmpd="sng" algn="ctr">
                      <a:solidFill>
                        <a:srgbClr val="C8C7C6"/>
                      </a:solidFill>
                      <a:prstDash val="solid"/>
                      <a:round/>
                      <a:headEnd type="none" w="med" len="med"/>
                      <a:tailEnd type="none" w="med" len="med"/>
                    </a:lnL>
                    <a:lnR w="12700" cap="flat" cmpd="sng" algn="ctr">
                      <a:solidFill>
                        <a:srgbClr val="C8C7C6"/>
                      </a:solidFill>
                      <a:prstDash val="solid"/>
                      <a:round/>
                      <a:headEnd type="none" w="med" len="med"/>
                      <a:tailEnd type="none" w="med" len="med"/>
                    </a:lnR>
                    <a:lnT w="12700" cap="flat" cmpd="sng" algn="ctr">
                      <a:solidFill>
                        <a:srgbClr val="C4C2BF"/>
                      </a:solidFill>
                      <a:prstDash val="solid"/>
                      <a:round/>
                      <a:headEnd type="none" w="med" len="med"/>
                      <a:tailEnd type="none" w="med" len="med"/>
                    </a:lnT>
                    <a:lnB w="12700" cap="flat" cmpd="sng" algn="ctr">
                      <a:solidFill>
                        <a:srgbClr val="C8C7C6"/>
                      </a:solidFill>
                      <a:prstDash val="solid"/>
                      <a:round/>
                      <a:headEnd type="none" w="med" len="med"/>
                      <a:tailEnd type="none" w="med" len="med"/>
                    </a:lnB>
                    <a:solidFill>
                      <a:srgbClr val="FBFAF8"/>
                    </a:solidFill>
                  </a:tcPr>
                </a:tc>
                <a:extLst>
                  <a:ext uri="{0D108BD9-81ED-4DB2-BD59-A6C34878D82A}">
                    <a16:rowId xmlns:a16="http://schemas.microsoft.com/office/drawing/2014/main" val="10003"/>
                  </a:ext>
                </a:extLst>
              </a:tr>
              <a:tr h="545902">
                <a:tc>
                  <a:txBody>
                    <a:bodyPr/>
                    <a:lstStyle/>
                    <a:p>
                      <a:pPr marL="0" indent="0">
                        <a:lnSpc>
                          <a:spcPts val="1680"/>
                        </a:lnSpc>
                        <a:buNone/>
                      </a:pPr>
                      <a:r>
                        <a:rPr lang="en-US" sz="1200" dirty="0">
                          <a:solidFill>
                            <a:srgbClr val="1F2226"/>
                          </a:solidFill>
                          <a:latin typeface="IBM Plex Sans" pitchFamily="34" charset="0"/>
                          <a:ea typeface="IBM Plex Sans" pitchFamily="34" charset="-122"/>
                          <a:cs typeface="IBM Plex Sans" pitchFamily="34" charset="-120"/>
                        </a:rPr>
                        <a:t>Groundedness below 90% at the M4 gate</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2BF"/>
                      </a:solidFill>
                      <a:prstDash val="solid"/>
                      <a:round/>
                      <a:headEnd type="none" w="med" len="med"/>
                      <a:tailEnd type="none" w="med" len="med"/>
                    </a:lnL>
                    <a:lnR w="12700" cap="flat" cmpd="sng" algn="ctr">
                      <a:solidFill>
                        <a:srgbClr val="C4C2BF"/>
                      </a:solidFill>
                      <a:prstDash val="solid"/>
                      <a:round/>
                      <a:headEnd type="none" w="med" len="med"/>
                      <a:tailEnd type="none" w="med" len="med"/>
                    </a:lnR>
                    <a:lnT w="12700" cap="flat" cmpd="sng" algn="ctr">
                      <a:solidFill>
                        <a:srgbClr val="C8C7C6"/>
                      </a:solidFill>
                      <a:prstDash val="solid"/>
                      <a:round/>
                      <a:headEnd type="none" w="med" len="med"/>
                      <a:tailEnd type="none" w="med" len="med"/>
                    </a:lnT>
                    <a:lnB w="12700" cap="flat" cmpd="sng" algn="ctr">
                      <a:solidFill>
                        <a:srgbClr val="C4C2BF"/>
                      </a:solidFill>
                      <a:prstDash val="solid"/>
                      <a:round/>
                      <a:headEnd type="none" w="med" len="med"/>
                      <a:tailEnd type="none" w="med" len="med"/>
                    </a:lnB>
                  </a:tcPr>
                </a:tc>
                <a:tc>
                  <a:txBody>
                    <a:bodyPr/>
                    <a:lstStyle/>
                    <a:p>
                      <a:pPr marL="0" indent="0">
                        <a:lnSpc>
                          <a:spcPts val="1680"/>
                        </a:lnSpc>
                        <a:buNone/>
                      </a:pPr>
                      <a:r>
                        <a:rPr lang="en-US" sz="1200" dirty="0">
                          <a:solidFill>
                            <a:srgbClr val="9A5205"/>
                          </a:solidFill>
                          <a:latin typeface="IBM Plex Sans" pitchFamily="34" charset="0"/>
                          <a:ea typeface="IBM Plex Sans" pitchFamily="34" charset="-122"/>
                          <a:cs typeface="IBM Plex Sans" pitchFamily="34" charset="-120"/>
                        </a:rPr>
                        <a:t>Medium</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2BF"/>
                      </a:solidFill>
                      <a:prstDash val="solid"/>
                      <a:round/>
                      <a:headEnd type="none" w="med" len="med"/>
                      <a:tailEnd type="none" w="med" len="med"/>
                    </a:lnL>
                    <a:lnR w="12700" cap="flat" cmpd="sng" algn="ctr">
                      <a:solidFill>
                        <a:srgbClr val="C4C2BF"/>
                      </a:solidFill>
                      <a:prstDash val="solid"/>
                      <a:round/>
                      <a:headEnd type="none" w="med" len="med"/>
                      <a:tailEnd type="none" w="med" len="med"/>
                    </a:lnR>
                    <a:lnT w="12700" cap="flat" cmpd="sng" algn="ctr">
                      <a:solidFill>
                        <a:srgbClr val="C8C7C6"/>
                      </a:solidFill>
                      <a:prstDash val="solid"/>
                      <a:round/>
                      <a:headEnd type="none" w="med" len="med"/>
                      <a:tailEnd type="none" w="med" len="med"/>
                    </a:lnT>
                    <a:lnB w="12700" cap="flat" cmpd="sng" algn="ctr">
                      <a:solidFill>
                        <a:srgbClr val="C4C2BF"/>
                      </a:solidFill>
                      <a:prstDash val="solid"/>
                      <a:round/>
                      <a:headEnd type="none" w="med" len="med"/>
                      <a:tailEnd type="none" w="med" len="med"/>
                    </a:lnB>
                  </a:tcPr>
                </a:tc>
                <a:tc>
                  <a:txBody>
                    <a:bodyPr/>
                    <a:lstStyle/>
                    <a:p>
                      <a:pPr marL="0" indent="0">
                        <a:lnSpc>
                          <a:spcPts val="1680"/>
                        </a:lnSpc>
                        <a:buNone/>
                      </a:pPr>
                      <a:r>
                        <a:rPr lang="en-US" sz="1200" dirty="0">
                          <a:solidFill>
                            <a:srgbClr val="1F2226"/>
                          </a:solidFill>
                          <a:latin typeface="IBM Plex Sans" pitchFamily="34" charset="0"/>
                          <a:ea typeface="IBM Plex Sans" pitchFamily="34" charset="-122"/>
                          <a:cs typeface="IBM Plex Sans" pitchFamily="34" charset="-120"/>
                        </a:rPr>
                        <a:t>Tuning sprint S7; citations enforced; weekly benchmark runs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2BF"/>
                      </a:solidFill>
                      <a:prstDash val="solid"/>
                      <a:round/>
                      <a:headEnd type="none" w="med" len="med"/>
                      <a:tailEnd type="none" w="med" len="med"/>
                    </a:lnL>
                    <a:lnR w="12700" cap="flat" cmpd="sng" algn="ctr">
                      <a:solidFill>
                        <a:srgbClr val="C4C2BF"/>
                      </a:solidFill>
                      <a:prstDash val="solid"/>
                      <a:round/>
                      <a:headEnd type="none" w="med" len="med"/>
                      <a:tailEnd type="none" w="med" len="med"/>
                    </a:lnR>
                    <a:lnT w="12700" cap="flat" cmpd="sng" algn="ctr">
                      <a:solidFill>
                        <a:srgbClr val="C8C7C6"/>
                      </a:solidFill>
                      <a:prstDash val="solid"/>
                      <a:round/>
                      <a:headEnd type="none" w="med" len="med"/>
                      <a:tailEnd type="none" w="med" len="med"/>
                    </a:lnT>
                    <a:lnB w="12700" cap="flat" cmpd="sng" algn="ctr">
                      <a:solidFill>
                        <a:srgbClr val="C4C2BF"/>
                      </a:solidFill>
                      <a:prstDash val="solid"/>
                      <a:round/>
                      <a:headEnd type="none" w="med" len="med"/>
                      <a:tailEnd type="none" w="med" len="med"/>
                    </a:lnB>
                  </a:tcPr>
                </a:tc>
                <a:tc>
                  <a:txBody>
                    <a:bodyPr/>
                    <a:lstStyle/>
                    <a:p>
                      <a:pPr marL="0" indent="0">
                        <a:lnSpc>
                          <a:spcPts val="1680"/>
                        </a:lnSpc>
                        <a:buNone/>
                      </a:pPr>
                      <a:r>
                        <a:rPr lang="en-US" sz="1200" dirty="0">
                          <a:solidFill>
                            <a:srgbClr val="1F2226"/>
                          </a:solidFill>
                          <a:latin typeface="IBM Plex Sans" pitchFamily="34" charset="0"/>
                          <a:ea typeface="IBM Plex Sans" pitchFamily="34" charset="-122"/>
                          <a:cs typeface="IBM Plex Sans" pitchFamily="34" charset="-120"/>
                        </a:rPr>
                        <a:t>Arjun Mehta</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2BF"/>
                      </a:solidFill>
                      <a:prstDash val="solid"/>
                      <a:round/>
                      <a:headEnd type="none" w="med" len="med"/>
                      <a:tailEnd type="none" w="med" len="med"/>
                    </a:lnL>
                    <a:lnR w="12700" cap="flat" cmpd="sng" algn="ctr">
                      <a:solidFill>
                        <a:srgbClr val="C4C2BF"/>
                      </a:solidFill>
                      <a:prstDash val="solid"/>
                      <a:round/>
                      <a:headEnd type="none" w="med" len="med"/>
                      <a:tailEnd type="none" w="med" len="med"/>
                    </a:lnR>
                    <a:lnT w="12700" cap="flat" cmpd="sng" algn="ctr">
                      <a:solidFill>
                        <a:srgbClr val="C8C7C6"/>
                      </a:solidFill>
                      <a:prstDash val="solid"/>
                      <a:round/>
                      <a:headEnd type="none" w="med" len="med"/>
                      <a:tailEnd type="none" w="med" len="med"/>
                    </a:lnT>
                    <a:lnB w="12700" cap="flat" cmpd="sng" algn="ctr">
                      <a:solidFill>
                        <a:srgbClr val="C4C2BF"/>
                      </a:solidFill>
                      <a:prstDash val="solid"/>
                      <a:round/>
                      <a:headEnd type="none" w="med" len="med"/>
                      <a:tailEnd type="none" w="med" len="med"/>
                    </a:lnB>
                  </a:tcPr>
                </a:tc>
                <a:extLst>
                  <a:ext uri="{0D108BD9-81ED-4DB2-BD59-A6C34878D82A}">
                    <a16:rowId xmlns:a16="http://schemas.microsoft.com/office/drawing/2014/main" val="10004"/>
                  </a:ext>
                </a:extLst>
              </a:tr>
              <a:tr h="332581">
                <a:tc>
                  <a:txBody>
                    <a:bodyPr/>
                    <a:lstStyle/>
                    <a:p>
                      <a:pPr marL="0" indent="0">
                        <a:lnSpc>
                          <a:spcPts val="1680"/>
                        </a:lnSpc>
                        <a:buNone/>
                      </a:pPr>
                      <a:r>
                        <a:rPr lang="en-US" sz="1200" dirty="0">
                          <a:solidFill>
                            <a:srgbClr val="1F2226"/>
                          </a:solidFill>
                          <a:latin typeface="IBM Plex Sans" pitchFamily="34" charset="0"/>
                          <a:ea typeface="IBM Plex Sans" pitchFamily="34" charset="-122"/>
                          <a:cs typeface="IBM Plex Sans" pitchFamily="34" charset="-120"/>
                        </a:rPr>
                        <a:t>SME time for validation and UAT</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2BF"/>
                      </a:solidFill>
                      <a:prstDash val="solid"/>
                      <a:round/>
                      <a:headEnd type="none" w="med" len="med"/>
                      <a:tailEnd type="none" w="med" len="med"/>
                    </a:lnL>
                    <a:lnR w="12700" cap="flat" cmpd="sng" algn="ctr">
                      <a:solidFill>
                        <a:srgbClr val="C8C7C6"/>
                      </a:solidFill>
                      <a:prstDash val="solid"/>
                      <a:round/>
                      <a:headEnd type="none" w="med" len="med"/>
                      <a:tailEnd type="none" w="med" len="med"/>
                    </a:lnR>
                    <a:lnT w="12700" cap="flat" cmpd="sng" algn="ctr">
                      <a:solidFill>
                        <a:srgbClr val="C4C2BF"/>
                      </a:solidFill>
                      <a:prstDash val="solid"/>
                      <a:round/>
                      <a:headEnd type="none" w="med" len="med"/>
                      <a:tailEnd type="none" w="med" len="med"/>
                    </a:lnT>
                    <a:lnB w="12700" cap="flat" cmpd="sng" algn="ctr">
                      <a:solidFill>
                        <a:srgbClr val="C8C7C6"/>
                      </a:solidFill>
                      <a:prstDash val="solid"/>
                      <a:round/>
                      <a:headEnd type="none" w="med" len="med"/>
                      <a:tailEnd type="none" w="med" len="med"/>
                    </a:lnB>
                    <a:solidFill>
                      <a:srgbClr val="FBFAF8"/>
                    </a:solidFill>
                  </a:tcPr>
                </a:tc>
                <a:tc>
                  <a:txBody>
                    <a:bodyPr/>
                    <a:lstStyle/>
                    <a:p>
                      <a:pPr marL="0" indent="0">
                        <a:lnSpc>
                          <a:spcPts val="1680"/>
                        </a:lnSpc>
                        <a:buNone/>
                      </a:pPr>
                      <a:r>
                        <a:rPr lang="en-US" sz="1200" dirty="0">
                          <a:solidFill>
                            <a:srgbClr val="9A5205"/>
                          </a:solidFill>
                          <a:latin typeface="IBM Plex Sans" pitchFamily="34" charset="0"/>
                          <a:ea typeface="IBM Plex Sans" pitchFamily="34" charset="-122"/>
                          <a:cs typeface="IBM Plex Sans" pitchFamily="34" charset="-120"/>
                        </a:rPr>
                        <a:t>Medium</a:t>
                      </a:r>
                      <a:endParaRPr lang="en-US" sz="1200" dirty="0">
                        <a:latin typeface="IBM Plex Sans" charset="0"/>
                        <a:ea typeface="IBM Plex Sans" charset="0"/>
                        <a:cs typeface="IBM Plex Sans" charset="0"/>
                      </a:endParaRPr>
                    </a:p>
                  </a:txBody>
                  <a:tcPr marL="53340" marR="53340" marT="53340" marB="53340">
                    <a:lnL w="12700" cap="flat" cmpd="sng" algn="ctr">
                      <a:solidFill>
                        <a:srgbClr val="C8C7C6"/>
                      </a:solidFill>
                      <a:prstDash val="solid"/>
                      <a:round/>
                      <a:headEnd type="none" w="med" len="med"/>
                      <a:tailEnd type="none" w="med" len="med"/>
                    </a:lnL>
                    <a:lnR w="12700" cap="flat" cmpd="sng" algn="ctr">
                      <a:solidFill>
                        <a:srgbClr val="C8C7C6"/>
                      </a:solidFill>
                      <a:prstDash val="solid"/>
                      <a:round/>
                      <a:headEnd type="none" w="med" len="med"/>
                      <a:tailEnd type="none" w="med" len="med"/>
                    </a:lnR>
                    <a:lnT w="12700" cap="flat" cmpd="sng" algn="ctr">
                      <a:solidFill>
                        <a:srgbClr val="C4C2BF"/>
                      </a:solidFill>
                      <a:prstDash val="solid"/>
                      <a:round/>
                      <a:headEnd type="none" w="med" len="med"/>
                      <a:tailEnd type="none" w="med" len="med"/>
                    </a:lnT>
                    <a:lnB w="12700" cap="flat" cmpd="sng" algn="ctr">
                      <a:solidFill>
                        <a:srgbClr val="C8C7C6"/>
                      </a:solidFill>
                      <a:prstDash val="solid"/>
                      <a:round/>
                      <a:headEnd type="none" w="med" len="med"/>
                      <a:tailEnd type="none" w="med" len="med"/>
                    </a:lnB>
                    <a:solidFill>
                      <a:srgbClr val="FBFAF8"/>
                    </a:solidFill>
                  </a:tcPr>
                </a:tc>
                <a:tc>
                  <a:txBody>
                    <a:bodyPr/>
                    <a:lstStyle/>
                    <a:p>
                      <a:pPr marL="0" indent="0">
                        <a:lnSpc>
                          <a:spcPts val="1680"/>
                        </a:lnSpc>
                        <a:buNone/>
                      </a:pPr>
                      <a:r>
                        <a:rPr lang="en-US" sz="1200" dirty="0">
                          <a:solidFill>
                            <a:srgbClr val="1F2226"/>
                          </a:solidFill>
                          <a:latin typeface="IBM Plex Sans" pitchFamily="34" charset="0"/>
                          <a:ea typeface="IBM Plex Sans" pitchFamily="34" charset="-122"/>
                          <a:cs typeface="IBM Plex Sans" pitchFamily="34" charset="-120"/>
                        </a:rPr>
                        <a:t>UAT slots to be booked now for Weeks 17–19</a:t>
                      </a:r>
                      <a:endParaRPr lang="en-US" sz="1200" dirty="0">
                        <a:latin typeface="IBM Plex Sans" charset="0"/>
                        <a:ea typeface="IBM Plex Sans" charset="0"/>
                        <a:cs typeface="IBM Plex Sans" charset="0"/>
                      </a:endParaRPr>
                    </a:p>
                  </a:txBody>
                  <a:tcPr marL="53340" marR="53340" marT="53340" marB="53340">
                    <a:lnL w="12700" cap="flat" cmpd="sng" algn="ctr">
                      <a:solidFill>
                        <a:srgbClr val="C8C7C6"/>
                      </a:solidFill>
                      <a:prstDash val="solid"/>
                      <a:round/>
                      <a:headEnd type="none" w="med" len="med"/>
                      <a:tailEnd type="none" w="med" len="med"/>
                    </a:lnL>
                    <a:lnR w="12700" cap="flat" cmpd="sng" algn="ctr">
                      <a:solidFill>
                        <a:srgbClr val="C8C7C6"/>
                      </a:solidFill>
                      <a:prstDash val="solid"/>
                      <a:round/>
                      <a:headEnd type="none" w="med" len="med"/>
                      <a:tailEnd type="none" w="med" len="med"/>
                    </a:lnR>
                    <a:lnT w="12700" cap="flat" cmpd="sng" algn="ctr">
                      <a:solidFill>
                        <a:srgbClr val="C4C2BF"/>
                      </a:solidFill>
                      <a:prstDash val="solid"/>
                      <a:round/>
                      <a:headEnd type="none" w="med" len="med"/>
                      <a:tailEnd type="none" w="med" len="med"/>
                    </a:lnT>
                    <a:lnB w="12700" cap="flat" cmpd="sng" algn="ctr">
                      <a:solidFill>
                        <a:srgbClr val="C8C7C6"/>
                      </a:solidFill>
                      <a:prstDash val="solid"/>
                      <a:round/>
                      <a:headEnd type="none" w="med" len="med"/>
                      <a:tailEnd type="none" w="med" len="med"/>
                    </a:lnB>
                    <a:solidFill>
                      <a:srgbClr val="FBFAF8"/>
                    </a:solidFill>
                  </a:tcPr>
                </a:tc>
                <a:tc>
                  <a:txBody>
                    <a:bodyPr/>
                    <a:lstStyle/>
                    <a:p>
                      <a:pPr marL="0" indent="0">
                        <a:lnSpc>
                          <a:spcPts val="1680"/>
                        </a:lnSpc>
                        <a:buNone/>
                      </a:pPr>
                      <a:r>
                        <a:rPr lang="en-US" sz="1200" dirty="0">
                          <a:solidFill>
                            <a:srgbClr val="1F2226"/>
                          </a:solidFill>
                          <a:latin typeface="IBM Plex Sans" pitchFamily="34" charset="0"/>
                          <a:ea typeface="IBM Plex Sans" pitchFamily="34" charset="-122"/>
                          <a:cs typeface="IBM Plex Sans" pitchFamily="34" charset="-120"/>
                        </a:rPr>
                        <a:t>Shruti Sinha</a:t>
                      </a:r>
                      <a:endParaRPr lang="en-US" sz="1200" dirty="0">
                        <a:latin typeface="IBM Plex Sans" charset="0"/>
                        <a:ea typeface="IBM Plex Sans" charset="0"/>
                        <a:cs typeface="IBM Plex Sans" charset="0"/>
                      </a:endParaRPr>
                    </a:p>
                  </a:txBody>
                  <a:tcPr marL="53340" marR="53340" marT="53340" marB="53340">
                    <a:lnL w="12700" cap="flat" cmpd="sng" algn="ctr">
                      <a:solidFill>
                        <a:srgbClr val="C8C7C6"/>
                      </a:solidFill>
                      <a:prstDash val="solid"/>
                      <a:round/>
                      <a:headEnd type="none" w="med" len="med"/>
                      <a:tailEnd type="none" w="med" len="med"/>
                    </a:lnL>
                    <a:lnR w="12700" cap="flat" cmpd="sng" algn="ctr">
                      <a:solidFill>
                        <a:srgbClr val="C8C7C6"/>
                      </a:solidFill>
                      <a:prstDash val="solid"/>
                      <a:round/>
                      <a:headEnd type="none" w="med" len="med"/>
                      <a:tailEnd type="none" w="med" len="med"/>
                    </a:lnR>
                    <a:lnT w="12700" cap="flat" cmpd="sng" algn="ctr">
                      <a:solidFill>
                        <a:srgbClr val="C4C2BF"/>
                      </a:solidFill>
                      <a:prstDash val="solid"/>
                      <a:round/>
                      <a:headEnd type="none" w="med" len="med"/>
                      <a:tailEnd type="none" w="med" len="med"/>
                    </a:lnT>
                    <a:lnB w="12700" cap="flat" cmpd="sng" algn="ctr">
                      <a:solidFill>
                        <a:srgbClr val="C8C7C6"/>
                      </a:solidFill>
                      <a:prstDash val="solid"/>
                      <a:round/>
                      <a:headEnd type="none" w="med" len="med"/>
                      <a:tailEnd type="none" w="med" len="med"/>
                    </a:lnB>
                    <a:solidFill>
                      <a:srgbClr val="FBFAF8"/>
                    </a:solidFill>
                  </a:tcPr>
                </a:tc>
                <a:extLst>
                  <a:ext uri="{0D108BD9-81ED-4DB2-BD59-A6C34878D82A}">
                    <a16:rowId xmlns:a16="http://schemas.microsoft.com/office/drawing/2014/main" val="10005"/>
                  </a:ext>
                </a:extLst>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076"/>
                </a:solidFill>
                <a:latin typeface="IBM Plex Sans" pitchFamily="34" charset="0"/>
                <a:ea typeface="IBM Plex Sans" pitchFamily="34" charset="-122"/>
                <a:cs typeface="IBM Plex Sans" pitchFamily="34" charset="-120"/>
              </a:rPr>
              <a:t>Top 5 of 18 RAID items · full log reviewed weekly by the Project Lead</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A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00000"/>
                </a:solidFill>
                <a:latin typeface="IBM Plex Sans" pitchFamily="34" charset="0"/>
                <a:ea typeface="IBM Plex Sans" pitchFamily="34" charset="-122"/>
                <a:cs typeface="IBM Plex Sans" pitchFamily="34" charset="-120"/>
              </a:rPr>
              <a:t>03 · RISKS AND LESSONS LEARNED</a:t>
            </a:r>
            <a:endParaRPr lang="en-US" sz="1200" dirty="0"/>
          </a:p>
        </p:txBody>
      </p:sp>
      <p:sp>
        <p:nvSpPr>
          <p:cNvPr id="3" name="Text 1"/>
          <p:cNvSpPr>
            <a:spLocks noGrp="1"/>
          </p:cNvSpPr>
          <p:nvPr>
            <p:ph type="title"/>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F2226"/>
                </a:solidFill>
                <a:latin typeface="Rubik" pitchFamily="34" charset="0"/>
                <a:ea typeface="Rubik" pitchFamily="34" charset="-122"/>
                <a:cs typeface="Rubik" pitchFamily="34" charset="-120"/>
              </a:rPr>
              <a:t>Lessons learned at the halfway point</a:t>
            </a:r>
            <a:endParaRPr lang="en-US" sz="3200" dirty="0"/>
          </a:p>
        </p:txBody>
      </p:sp>
      <p:sp>
        <p:nvSpPr>
          <p:cNvPr id="4" name="Shape 2"/>
          <p:cNvSpPr/>
          <p:nvPr/>
        </p:nvSpPr>
        <p:spPr>
          <a:xfrm>
            <a:off x="812800" y="1879501"/>
            <a:ext cx="3386634" cy="3962499"/>
          </a:xfrm>
          <a:prstGeom prst="roundRect">
            <a:avLst>
              <a:gd name="adj" fmla="val 3000"/>
            </a:avLst>
          </a:prstGeom>
          <a:solidFill>
            <a:srgbClr val="F5F3EF"/>
          </a:solidFill>
          <a:ln/>
        </p:spPr>
        <p:txBody>
          <a:bodyPr/>
          <a:lstStyle/>
          <a:p>
            <a:endParaRPr lang="en-US"/>
          </a:p>
        </p:txBody>
      </p:sp>
      <p:sp>
        <p:nvSpPr>
          <p:cNvPr id="5" name="Shape 3"/>
          <p:cNvSpPr/>
          <p:nvPr/>
        </p:nvSpPr>
        <p:spPr>
          <a:xfrm>
            <a:off x="812800" y="1879501"/>
            <a:ext cx="3386634" cy="3962499"/>
          </a:xfrm>
          <a:custGeom>
            <a:avLst/>
            <a:gdLst/>
            <a:ahLst/>
            <a:cxnLst/>
            <a:rect l="l" t="t" r="r" b="b"/>
            <a:pathLst>
              <a:path w="3386634" h="3962499">
                <a:moveTo>
                  <a:pt x="0" y="101600"/>
                </a:moveTo>
                <a:lnTo>
                  <a:pt x="0" y="101600"/>
                </a:lnTo>
                <a:arcTo wR="101600" hR="101600" stAng="10800000" swAng="5400000"/>
                <a:lnTo>
                  <a:pt x="3285034" y="0"/>
                </a:lnTo>
                <a:arcTo wR="101600" hR="101600" stAng="16200000" swAng="5400000"/>
                <a:lnTo>
                  <a:pt x="3386634" y="101600"/>
                </a:lnTo>
                <a:arcTo wR="101600" hR="50800" stAng="0" swAng="-5400000"/>
                <a:lnTo>
                  <a:pt x="101600" y="50800"/>
                </a:lnTo>
                <a:arcTo wR="101600" hR="50800" stAng="16200000" swAng="-5400000"/>
                <a:close/>
              </a:path>
            </a:pathLst>
          </a:custGeom>
          <a:solidFill>
            <a:srgbClr val="2E7D4F"/>
          </a:solidFill>
          <a:ln/>
        </p:spPr>
        <p:txBody>
          <a:bodyPr/>
          <a:lstStyle/>
          <a:p>
            <a:endParaRPr lang="en-US"/>
          </a:p>
        </p:txBody>
      </p:sp>
      <p:sp>
        <p:nvSpPr>
          <p:cNvPr id="6" name="Text 4"/>
          <p:cNvSpPr/>
          <p:nvPr/>
        </p:nvSpPr>
        <p:spPr>
          <a:xfrm>
            <a:off x="1066800" y="2184301"/>
            <a:ext cx="2964993"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F2226"/>
                </a:solidFill>
                <a:latin typeface="Rubik" pitchFamily="34" charset="0"/>
                <a:ea typeface="Rubik" pitchFamily="34" charset="-122"/>
                <a:cs typeface="Rubik" pitchFamily="34" charset="-120"/>
              </a:rPr>
              <a:t>What worked</a:t>
            </a:r>
            <a:endParaRPr lang="en-US" sz="1800" dirty="0"/>
          </a:p>
        </p:txBody>
      </p:sp>
      <p:sp>
        <p:nvSpPr>
          <p:cNvPr id="7" name="Text 5"/>
          <p:cNvSpPr/>
          <p:nvPr/>
        </p:nvSpPr>
        <p:spPr>
          <a:xfrm>
            <a:off x="1152144" y="2585541"/>
            <a:ext cx="2872029" cy="1939925"/>
          </a:xfrm>
          <a:prstGeom prst="rect">
            <a:avLst/>
          </a:prstGeom>
          <a:noFill/>
          <a:ln/>
        </p:spPr>
        <p:txBody>
          <a:bodyPr wrap="square" lIns="0" tIns="0" rIns="0" bIns="0" rtlCol="0" anchor="t">
            <a:normAutofit/>
          </a:bodyPr>
          <a:lstStyle/>
          <a:p>
            <a:pPr marL="168656" indent="-168656" algn="l">
              <a:lnSpc>
                <a:spcPts val="1885"/>
              </a:lnSpc>
              <a:buSzPct val="100000"/>
              <a:buChar char="•"/>
            </a:pPr>
            <a:r>
              <a:rPr lang="en-US" sz="1300" dirty="0">
                <a:solidFill>
                  <a:srgbClr val="3A3E43"/>
                </a:solidFill>
                <a:latin typeface="IBM Plex Sans" pitchFamily="34" charset="0"/>
                <a:ea typeface="IBM Plex Sans" pitchFamily="34" charset="-122"/>
                <a:cs typeface="IBM Plex Sans" pitchFamily="34" charset="-120"/>
              </a:rPr>
              <a:t>InfoSec in design reviews from Week 2: no rework at M1</a:t>
            </a:r>
            <a:endParaRPr lang="en-US" sz="1300" dirty="0"/>
          </a:p>
          <a:p>
            <a:pPr marL="168656" indent="-168656" algn="l">
              <a:lnSpc>
                <a:spcPts val="1885"/>
              </a:lnSpc>
              <a:buSzPct val="100000"/>
              <a:buChar char="•"/>
            </a:pPr>
            <a:r>
              <a:rPr lang="en-US" sz="1300" dirty="0">
                <a:solidFill>
                  <a:srgbClr val="3A3E43"/>
                </a:solidFill>
                <a:latin typeface="IBM Plex Sans" pitchFamily="34" charset="0"/>
                <a:ea typeface="IBM Plex Sans" pitchFamily="34" charset="-122"/>
                <a:cs typeface="IBM Plex Sans" pitchFamily="34" charset="-120"/>
              </a:rPr>
              <a:t>Benchmark built early, so quality is measured every sprint</a:t>
            </a:r>
            <a:endParaRPr lang="en-US" sz="1300" dirty="0"/>
          </a:p>
          <a:p>
            <a:pPr marL="168656" indent="-168656" algn="l">
              <a:lnSpc>
                <a:spcPts val="1885"/>
              </a:lnSpc>
              <a:buSzPct val="100000"/>
              <a:buChar char="•"/>
            </a:pPr>
            <a:r>
              <a:rPr lang="en-US" sz="1300" dirty="0">
                <a:solidFill>
                  <a:srgbClr val="3A3E43"/>
                </a:solidFill>
                <a:latin typeface="IBM Plex Sans" pitchFamily="34" charset="0"/>
                <a:ea typeface="IBM Plex Sans" pitchFamily="34" charset="-122"/>
                <a:cs typeface="IBM Plex Sans" pitchFamily="34" charset="-120"/>
              </a:rPr>
              <a:t>Mock services kept integration moving while access was pending</a:t>
            </a:r>
            <a:endParaRPr lang="en-US" sz="1300" dirty="0"/>
          </a:p>
          <a:p>
            <a:pPr marL="168656" indent="-168656" algn="l">
              <a:lnSpc>
                <a:spcPts val="1885"/>
              </a:lnSpc>
              <a:buSzPct val="100000"/>
              <a:buChar char="•"/>
            </a:pPr>
            <a:r>
              <a:rPr lang="en-US" sz="1300" dirty="0">
                <a:solidFill>
                  <a:srgbClr val="3A3E43"/>
                </a:solidFill>
                <a:latin typeface="IBM Plex Sans" pitchFamily="34" charset="0"/>
                <a:ea typeface="IBM Plex Sans" pitchFamily="34" charset="-122"/>
                <a:cs typeface="IBM Plex Sans" pitchFamily="34" charset="-120"/>
              </a:rPr>
              <a:t>Weekly earned value flagged the cost drift early</a:t>
            </a:r>
            <a:endParaRPr lang="en-US" sz="1300" dirty="0"/>
          </a:p>
        </p:txBody>
      </p:sp>
      <p:sp>
        <p:nvSpPr>
          <p:cNvPr id="8" name="Shape 6"/>
          <p:cNvSpPr/>
          <p:nvPr/>
        </p:nvSpPr>
        <p:spPr>
          <a:xfrm>
            <a:off x="4402634" y="1879501"/>
            <a:ext cx="3386733" cy="3962499"/>
          </a:xfrm>
          <a:prstGeom prst="roundRect">
            <a:avLst>
              <a:gd name="adj" fmla="val 3000"/>
            </a:avLst>
          </a:prstGeom>
          <a:solidFill>
            <a:srgbClr val="F5F3EF"/>
          </a:solidFill>
          <a:ln/>
        </p:spPr>
        <p:txBody>
          <a:bodyPr/>
          <a:lstStyle/>
          <a:p>
            <a:endParaRPr lang="en-US"/>
          </a:p>
        </p:txBody>
      </p:sp>
      <p:sp>
        <p:nvSpPr>
          <p:cNvPr id="9" name="Shape 7"/>
          <p:cNvSpPr/>
          <p:nvPr/>
        </p:nvSpPr>
        <p:spPr>
          <a:xfrm>
            <a:off x="4402634" y="1879501"/>
            <a:ext cx="3386733" cy="3962499"/>
          </a:xfrm>
          <a:custGeom>
            <a:avLst/>
            <a:gdLst/>
            <a:ahLst/>
            <a:cxnLst/>
            <a:rect l="l" t="t" r="r" b="b"/>
            <a:pathLst>
              <a:path w="3386733" h="3962499">
                <a:moveTo>
                  <a:pt x="0" y="101600"/>
                </a:moveTo>
                <a:lnTo>
                  <a:pt x="0" y="101600"/>
                </a:lnTo>
                <a:arcTo wR="101600" hR="101600" stAng="10800000" swAng="5400000"/>
                <a:lnTo>
                  <a:pt x="3285133" y="0"/>
                </a:lnTo>
                <a:arcTo wR="101600" hR="101600" stAng="16200000" swAng="5400000"/>
                <a:lnTo>
                  <a:pt x="3386733" y="101600"/>
                </a:lnTo>
                <a:arcTo wR="101600" hR="50800" stAng="0" swAng="-5400000"/>
                <a:lnTo>
                  <a:pt x="101600" y="50800"/>
                </a:lnTo>
                <a:arcTo wR="101600" hR="50800" stAng="16200000" swAng="-5400000"/>
                <a:close/>
              </a:path>
            </a:pathLst>
          </a:custGeom>
          <a:solidFill>
            <a:srgbClr val="9A5205"/>
          </a:solidFill>
          <a:ln/>
        </p:spPr>
        <p:txBody>
          <a:bodyPr/>
          <a:lstStyle/>
          <a:p>
            <a:endParaRPr lang="en-US"/>
          </a:p>
        </p:txBody>
      </p:sp>
      <p:sp>
        <p:nvSpPr>
          <p:cNvPr id="10" name="Text 8"/>
          <p:cNvSpPr/>
          <p:nvPr/>
        </p:nvSpPr>
        <p:spPr>
          <a:xfrm>
            <a:off x="4656634" y="2184301"/>
            <a:ext cx="2965095"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F2226"/>
                </a:solidFill>
                <a:latin typeface="Rubik" pitchFamily="34" charset="0"/>
                <a:ea typeface="Rubik" pitchFamily="34" charset="-122"/>
                <a:cs typeface="Rubik" pitchFamily="34" charset="-120"/>
              </a:rPr>
              <a:t>What we would change</a:t>
            </a:r>
            <a:endParaRPr lang="en-US" sz="1800" dirty="0"/>
          </a:p>
        </p:txBody>
      </p:sp>
      <p:sp>
        <p:nvSpPr>
          <p:cNvPr id="11" name="Text 9"/>
          <p:cNvSpPr/>
          <p:nvPr/>
        </p:nvSpPr>
        <p:spPr>
          <a:xfrm>
            <a:off x="4741978" y="2585541"/>
            <a:ext cx="2872131" cy="2179241"/>
          </a:xfrm>
          <a:prstGeom prst="rect">
            <a:avLst/>
          </a:prstGeom>
          <a:noFill/>
          <a:ln/>
        </p:spPr>
        <p:txBody>
          <a:bodyPr wrap="square" lIns="0" tIns="0" rIns="0" bIns="0" rtlCol="0" anchor="t">
            <a:normAutofit/>
          </a:bodyPr>
          <a:lstStyle/>
          <a:p>
            <a:pPr marL="168656" indent="-168656" algn="l">
              <a:lnSpc>
                <a:spcPts val="1885"/>
              </a:lnSpc>
              <a:buSzPct val="100000"/>
              <a:buChar char="•"/>
            </a:pPr>
            <a:r>
              <a:rPr lang="en-US" sz="1300" dirty="0">
                <a:solidFill>
                  <a:srgbClr val="3A3E43"/>
                </a:solidFill>
                <a:latin typeface="IBM Plex Sans" pitchFamily="34" charset="0"/>
                <a:ea typeface="IBM Plex Sans" pitchFamily="34" charset="-122"/>
                <a:cs typeface="IBM Plex Sans" pitchFamily="34" charset="-120"/>
              </a:rPr>
              <a:t>Third-party access should be on the critical path from Week 1</a:t>
            </a:r>
            <a:endParaRPr lang="en-US" sz="1300" dirty="0"/>
          </a:p>
          <a:p>
            <a:pPr marL="168656" indent="-168656" algn="l">
              <a:lnSpc>
                <a:spcPts val="1885"/>
              </a:lnSpc>
              <a:buSzPct val="100000"/>
              <a:buChar char="•"/>
            </a:pPr>
            <a:r>
              <a:rPr lang="en-US" sz="1300" dirty="0">
                <a:solidFill>
                  <a:srgbClr val="3A3E43"/>
                </a:solidFill>
                <a:latin typeface="IBM Plex Sans" pitchFamily="34" charset="0"/>
                <a:ea typeface="IBM Plex Sans" pitchFamily="34" charset="-122"/>
                <a:cs typeface="IBM Plex Sans" pitchFamily="34" charset="-120"/>
              </a:rPr>
              <a:t>SAP effort was underestimated: legacy interfaces need a discovery spike</a:t>
            </a:r>
            <a:endParaRPr lang="en-US" sz="1300" dirty="0"/>
          </a:p>
          <a:p>
            <a:pPr marL="168656" indent="-168656" algn="l">
              <a:lnSpc>
                <a:spcPts val="1885"/>
              </a:lnSpc>
              <a:buSzPct val="100000"/>
              <a:buChar char="•"/>
            </a:pPr>
            <a:r>
              <a:rPr lang="en-US" sz="1300" dirty="0">
                <a:solidFill>
                  <a:srgbClr val="3A3E43"/>
                </a:solidFill>
                <a:latin typeface="IBM Plex Sans" pitchFamily="34" charset="0"/>
                <a:ea typeface="IBM Plex Sans" pitchFamily="34" charset="-122"/>
                <a:cs typeface="IBM Plex Sans" pitchFamily="34" charset="-120"/>
              </a:rPr>
              <a:t>Model quota requests need weeks of lead time</a:t>
            </a:r>
            <a:endParaRPr lang="en-US" sz="1300" dirty="0"/>
          </a:p>
          <a:p>
            <a:pPr marL="168656" indent="-168656" algn="l">
              <a:lnSpc>
                <a:spcPts val="1885"/>
              </a:lnSpc>
              <a:buSzPct val="100000"/>
              <a:buChar char="•"/>
            </a:pPr>
            <a:r>
              <a:rPr lang="en-US" sz="1300" dirty="0">
                <a:solidFill>
                  <a:srgbClr val="3A3E43"/>
                </a:solidFill>
                <a:latin typeface="IBM Plex Sans" pitchFamily="34" charset="0"/>
                <a:ea typeface="IBM Plex Sans" pitchFamily="34" charset="-122"/>
                <a:cs typeface="IBM Plex Sans" pitchFamily="34" charset="-120"/>
              </a:rPr>
              <a:t>Holiday weeks belong in the first baseline</a:t>
            </a:r>
            <a:endParaRPr lang="en-US" sz="1300" dirty="0"/>
          </a:p>
        </p:txBody>
      </p:sp>
      <p:sp>
        <p:nvSpPr>
          <p:cNvPr id="12" name="Shape 10"/>
          <p:cNvSpPr/>
          <p:nvPr/>
        </p:nvSpPr>
        <p:spPr>
          <a:xfrm>
            <a:off x="7992566" y="1879501"/>
            <a:ext cx="3386634" cy="3962499"/>
          </a:xfrm>
          <a:prstGeom prst="roundRect">
            <a:avLst>
              <a:gd name="adj" fmla="val 3000"/>
            </a:avLst>
          </a:prstGeom>
          <a:solidFill>
            <a:srgbClr val="F5F3EF"/>
          </a:solidFill>
          <a:ln/>
        </p:spPr>
        <p:txBody>
          <a:bodyPr/>
          <a:lstStyle/>
          <a:p>
            <a:endParaRPr lang="en-US"/>
          </a:p>
        </p:txBody>
      </p:sp>
      <p:sp>
        <p:nvSpPr>
          <p:cNvPr id="13" name="Shape 11"/>
          <p:cNvSpPr/>
          <p:nvPr/>
        </p:nvSpPr>
        <p:spPr>
          <a:xfrm>
            <a:off x="7992566" y="1879501"/>
            <a:ext cx="3386634" cy="3962499"/>
          </a:xfrm>
          <a:custGeom>
            <a:avLst/>
            <a:gdLst/>
            <a:ahLst/>
            <a:cxnLst/>
            <a:rect l="l" t="t" r="r" b="b"/>
            <a:pathLst>
              <a:path w="3386634" h="3962499">
                <a:moveTo>
                  <a:pt x="0" y="101600"/>
                </a:moveTo>
                <a:lnTo>
                  <a:pt x="0" y="101600"/>
                </a:lnTo>
                <a:arcTo wR="101600" hR="101600" stAng="10800000" swAng="5400000"/>
                <a:lnTo>
                  <a:pt x="3285034" y="0"/>
                </a:lnTo>
                <a:arcTo wR="101600" hR="101600" stAng="16200000" swAng="5400000"/>
                <a:lnTo>
                  <a:pt x="3386634" y="101600"/>
                </a:lnTo>
                <a:arcTo wR="101600" hR="50800" stAng="0" swAng="-5400000"/>
                <a:lnTo>
                  <a:pt x="101600" y="50800"/>
                </a:lnTo>
                <a:arcTo wR="101600" hR="50800" stAng="16200000" swAng="-5400000"/>
                <a:close/>
              </a:path>
            </a:pathLst>
          </a:custGeom>
          <a:solidFill>
            <a:srgbClr val="E60000"/>
          </a:solidFill>
          <a:ln/>
        </p:spPr>
        <p:txBody>
          <a:bodyPr/>
          <a:lstStyle/>
          <a:p>
            <a:endParaRPr lang="en-US"/>
          </a:p>
        </p:txBody>
      </p:sp>
      <p:sp>
        <p:nvSpPr>
          <p:cNvPr id="14" name="Text 12"/>
          <p:cNvSpPr/>
          <p:nvPr/>
        </p:nvSpPr>
        <p:spPr>
          <a:xfrm>
            <a:off x="8246566" y="2184301"/>
            <a:ext cx="2964993"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F2226"/>
                </a:solidFill>
                <a:latin typeface="Rubik" pitchFamily="34" charset="0"/>
                <a:ea typeface="Rubik" pitchFamily="34" charset="-122"/>
                <a:cs typeface="Rubik" pitchFamily="34" charset="-120"/>
              </a:rPr>
              <a:t>What we are doing now</a:t>
            </a:r>
            <a:endParaRPr lang="en-US" sz="1800" dirty="0"/>
          </a:p>
        </p:txBody>
      </p:sp>
      <p:sp>
        <p:nvSpPr>
          <p:cNvPr id="15" name="Text 13"/>
          <p:cNvSpPr/>
          <p:nvPr/>
        </p:nvSpPr>
        <p:spPr>
          <a:xfrm>
            <a:off x="8331910" y="2585541"/>
            <a:ext cx="2872029" cy="1939925"/>
          </a:xfrm>
          <a:prstGeom prst="rect">
            <a:avLst/>
          </a:prstGeom>
          <a:noFill/>
          <a:ln/>
        </p:spPr>
        <p:txBody>
          <a:bodyPr wrap="square" lIns="0" tIns="0" rIns="0" bIns="0" rtlCol="0" anchor="t">
            <a:normAutofit/>
          </a:bodyPr>
          <a:lstStyle/>
          <a:p>
            <a:pPr marL="168656" indent="-168656" algn="l">
              <a:lnSpc>
                <a:spcPts val="1885"/>
              </a:lnSpc>
              <a:buSzPct val="100000"/>
              <a:buChar char="•"/>
            </a:pPr>
            <a:r>
              <a:rPr lang="en-US" sz="1300" dirty="0">
                <a:solidFill>
                  <a:srgbClr val="3A3E43"/>
                </a:solidFill>
                <a:latin typeface="IBM Plex Sans" pitchFamily="34" charset="0"/>
                <a:ea typeface="IBM Plex Sans" pitchFamily="34" charset="-122"/>
                <a:cs typeface="IBM Plex Sans" pitchFamily="34" charset="-120"/>
              </a:rPr>
              <a:t>Access tracker reviewed at every SteerCo</a:t>
            </a:r>
            <a:endParaRPr lang="en-US" sz="1300" dirty="0"/>
          </a:p>
          <a:p>
            <a:pPr marL="168656" indent="-168656" algn="l">
              <a:lnSpc>
                <a:spcPts val="1885"/>
              </a:lnSpc>
              <a:buSzPct val="100000"/>
              <a:buChar char="•"/>
            </a:pPr>
            <a:r>
              <a:rPr lang="en-US" sz="1300" dirty="0">
                <a:solidFill>
                  <a:srgbClr val="3A3E43"/>
                </a:solidFill>
                <a:latin typeface="IBM Plex Sans" pitchFamily="34" charset="0"/>
                <a:ea typeface="IBM Plex Sans" pitchFamily="34" charset="-122"/>
                <a:cs typeface="IBM Plex Sans" pitchFamily="34" charset="-120"/>
              </a:rPr>
              <a:t>15% estimating buffer on each Phase 2 integration</a:t>
            </a:r>
            <a:endParaRPr lang="en-US" sz="1300" dirty="0"/>
          </a:p>
          <a:p>
            <a:pPr marL="168656" indent="-168656" algn="l">
              <a:lnSpc>
                <a:spcPts val="1885"/>
              </a:lnSpc>
              <a:buSzPct val="100000"/>
              <a:buChar char="•"/>
            </a:pPr>
            <a:r>
              <a:rPr lang="en-US" sz="1300" dirty="0">
                <a:solidFill>
                  <a:srgbClr val="3A3E43"/>
                </a:solidFill>
                <a:latin typeface="IBM Plex Sans" pitchFamily="34" charset="0"/>
                <a:ea typeface="IBM Plex Sans" pitchFamily="34" charset="-122"/>
                <a:cs typeface="IBM Plex Sans" pitchFamily="34" charset="-120"/>
              </a:rPr>
              <a:t>Production quota requested 6 weeks ahead</a:t>
            </a:r>
            <a:endParaRPr lang="en-US" sz="1300" dirty="0"/>
          </a:p>
          <a:p>
            <a:pPr marL="168656" indent="-168656" algn="l">
              <a:lnSpc>
                <a:spcPts val="1885"/>
              </a:lnSpc>
              <a:buSzPct val="100000"/>
              <a:buChar char="•"/>
            </a:pPr>
            <a:r>
              <a:rPr lang="en-US" sz="1300" dirty="0">
                <a:solidFill>
                  <a:srgbClr val="3A3E43"/>
                </a:solidFill>
                <a:latin typeface="IBM Plex Sans" pitchFamily="34" charset="0"/>
                <a:ea typeface="IBM Plex Sans" pitchFamily="34" charset="-122"/>
                <a:cs typeface="IBM Plex Sans" pitchFamily="34" charset="-120"/>
              </a:rPr>
              <a:t>UAT and SME slots booked now for Weeks 17–19</a:t>
            </a:r>
            <a:endParaRPr lang="en-US" sz="13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076"/>
                </a:solidFill>
                <a:latin typeface="IBM Plex Sans" pitchFamily="34" charset="0"/>
                <a:ea typeface="IBM Plex Sans" pitchFamily="34" charset="-122"/>
                <a:cs typeface="IBM Plex Sans" pitchFamily="34" charset="-120"/>
              </a:rPr>
              <a:t>VOIS AI Assistant · Client update · Week 13 of 21</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F222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F6B6B"/>
                </a:solidFill>
                <a:latin typeface="IBM Plex Sans" pitchFamily="34" charset="0"/>
                <a:ea typeface="IBM Plex Sans" pitchFamily="34" charset="-122"/>
                <a:cs typeface="IBM Plex Sans" pitchFamily="34" charset="-120"/>
              </a:rPr>
              <a:t>04 · DECISIONS AND NEXT STEPS</a:t>
            </a:r>
            <a:endParaRPr lang="en-US" sz="1200" dirty="0"/>
          </a:p>
        </p:txBody>
      </p:sp>
      <p:sp>
        <p:nvSpPr>
          <p:cNvPr id="3" name="Text 1"/>
          <p:cNvSpPr>
            <a:spLocks noGrp="1"/>
          </p:cNvSpPr>
          <p:nvPr>
            <p:ph type="title"/>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5F3EF"/>
                </a:solidFill>
                <a:latin typeface="Rubik" pitchFamily="34" charset="0"/>
                <a:ea typeface="Rubik" pitchFamily="34" charset="-122"/>
                <a:cs typeface="Rubik" pitchFamily="34" charset="-120"/>
              </a:rPr>
              <a:t>Two decisions we need today</a:t>
            </a:r>
            <a:endParaRPr lang="en-US" sz="3200" dirty="0"/>
          </a:p>
        </p:txBody>
      </p:sp>
      <p:sp>
        <p:nvSpPr>
          <p:cNvPr id="4" name="Shape 2"/>
          <p:cNvSpPr/>
          <p:nvPr/>
        </p:nvSpPr>
        <p:spPr>
          <a:xfrm>
            <a:off x="812800" y="1879501"/>
            <a:ext cx="5181600" cy="1657152"/>
          </a:xfrm>
          <a:prstGeom prst="roundRect">
            <a:avLst>
              <a:gd name="adj" fmla="val 6131"/>
            </a:avLst>
          </a:prstGeom>
          <a:solidFill>
            <a:srgbClr val="2B2F34"/>
          </a:solidFill>
          <a:ln/>
        </p:spPr>
        <p:txBody>
          <a:bodyPr/>
          <a:lstStyle/>
          <a:p>
            <a:endParaRPr lang="en-US"/>
          </a:p>
        </p:txBody>
      </p:sp>
      <p:sp>
        <p:nvSpPr>
          <p:cNvPr id="5" name="Shape 3"/>
          <p:cNvSpPr/>
          <p:nvPr/>
        </p:nvSpPr>
        <p:spPr>
          <a:xfrm>
            <a:off x="812800" y="1879501"/>
            <a:ext cx="5181600" cy="1657152"/>
          </a:xfrm>
          <a:custGeom>
            <a:avLst/>
            <a:gdLst/>
            <a:ahLst/>
            <a:cxnLst/>
            <a:rect l="l" t="t" r="r" b="b"/>
            <a:pathLst>
              <a:path w="5181600" h="1657152">
                <a:moveTo>
                  <a:pt x="101600" y="1657152"/>
                </a:moveTo>
                <a:lnTo>
                  <a:pt x="101600" y="1657152"/>
                </a:lnTo>
                <a:arcTo wR="101600" hR="101600" stAng="5400000" swAng="5400000"/>
                <a:lnTo>
                  <a:pt x="0" y="101600"/>
                </a:lnTo>
                <a:arcTo wR="101600" hR="101600" stAng="10800000" swAng="5400000"/>
                <a:lnTo>
                  <a:pt x="101600" y="0"/>
                </a:lnTo>
                <a:arcTo wR="50800" hR="101600" stAng="16200000" swAng="-5400000"/>
                <a:lnTo>
                  <a:pt x="50800" y="1555552"/>
                </a:lnTo>
                <a:arcTo wR="50800" hR="101600" stAng="10800000" swAng="-5400000"/>
                <a:close/>
              </a:path>
            </a:pathLst>
          </a:custGeom>
          <a:solidFill>
            <a:srgbClr val="E60000"/>
          </a:solidFill>
          <a:ln/>
        </p:spPr>
        <p:txBody>
          <a:bodyPr/>
          <a:lstStyle/>
          <a:p>
            <a:endParaRPr lang="en-US"/>
          </a:p>
        </p:txBody>
      </p:sp>
      <p:sp>
        <p:nvSpPr>
          <p:cNvPr id="6" name="Text 4"/>
          <p:cNvSpPr/>
          <p:nvPr/>
        </p:nvSpPr>
        <p:spPr>
          <a:xfrm>
            <a:off x="1117600" y="2133501"/>
            <a:ext cx="4761484"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5F3EF"/>
                </a:solidFill>
                <a:latin typeface="Rubik" pitchFamily="34" charset="0"/>
                <a:ea typeface="Rubik" pitchFamily="34" charset="-122"/>
                <a:cs typeface="Rubik" pitchFamily="34" charset="-120"/>
              </a:rPr>
              <a:t>1. Accept the M3 re-forecast</a:t>
            </a:r>
            <a:endParaRPr lang="en-US" sz="1800" dirty="0"/>
          </a:p>
        </p:txBody>
      </p:sp>
      <p:sp>
        <p:nvSpPr>
          <p:cNvPr id="7" name="Text 5"/>
          <p:cNvSpPr/>
          <p:nvPr/>
        </p:nvSpPr>
        <p:spPr>
          <a:xfrm>
            <a:off x="1117600" y="2509341"/>
            <a:ext cx="4761484" cy="79871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C9CDD2"/>
                </a:solidFill>
                <a:latin typeface="IBM Plex Sans" pitchFamily="34" charset="0"/>
                <a:ea typeface="IBM Plex Sans" pitchFamily="34" charset="-122"/>
                <a:cs typeface="IBM Plex Sans" pitchFamily="34" charset="-120"/>
              </a:rPr>
              <a:t>Move the M3 gate from 14 Jan to 22 Jan. M5 pilot acceptance stays at 12 Mar. Alternative: descope the Oracle demo and keep 14 Jan.</a:t>
            </a:r>
            <a:endParaRPr lang="en-US" sz="1400" dirty="0"/>
          </a:p>
        </p:txBody>
      </p:sp>
      <p:sp>
        <p:nvSpPr>
          <p:cNvPr id="8" name="Shape 6"/>
          <p:cNvSpPr/>
          <p:nvPr/>
        </p:nvSpPr>
        <p:spPr>
          <a:xfrm>
            <a:off x="6197600" y="1879501"/>
            <a:ext cx="5181600" cy="1657152"/>
          </a:xfrm>
          <a:prstGeom prst="roundRect">
            <a:avLst>
              <a:gd name="adj" fmla="val 6131"/>
            </a:avLst>
          </a:prstGeom>
          <a:solidFill>
            <a:srgbClr val="2B2F34"/>
          </a:solidFill>
          <a:ln/>
        </p:spPr>
        <p:txBody>
          <a:bodyPr/>
          <a:lstStyle/>
          <a:p>
            <a:endParaRPr lang="en-US"/>
          </a:p>
        </p:txBody>
      </p:sp>
      <p:sp>
        <p:nvSpPr>
          <p:cNvPr id="9" name="Shape 7"/>
          <p:cNvSpPr/>
          <p:nvPr/>
        </p:nvSpPr>
        <p:spPr>
          <a:xfrm>
            <a:off x="6197600" y="1879501"/>
            <a:ext cx="5181600" cy="1657152"/>
          </a:xfrm>
          <a:custGeom>
            <a:avLst/>
            <a:gdLst/>
            <a:ahLst/>
            <a:cxnLst/>
            <a:rect l="l" t="t" r="r" b="b"/>
            <a:pathLst>
              <a:path w="5181600" h="1657152">
                <a:moveTo>
                  <a:pt x="101600" y="1657152"/>
                </a:moveTo>
                <a:lnTo>
                  <a:pt x="101600" y="1657152"/>
                </a:lnTo>
                <a:arcTo wR="101600" hR="101600" stAng="5400000" swAng="5400000"/>
                <a:lnTo>
                  <a:pt x="0" y="101600"/>
                </a:lnTo>
                <a:arcTo wR="101600" hR="101600" stAng="10800000" swAng="5400000"/>
                <a:lnTo>
                  <a:pt x="101600" y="0"/>
                </a:lnTo>
                <a:arcTo wR="50800" hR="101600" stAng="16200000" swAng="-5400000"/>
                <a:lnTo>
                  <a:pt x="50800" y="1555552"/>
                </a:lnTo>
                <a:arcTo wR="50800" hR="101600" stAng="10800000" swAng="-5400000"/>
                <a:close/>
              </a:path>
            </a:pathLst>
          </a:custGeom>
          <a:solidFill>
            <a:srgbClr val="E60000"/>
          </a:solidFill>
          <a:ln/>
        </p:spPr>
        <p:txBody>
          <a:bodyPr/>
          <a:lstStyle/>
          <a:p>
            <a:endParaRPr lang="en-US"/>
          </a:p>
        </p:txBody>
      </p:sp>
      <p:sp>
        <p:nvSpPr>
          <p:cNvPr id="10" name="Text 8"/>
          <p:cNvSpPr/>
          <p:nvPr/>
        </p:nvSpPr>
        <p:spPr>
          <a:xfrm>
            <a:off x="6502400" y="2133501"/>
            <a:ext cx="4761484"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5F3EF"/>
                </a:solidFill>
                <a:latin typeface="Rubik" pitchFamily="34" charset="0"/>
                <a:ea typeface="Rubik" pitchFamily="34" charset="-122"/>
                <a:cs typeface="Rubik" pitchFamily="34" charset="-120"/>
              </a:rPr>
              <a:t>2. Sponsor push on Oracle licensing</a:t>
            </a:r>
            <a:endParaRPr lang="en-US" sz="1800" dirty="0"/>
          </a:p>
        </p:txBody>
      </p:sp>
      <p:sp>
        <p:nvSpPr>
          <p:cNvPr id="11" name="Text 9"/>
          <p:cNvSpPr/>
          <p:nvPr/>
        </p:nvSpPr>
        <p:spPr>
          <a:xfrm>
            <a:off x="6502400" y="2509341"/>
            <a:ext cx="4761484" cy="79871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C9CDD2"/>
                </a:solidFill>
                <a:latin typeface="IBM Plex Sans" pitchFamily="34" charset="0"/>
                <a:ea typeface="IBM Plex Sans" pitchFamily="34" charset="-122"/>
                <a:cs typeface="IBM Plex Sans" pitchFamily="34" charset="-120"/>
              </a:rPr>
              <a:t>Ask the Oracle DBA team to confirm sandbox licence approval by 20 Jan, so integration testing finishes inside Phase 4.</a:t>
            </a:r>
            <a:endParaRPr lang="en-US" sz="1400" dirty="0"/>
          </a:p>
        </p:txBody>
      </p:sp>
      <p:sp>
        <p:nvSpPr>
          <p:cNvPr id="12" name="Text 10"/>
          <p:cNvSpPr/>
          <p:nvPr/>
        </p:nvSpPr>
        <p:spPr>
          <a:xfrm>
            <a:off x="812800" y="3841452"/>
            <a:ext cx="10883392"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5F3EF"/>
                </a:solidFill>
                <a:latin typeface="Rubik" pitchFamily="34" charset="0"/>
                <a:ea typeface="Rubik" pitchFamily="34" charset="-122"/>
                <a:cs typeface="Rubik" pitchFamily="34" charset="-120"/>
              </a:rPr>
              <a:t>Next four weeks</a:t>
            </a:r>
            <a:endParaRPr lang="en-US" sz="1600" dirty="0"/>
          </a:p>
        </p:txBody>
      </p:sp>
      <p:sp>
        <p:nvSpPr>
          <p:cNvPr id="13" name="Text 11"/>
          <p:cNvSpPr/>
          <p:nvPr/>
        </p:nvSpPr>
        <p:spPr>
          <a:xfrm>
            <a:off x="812800" y="4186833"/>
            <a:ext cx="10883392" cy="54094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C9CDD2"/>
                </a:solidFill>
                <a:latin typeface="IBM Plex Sans" pitchFamily="34" charset="0"/>
                <a:ea typeface="IBM Plex Sans" pitchFamily="34" charset="-122"/>
                <a:cs typeface="IBM Plex Sans" pitchFamily="34" charset="-120"/>
              </a:rPr>
              <a:t>Entra ID roles and authorisation · AI security red-team testing · groundedness tuning sprint · release candidate for the M4 gate on 16 Feb</a:t>
            </a:r>
            <a:endParaRPr lang="en-US" sz="14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096"/>
                </a:solidFill>
                <a:latin typeface="IBM Plex Sans" pitchFamily="34" charset="0"/>
                <a:ea typeface="IBM Plex Sans" pitchFamily="34" charset="-122"/>
                <a:cs typeface="IBM Plex Sans" pitchFamily="34" charset="-120"/>
              </a:rPr>
              <a:t>VOIS AI Assistant · Client update · Week 13 of 21</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F2226"/>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60000"/>
          </a:solidFill>
          <a:ln/>
        </p:spPr>
        <p:txBody>
          <a:bodyPr/>
          <a:lstStyle/>
          <a:p>
            <a:endParaRPr lang="en-US"/>
          </a:p>
        </p:txBody>
      </p:sp>
      <p:sp>
        <p:nvSpPr>
          <p:cNvPr id="3" name="Text 1"/>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FF6B6B"/>
                </a:solidFill>
                <a:latin typeface="IBM Plex Sans" pitchFamily="34" charset="0"/>
                <a:ea typeface="IBM Plex Sans" pitchFamily="34" charset="-122"/>
                <a:cs typeface="IBM Plex Sans" pitchFamily="34" charset="-120"/>
              </a:rPr>
              <a:t>THANK YOU</a:t>
            </a:r>
            <a:endParaRPr lang="en-US" sz="1400" dirty="0"/>
          </a:p>
        </p:txBody>
      </p:sp>
      <p:sp>
        <p:nvSpPr>
          <p:cNvPr id="4" name="Text 2"/>
          <p:cNvSpPr>
            <a:spLocks noGrp="1"/>
          </p:cNvSpPr>
          <p:nvPr>
            <p:ph type="title"/>
          </p:nvPr>
        </p:nvSpPr>
        <p:spPr>
          <a:xfrm>
            <a:off x="812800" y="1264841"/>
            <a:ext cx="9810750" cy="665460"/>
          </a:xfrm>
          <a:prstGeom prst="rect">
            <a:avLst/>
          </a:prstGeom>
          <a:noFill/>
          <a:ln/>
        </p:spPr>
        <p:txBody>
          <a:bodyPr wrap="square" lIns="0" tIns="0" rIns="0" bIns="0" rtlCol="0" anchor="t">
            <a:normAutofit/>
          </a:bodyPr>
          <a:lstStyle/>
          <a:p>
            <a:pPr marL="0" indent="0" algn="l">
              <a:lnSpc>
                <a:spcPts val="5040"/>
              </a:lnSpc>
              <a:buNone/>
            </a:pPr>
            <a:r>
              <a:rPr lang="en-US" sz="4800" b="1" i="0" dirty="0">
                <a:solidFill>
                  <a:srgbClr val="F5F3EF"/>
                </a:solidFill>
                <a:latin typeface="Rubik" pitchFamily="34" charset="0"/>
                <a:ea typeface="Rubik" pitchFamily="34" charset="-122"/>
                <a:cs typeface="Rubik" pitchFamily="34" charset="-120"/>
              </a:rPr>
              <a:t>Questions and discussion</a:t>
            </a:r>
            <a:endParaRPr lang="en-US" sz="4800" dirty="0"/>
          </a:p>
        </p:txBody>
      </p:sp>
      <p:sp>
        <p:nvSpPr>
          <p:cNvPr id="5" name="Text 3"/>
          <p:cNvSpPr/>
          <p:nvPr/>
        </p:nvSpPr>
        <p:spPr>
          <a:xfrm>
            <a:off x="812800" y="2108101"/>
            <a:ext cx="8502650" cy="34538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C9CDD2"/>
                </a:solidFill>
                <a:latin typeface="IBM Plex Sans" pitchFamily="34" charset="0"/>
                <a:ea typeface="IBM Plex Sans" pitchFamily="34" charset="-122"/>
                <a:cs typeface="IBM Plex Sans" pitchFamily="34" charset="-120"/>
              </a:rPr>
              <a:t>Next Steering Committee: M4 gate review, 16 February 2027</a:t>
            </a:r>
            <a:endParaRPr lang="en-US" sz="1800" dirty="0"/>
          </a:p>
        </p:txBody>
      </p:sp>
      <p:sp>
        <p:nvSpPr>
          <p:cNvPr id="6" name="Shape 4"/>
          <p:cNvSpPr/>
          <p:nvPr/>
        </p:nvSpPr>
        <p:spPr>
          <a:xfrm>
            <a:off x="812800" y="5200749"/>
            <a:ext cx="10566400" cy="0"/>
          </a:xfrm>
          <a:prstGeom prst="line">
            <a:avLst/>
          </a:prstGeom>
          <a:noFill/>
          <a:ln w="12700">
            <a:solidFill>
              <a:srgbClr val="4A4F55"/>
            </a:solidFill>
            <a:prstDash val="solid"/>
          </a:ln>
        </p:spPr>
        <p:txBody>
          <a:bodyPr/>
          <a:lstStyle/>
          <a:p>
            <a:endParaRPr lang="en-US"/>
          </a:p>
        </p:txBody>
      </p:sp>
      <p:sp>
        <p:nvSpPr>
          <p:cNvPr id="7" name="Text 5"/>
          <p:cNvSpPr/>
          <p:nvPr/>
        </p:nvSpPr>
        <p:spPr>
          <a:xfrm>
            <a:off x="812800" y="5461099"/>
            <a:ext cx="1734046"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5F3EF"/>
                </a:solidFill>
                <a:latin typeface="IBM Plex Sans" pitchFamily="34" charset="0"/>
                <a:ea typeface="IBM Plex Sans" pitchFamily="34" charset="-122"/>
                <a:cs typeface="IBM Plex Sans" pitchFamily="34" charset="-120"/>
              </a:rPr>
              <a:t>Bipeen Sinha</a:t>
            </a:r>
            <a:endParaRPr lang="en-US" sz="1600" dirty="0"/>
          </a:p>
        </p:txBody>
      </p:sp>
      <p:sp>
        <p:nvSpPr>
          <p:cNvPr id="8" name="Text 6"/>
          <p:cNvSpPr/>
          <p:nvPr/>
        </p:nvSpPr>
        <p:spPr>
          <a:xfrm>
            <a:off x="812800" y="5796359"/>
            <a:ext cx="2019895"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CDD2"/>
                </a:solidFill>
                <a:latin typeface="IBM Plex Sans" pitchFamily="34" charset="0"/>
                <a:ea typeface="IBM Plex Sans" pitchFamily="34" charset="-122"/>
                <a:cs typeface="IBM Plex Sans" pitchFamily="34" charset="-120"/>
              </a:rPr>
              <a:t>Engagement Director</a:t>
            </a:r>
            <a:endParaRPr lang="en-US" sz="1400" dirty="0"/>
          </a:p>
        </p:txBody>
      </p:sp>
      <p:sp>
        <p:nvSpPr>
          <p:cNvPr id="9" name="Text 7"/>
          <p:cNvSpPr/>
          <p:nvPr/>
        </p:nvSpPr>
        <p:spPr>
          <a:xfrm>
            <a:off x="3105646" y="5461099"/>
            <a:ext cx="2655443"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5F3EF"/>
                </a:solidFill>
                <a:latin typeface="IBM Plex Sans" pitchFamily="34" charset="0"/>
                <a:ea typeface="IBM Plex Sans" pitchFamily="34" charset="-122"/>
                <a:cs typeface="IBM Plex Sans" pitchFamily="34" charset="-120"/>
              </a:rPr>
              <a:t>Shruti Sinha</a:t>
            </a:r>
            <a:endParaRPr lang="en-US" sz="1600" dirty="0"/>
          </a:p>
        </p:txBody>
      </p:sp>
      <p:sp>
        <p:nvSpPr>
          <p:cNvPr id="10" name="Text 8"/>
          <p:cNvSpPr/>
          <p:nvPr/>
        </p:nvSpPr>
        <p:spPr>
          <a:xfrm>
            <a:off x="3105646" y="5796359"/>
            <a:ext cx="309372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CDD2"/>
                </a:solidFill>
                <a:latin typeface="IBM Plex Sans" pitchFamily="34" charset="0"/>
                <a:ea typeface="IBM Plex Sans" pitchFamily="34" charset="-122"/>
                <a:cs typeface="IBM Plex Sans" pitchFamily="34" charset="-120"/>
              </a:rPr>
              <a:t>Project Lead &amp; Delivery Manager</a:t>
            </a:r>
            <a:endParaRPr lang="en-US" sz="1400" dirty="0"/>
          </a:p>
        </p:txBody>
      </p:sp>
      <p:sp>
        <p:nvSpPr>
          <p:cNvPr id="11" name="Text 9"/>
          <p:cNvSpPr/>
          <p:nvPr/>
        </p:nvSpPr>
        <p:spPr>
          <a:xfrm>
            <a:off x="6293346" y="5461099"/>
            <a:ext cx="2011817"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5F3EF"/>
                </a:solidFill>
                <a:latin typeface="IBM Plex Sans" pitchFamily="34" charset="0"/>
                <a:ea typeface="IBM Plex Sans" pitchFamily="34" charset="-122"/>
                <a:cs typeface="IBM Plex Sans" pitchFamily="34" charset="-120"/>
              </a:rPr>
              <a:t>Rajesh Menon</a:t>
            </a:r>
            <a:endParaRPr lang="en-US" sz="1600" dirty="0"/>
          </a:p>
        </p:txBody>
      </p:sp>
      <p:sp>
        <p:nvSpPr>
          <p:cNvPr id="12" name="Text 10"/>
          <p:cNvSpPr/>
          <p:nvPr/>
        </p:nvSpPr>
        <p:spPr>
          <a:xfrm>
            <a:off x="6293346" y="5796359"/>
            <a:ext cx="2343864"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CDD2"/>
                </a:solidFill>
                <a:latin typeface="IBM Plex Sans" pitchFamily="34" charset="0"/>
                <a:ea typeface="IBM Plex Sans" pitchFamily="34" charset="-122"/>
                <a:cs typeface="IBM Plex Sans" pitchFamily="34" charset="-120"/>
              </a:rPr>
              <a:t>Executive Sponsor, VOIS</a:t>
            </a:r>
            <a:endParaRPr lang="en-US" sz="1400" dirty="0"/>
          </a:p>
        </p:txBody>
      </p:sp>
    </p:spTree>
  </p:cSld>
  <p:clrMapOvr>
    <a:masterClrMapping/>
  </p:clrMapOvr>
</p:sld>
</file>

<file path=ppt/theme/theme1.xml><?xml version="1.0" encoding="utf-8"?>
<a:theme xmlns:a="http://schemas.openxmlformats.org/drawingml/2006/main" name="VOIS AI Assistant — Client Update">
  <a:themeElements>
    <a:clrScheme name="VOIS AI Assistant — Client Update">
      <a:dk1>
        <a:srgbClr val="1F2226"/>
      </a:dk1>
      <a:lt1>
        <a:srgbClr val="F5F3EF"/>
      </a:lt1>
      <a:dk2>
        <a:srgbClr val="555658"/>
      </a:dk2>
      <a:lt2>
        <a:srgbClr val="E0DEDB"/>
      </a:lt2>
      <a:accent1>
        <a:srgbClr val="C00000"/>
      </a:accent1>
      <a:accent2>
        <a:srgbClr val="E60000"/>
      </a:accent2>
      <a:accent3>
        <a:srgbClr val="00697B"/>
      </a:accent3>
      <a:accent4>
        <a:srgbClr val="F0A33C"/>
      </a:accent4>
      <a:accent5>
        <a:srgbClr val="9A5205"/>
      </a:accent5>
      <a:accent6>
        <a:srgbClr val="FF6B6B"/>
      </a:accent6>
      <a:hlink>
        <a:srgbClr val="0563C1"/>
      </a:hlink>
      <a:folHlink>
        <a:srgbClr val="954F72"/>
      </a:folHlink>
    </a:clrScheme>
    <a:fontScheme name="VOIS AI Assistant — Client Update">
      <a:majorFont>
        <a:latin typeface="Rubi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2242</Words>
  <Application>Microsoft Office PowerPoint</Application>
  <PresentationFormat>Widescreen</PresentationFormat>
  <Paragraphs>386</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IBM Plex Sans</vt:lpstr>
      <vt:lpstr>Rubik</vt:lpstr>
      <vt:lpstr>VOIS AI Assistant — Client Update</vt:lpstr>
      <vt:lpstr>Vodafone–VOIS Intelligent AI Assistant</vt:lpstr>
      <vt:lpstr>Four things to cover in 45 minutes</vt:lpstr>
      <vt:lpstr>A governed AI assistant for SAP, Oracle and QA knowledge</vt:lpstr>
      <vt:lpstr>A bounded pilot: read-only, approved content, non-production</vt:lpstr>
      <vt:lpstr>How a question is answered, end to end</vt:lpstr>
      <vt:lpstr>Two gates passed; M3 is running one week late</vt:lpstr>
      <vt:lpstr>Overall AMBER: slightly behind, slightly over cost</vt:lpstr>
      <vt:lpstr>Earned value has tracked just below plan</vt:lpstr>
      <vt:lpstr>24 activities left against 21 planned</vt:lpstr>
      <vt:lpstr>What we have delivered so far</vt:lpstr>
      <vt:lpstr>Cost pressure sits in M3 integration</vt:lpstr>
      <vt:lpstr>Integration work is 10% over cost; the reserve covers it</vt:lpstr>
      <vt:lpstr>AI quality: 4 KPIs met, 4 within reach</vt:lpstr>
      <vt:lpstr>AI quality: four KPIs met, four close to target</vt:lpstr>
      <vt:lpstr>Oracle access is the risk that matters most</vt:lpstr>
      <vt:lpstr>Lessons learned at the halfway point</vt:lpstr>
      <vt:lpstr>Two decisions we need today</vt:lpstr>
      <vt:lpstr>Questions and discussion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VOIS AI Assistant — Client Update</dc:title>
  <dc:subject/>
  <dc:creator/>
  <cp:lastModifiedBy>Info Desk</cp:lastModifiedBy>
  <cp:revision>2</cp:revision>
  <dcterms:created xsi:type="dcterms:W3CDTF">2026-10-10T16:32:36Z</dcterms:created>
  <dcterms:modified xsi:type="dcterms:W3CDTF">2026-10-10T16:35:41Z</dcterms:modified>
</cp:coreProperties>
</file>